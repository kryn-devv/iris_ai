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Friday and this is IRIS — a personal AI assistant that does not live in a chat box. It runs on a laptop, talks and listens in English, Hindi and Hinglish, controls the computer, and drives a robot that has a face. One brain — the laptop — and two bodies: the wheeled base and the face-and-sensor board. Everything you will see today runs on a phone hotspot with no internet needed for the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we started from: assistants like Siri or ChatGPT answer questions, but they cannot open your files, they cannot lock your PC, and they certainly cannot roll across the room. We wanted one assistant that does three things: talks like a person, acts on the computer, and has a physical body. And two rules: it must work with zero paid services — a student budget — and it must be private: nothing leaves your own network unless you choose to add an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so you know this is a working system, not a mock-up. 77 tools the assistant can call. 80 sentence patterns it understands instantly and offline — those never touch the internet. Three languages. Zero API keys are required: with none, commands still work; adding any one free key unlocks open conversation. 1,466 automated tests run on every change, and both firmwares compile-verified. The face knows 14 expressions.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picture. The brain is a Python application on the laptop: speech-to-text, the understanding layers, the tools, the model router, memory, scheduler and the web interface. The bodies are two ESP32 boards on the same WiFi — in our case a phone hotspot. Body one is the robot base: an ESP32 with two BTS7960 motor drivers and four DC motors. Body two is an ESP32-S3 with the two OLED eyes and all the sensors. The boards have no AI on them at all: they do what they are told over one UDP packet and report what they sense. That keeps them cheap, fast and replaceable.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are proudest of, because it is why IRIS is fast and free. Every sentence goes through five layers in order, and stops at the first one that handles it. Layer one strips the wake word. Layer two catches memory sentences — 'remember my budget is 500 dollars' is saved to a database and survives a restart. Layer three is small talk: greetings, jokes, 'who are you'. Layer four is the important one: 80 hand-written sentence patterns that map straight to a tool. 'Robot forward' matches a rule and the motor command is on its way in about eight milliseconds — no model, no internet. Only what nothing else understood reaches layer five, a free language model that can chain any of the 77 tools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sentence does need a language model, IRIS does not depend on any one company. It has a list of providers with free tiers — OpenRouter, Groq, Google AI Studio, Cerebras, Mistral and more — and tries them in order. If one rate-limits us, a circuit breaker puts it in a two-minute cooldown and the next one answers; if all of them fail, an offline engine still replies. So a demo never stalls. Keys stay in a local .env file on the laptop. They are never logged and never sent to the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that can open files and shut down a PC needs guard rails, and ours has four layers. Every tool declares a risk level; shutdown and restart need both an opt-in setting and a confirmation click. The filesystem is sandboxed: only your workspace and standard folders, and secrets like SSH keys are blocked by pattern. The shell tool is off by default and even when on, a hard denylist refuses destructive commands no matter what a model says — we also made sure 'run shutdown' cannot sneak through the app launcher. And the robots only accept commands from private addresses; remote access needs a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interface — it runs in any browser, on the laptop or a phone paired by QR code. The particle sphere in the middle is alive: it drifts when idle, blooms when listening, swirls while thinking and pulses while speaking, so you always know what state it is in. Around it orbit five specialists — Operator, Scout, Scribe, Relay and Sentinel — and the one whose tools are running lights up. Here you can see a real exchange: 'make a ppt about space exploration' produced a seven-slide deck as a downloadable file, offline, in a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is a skid-steer chassis: four DC motors, two per side, each side driven by a BTS7960 high-current driver from an ESP32. Safety is on the board, not on the laptop: every move carries a deadline, so if WiFi drops mid-drive the robot stops on its own. Motors ramp up over 90 milliseconds so four of them starting at once do not brown out the board. And the thing that saved us the most time: calibration happens on the robot's own web page — swap sides, invert a side, trim a faster side — saved to flash, no re-flashing, no re-wiring.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used to feel laggy, and the reason was not the motors. Arduino's web server serves one client at a time and waits up to five seconds for a socket that has connected but not spoken — and browsers open exactly those idle sockets. So having the calibration page open queued the next drive command behind it. On the laptop side, every command was also building a fresh HTTP client, 43 milliseconds of CPU before a packet even left. Now a command is one UDP datagram to port 8267, answered on the board in the same loop pass, and the client is reused. Measured: eight milliseconds from the chat box to the board on a LAN, ten to twenty-five on a hotspot.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face is two 128 by 64 OLED panels, one per eye, driven by an ESP32-S3. It knows fourteen expressions, but the trick that makes it feel alive is that you never have to command them: every time IRIS speaks, it reads its own sentence and sets a matching mood — 'Done!' is excited, 'Sorry, I couldn't' is sad, 'Let me check' is thinking — and bounces the eyes for as long as the sentence takes to say. Between sentences it breathes, blinks at random, glances around, and after three minutes of silence it dozes off. It runs at forty frames per second and the sensors never interrupt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S3 board carries the senses. Four ultrasonic rangefinders — two facing forward, two backward — so IRIS can answer 'how far is the object' with a sentence: forty centimetres ahead, twelve behind on the left. They fire one at a time, timed by interrupts, so a measurement never freezes the eyes or delays a command. A DHT22 gives temperature and humidity, a PIR sees motion, an MQ-2 smells gas, an IR module sees flame, an LDR reads light. Flame and gas do not wait to be asked: the board pushes the alert the instant it appears and IRIS says it out loud with the eyes going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learn a command language; IRIS learns yours. Every one of these works offline, and every one has a Hinglish twin, because that is how we actually speak. And the answers are sentences, not numbers: ask how far the object is and it says 'forty centimetres ahead, twelve behind on the left', naming a side only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hard part, because it is where we learned the most. Four bugs, each of which looked like a hardware fault and was not. A function that called itself: the board answered 200 to every drive command and never wrote a single duty cycle — we bisected the wiring for hours before reading the code. An open browser tab that queued every command for five seconds. Chip facts we had to learn: pins 11 to 20 cannot read analog while WiFi is on, and 19 and 20 belong to the USB port. And two OLEDs at the same address on one bus can only ever show one picture — which we turned into a feature. Our rule now: the firmware refuses instead of defaulting. A missing argument is an error, never a silent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part. First, driving by voice: 'Hey Iris, robot forward', then 'robot ruko'. Second, the face: 'look happy' and watch the eyes glide into it. Third, the senses: ask the temperature, ask how far the object is. Fourth, an alert without asking: a hand in front of the motion sensor, and a lighter near the flame sensor — IRIS speaks up on its own. Fifth, the desktop side: 'make a ppt about space exploration' — a real PowerPoint file in a few seconds, no key needed. Everything runs on this phone's hotspot.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come next. Voice on the robot itself, with an I2S microphone and speaker, so you talk to the face and not to the laptop. Autonomy: four distance sensors are enough to steer around obstacles on their own. And health: the same sensor board can carry a pulse oximeter, turning IRIS into a home health assistant. We are Team Friday — Prajjwal, Shivnandan and Payal. The whole project is open source at github.com/Kryn-devv/Iris_AI. Thank you — questions, or come and talk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3" name="Text 1"/>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01</a:t>
            </a:r>
            <a:endParaRPr lang="en-US" sz="900" dirty="0"/>
          </a:p>
        </p:txBody>
      </p:sp>
      <p:sp>
        <p:nvSpPr>
          <p:cNvPr id="5" name="Shape 2"/>
          <p:cNvSpPr/>
          <p:nvPr/>
        </p:nvSpPr>
        <p:spPr>
          <a:xfrm>
            <a:off x="6836976" y="791927"/>
            <a:ext cx="49854" cy="49854"/>
          </a:xfrm>
          <a:prstGeom prst="ellipse">
            <a:avLst/>
          </a:prstGeom>
          <a:solidFill>
            <a:srgbClr val="E6EDF7">
              <a:alpha val="46000"/>
            </a:srgbClr>
          </a:solidFill>
          <a:ln w="12700">
            <a:solidFill>
              <a:srgbClr val="05070F"/>
            </a:solidFill>
            <a:prstDash val="solid"/>
          </a:ln>
        </p:spPr>
      </p:sp>
      <p:sp>
        <p:nvSpPr>
          <p:cNvPr id="6" name="Shape 3"/>
          <p:cNvSpPr/>
          <p:nvPr/>
        </p:nvSpPr>
        <p:spPr>
          <a:xfrm>
            <a:off x="957755" y="6027297"/>
            <a:ext cx="50584" cy="50584"/>
          </a:xfrm>
          <a:prstGeom prst="ellipse">
            <a:avLst/>
          </a:prstGeom>
          <a:solidFill>
            <a:srgbClr val="5EEAD4">
              <a:alpha val="47000"/>
            </a:srgbClr>
          </a:solidFill>
          <a:ln w="12700">
            <a:solidFill>
              <a:srgbClr val="05070F"/>
            </a:solidFill>
            <a:prstDash val="solid"/>
          </a:ln>
        </p:spPr>
      </p:sp>
      <p:sp>
        <p:nvSpPr>
          <p:cNvPr id="7" name="Shape 4"/>
          <p:cNvSpPr/>
          <p:nvPr/>
        </p:nvSpPr>
        <p:spPr>
          <a:xfrm>
            <a:off x="9524814" y="4508735"/>
            <a:ext cx="40437" cy="40437"/>
          </a:xfrm>
          <a:prstGeom prst="ellipse">
            <a:avLst/>
          </a:prstGeom>
          <a:solidFill>
            <a:srgbClr val="E6EDF7">
              <a:alpha val="43000"/>
            </a:srgbClr>
          </a:solidFill>
          <a:ln w="12700">
            <a:solidFill>
              <a:srgbClr val="05070F"/>
            </a:solidFill>
            <a:prstDash val="solid"/>
          </a:ln>
        </p:spPr>
      </p:sp>
      <p:sp>
        <p:nvSpPr>
          <p:cNvPr id="8" name="Shape 5"/>
          <p:cNvSpPr/>
          <p:nvPr/>
        </p:nvSpPr>
        <p:spPr>
          <a:xfrm>
            <a:off x="8192393" y="1083410"/>
            <a:ext cx="38180" cy="38180"/>
          </a:xfrm>
          <a:prstGeom prst="ellipse">
            <a:avLst/>
          </a:prstGeom>
          <a:solidFill>
            <a:srgbClr val="5EEAD4">
              <a:alpha val="44000"/>
            </a:srgbClr>
          </a:solidFill>
          <a:ln w="12700">
            <a:solidFill>
              <a:srgbClr val="05070F"/>
            </a:solidFill>
            <a:prstDash val="solid"/>
          </a:ln>
        </p:spPr>
      </p:sp>
      <p:sp>
        <p:nvSpPr>
          <p:cNvPr id="9" name="Shape 6"/>
          <p:cNvSpPr/>
          <p:nvPr/>
        </p:nvSpPr>
        <p:spPr>
          <a:xfrm>
            <a:off x="610473" y="6440488"/>
            <a:ext cx="35488" cy="35488"/>
          </a:xfrm>
          <a:prstGeom prst="ellipse">
            <a:avLst/>
          </a:prstGeom>
          <a:solidFill>
            <a:srgbClr val="5EEAD4">
              <a:alpha val="60000"/>
            </a:srgbClr>
          </a:solidFill>
          <a:ln w="12700">
            <a:solidFill>
              <a:srgbClr val="05070F"/>
            </a:solidFill>
            <a:prstDash val="solid"/>
          </a:ln>
        </p:spPr>
      </p:sp>
      <p:sp>
        <p:nvSpPr>
          <p:cNvPr id="10" name="Shape 7"/>
          <p:cNvSpPr/>
          <p:nvPr/>
        </p:nvSpPr>
        <p:spPr>
          <a:xfrm>
            <a:off x="11651619" y="1297134"/>
            <a:ext cx="47742" cy="47742"/>
          </a:xfrm>
          <a:prstGeom prst="ellipse">
            <a:avLst/>
          </a:prstGeom>
          <a:solidFill>
            <a:srgbClr val="E6EDF7">
              <a:alpha val="41000"/>
            </a:srgbClr>
          </a:solidFill>
          <a:ln w="12700">
            <a:solidFill>
              <a:srgbClr val="05070F"/>
            </a:solidFill>
            <a:prstDash val="solid"/>
          </a:ln>
        </p:spPr>
      </p:sp>
      <p:sp>
        <p:nvSpPr>
          <p:cNvPr id="11" name="Shape 8"/>
          <p:cNvSpPr/>
          <p:nvPr/>
        </p:nvSpPr>
        <p:spPr>
          <a:xfrm>
            <a:off x="3423740" y="1168518"/>
            <a:ext cx="58150" cy="58150"/>
          </a:xfrm>
          <a:prstGeom prst="ellipse">
            <a:avLst/>
          </a:prstGeom>
          <a:solidFill>
            <a:srgbClr val="5EEAD4">
              <a:alpha val="45000"/>
            </a:srgbClr>
          </a:solidFill>
          <a:ln w="12700">
            <a:solidFill>
              <a:srgbClr val="05070F"/>
            </a:solidFill>
            <a:prstDash val="solid"/>
          </a:ln>
        </p:spPr>
      </p:sp>
      <p:sp>
        <p:nvSpPr>
          <p:cNvPr id="12" name="Shape 9"/>
          <p:cNvSpPr/>
          <p:nvPr/>
        </p:nvSpPr>
        <p:spPr>
          <a:xfrm>
            <a:off x="6669476" y="2265803"/>
            <a:ext cx="38066" cy="38066"/>
          </a:xfrm>
          <a:prstGeom prst="ellipse">
            <a:avLst/>
          </a:prstGeom>
          <a:solidFill>
            <a:srgbClr val="E6EDF7">
              <a:alpha val="31000"/>
            </a:srgbClr>
          </a:solidFill>
          <a:ln w="12700">
            <a:solidFill>
              <a:srgbClr val="05070F"/>
            </a:solidFill>
            <a:prstDash val="solid"/>
          </a:ln>
        </p:spPr>
      </p:sp>
      <p:sp>
        <p:nvSpPr>
          <p:cNvPr id="13" name="Shape 10"/>
          <p:cNvSpPr/>
          <p:nvPr/>
        </p:nvSpPr>
        <p:spPr>
          <a:xfrm>
            <a:off x="4267773" y="546159"/>
            <a:ext cx="43512" cy="43512"/>
          </a:xfrm>
          <a:prstGeom prst="ellipse">
            <a:avLst/>
          </a:prstGeom>
          <a:solidFill>
            <a:srgbClr val="5EEAD4">
              <a:alpha val="55000"/>
            </a:srgbClr>
          </a:solidFill>
          <a:ln w="12700">
            <a:solidFill>
              <a:srgbClr val="05070F"/>
            </a:solidFill>
            <a:prstDash val="solid"/>
          </a:ln>
        </p:spPr>
      </p:sp>
      <p:sp>
        <p:nvSpPr>
          <p:cNvPr id="14" name="Shape 11"/>
          <p:cNvSpPr/>
          <p:nvPr/>
        </p:nvSpPr>
        <p:spPr>
          <a:xfrm>
            <a:off x="5738689" y="1618750"/>
            <a:ext cx="67854" cy="67854"/>
          </a:xfrm>
          <a:prstGeom prst="ellipse">
            <a:avLst/>
          </a:prstGeom>
          <a:solidFill>
            <a:srgbClr val="5EEAD4">
              <a:alpha val="47000"/>
            </a:srgbClr>
          </a:solidFill>
          <a:ln w="12700">
            <a:solidFill>
              <a:srgbClr val="05070F"/>
            </a:solidFill>
            <a:prstDash val="solid"/>
          </a:ln>
        </p:spPr>
      </p:sp>
      <p:sp>
        <p:nvSpPr>
          <p:cNvPr id="15" name="Shape 12"/>
          <p:cNvSpPr/>
          <p:nvPr/>
        </p:nvSpPr>
        <p:spPr>
          <a:xfrm>
            <a:off x="7959043" y="932744"/>
            <a:ext cx="62128" cy="62128"/>
          </a:xfrm>
          <a:prstGeom prst="ellipse">
            <a:avLst/>
          </a:prstGeom>
          <a:solidFill>
            <a:srgbClr val="E6EDF7">
              <a:alpha val="45000"/>
            </a:srgbClr>
          </a:solidFill>
          <a:ln w="12700">
            <a:solidFill>
              <a:srgbClr val="05070F"/>
            </a:solidFill>
            <a:prstDash val="solid"/>
          </a:ln>
        </p:spPr>
      </p:sp>
      <p:sp>
        <p:nvSpPr>
          <p:cNvPr id="16" name="Shape 13"/>
          <p:cNvSpPr/>
          <p:nvPr/>
        </p:nvSpPr>
        <p:spPr>
          <a:xfrm>
            <a:off x="580945" y="2827308"/>
            <a:ext cx="31555" cy="31555"/>
          </a:xfrm>
          <a:prstGeom prst="ellipse">
            <a:avLst/>
          </a:prstGeom>
          <a:solidFill>
            <a:srgbClr val="5EEAD4">
              <a:alpha val="36000"/>
            </a:srgbClr>
          </a:solidFill>
          <a:ln w="12700">
            <a:solidFill>
              <a:srgbClr val="05070F"/>
            </a:solidFill>
            <a:prstDash val="solid"/>
          </a:ln>
        </p:spPr>
      </p:sp>
      <p:sp>
        <p:nvSpPr>
          <p:cNvPr id="17" name="Shape 14"/>
          <p:cNvSpPr/>
          <p:nvPr/>
        </p:nvSpPr>
        <p:spPr>
          <a:xfrm>
            <a:off x="3961517" y="3005608"/>
            <a:ext cx="71103" cy="71103"/>
          </a:xfrm>
          <a:prstGeom prst="ellipse">
            <a:avLst/>
          </a:prstGeom>
          <a:solidFill>
            <a:srgbClr val="E6EDF7">
              <a:alpha val="46000"/>
            </a:srgbClr>
          </a:solidFill>
          <a:ln w="12700">
            <a:solidFill>
              <a:srgbClr val="05070F"/>
            </a:solidFill>
            <a:prstDash val="solid"/>
          </a:ln>
        </p:spPr>
      </p:sp>
      <p:sp>
        <p:nvSpPr>
          <p:cNvPr id="18" name="Shape 15"/>
          <p:cNvSpPr/>
          <p:nvPr/>
        </p:nvSpPr>
        <p:spPr>
          <a:xfrm>
            <a:off x="5495147" y="3012810"/>
            <a:ext cx="65765" cy="65765"/>
          </a:xfrm>
          <a:prstGeom prst="ellipse">
            <a:avLst/>
          </a:prstGeom>
          <a:solidFill>
            <a:srgbClr val="E6EDF7">
              <a:alpha val="55000"/>
            </a:srgbClr>
          </a:solidFill>
          <a:ln w="12700">
            <a:solidFill>
              <a:srgbClr val="05070F"/>
            </a:solidFill>
            <a:prstDash val="solid"/>
          </a:ln>
        </p:spPr>
      </p:sp>
      <p:sp>
        <p:nvSpPr>
          <p:cNvPr id="19" name="Shape 16"/>
          <p:cNvSpPr/>
          <p:nvPr/>
        </p:nvSpPr>
        <p:spPr>
          <a:xfrm>
            <a:off x="1607111" y="1854082"/>
            <a:ext cx="61403" cy="61403"/>
          </a:xfrm>
          <a:prstGeom prst="ellipse">
            <a:avLst/>
          </a:prstGeom>
          <a:solidFill>
            <a:srgbClr val="5EEAD4">
              <a:alpha val="27000"/>
            </a:srgbClr>
          </a:solidFill>
          <a:ln w="12700">
            <a:solidFill>
              <a:srgbClr val="05070F"/>
            </a:solidFill>
            <a:prstDash val="solid"/>
          </a:ln>
        </p:spPr>
      </p:sp>
      <p:sp>
        <p:nvSpPr>
          <p:cNvPr id="20" name="Shape 17"/>
          <p:cNvSpPr/>
          <p:nvPr/>
        </p:nvSpPr>
        <p:spPr>
          <a:xfrm>
            <a:off x="11299895" y="5900591"/>
            <a:ext cx="71705" cy="71705"/>
          </a:xfrm>
          <a:prstGeom prst="ellipse">
            <a:avLst/>
          </a:prstGeom>
          <a:solidFill>
            <a:srgbClr val="5EEAD4">
              <a:alpha val="37000"/>
            </a:srgbClr>
          </a:solidFill>
          <a:ln w="12700">
            <a:solidFill>
              <a:srgbClr val="05070F"/>
            </a:solidFill>
            <a:prstDash val="solid"/>
          </a:ln>
        </p:spPr>
      </p:sp>
      <p:sp>
        <p:nvSpPr>
          <p:cNvPr id="21" name="Shape 18"/>
          <p:cNvSpPr/>
          <p:nvPr/>
        </p:nvSpPr>
        <p:spPr>
          <a:xfrm>
            <a:off x="293765" y="2219501"/>
            <a:ext cx="52786" cy="52786"/>
          </a:xfrm>
          <a:prstGeom prst="ellipse">
            <a:avLst/>
          </a:prstGeom>
          <a:solidFill>
            <a:srgbClr val="E6EDF7">
              <a:alpha val="56000"/>
            </a:srgbClr>
          </a:solidFill>
          <a:ln w="12700">
            <a:solidFill>
              <a:srgbClr val="05070F"/>
            </a:solidFill>
            <a:prstDash val="solid"/>
          </a:ln>
        </p:spPr>
      </p:sp>
      <p:sp>
        <p:nvSpPr>
          <p:cNvPr id="22" name="Shape 19"/>
          <p:cNvSpPr/>
          <p:nvPr/>
        </p:nvSpPr>
        <p:spPr>
          <a:xfrm>
            <a:off x="8362244" y="5055982"/>
            <a:ext cx="45425" cy="45425"/>
          </a:xfrm>
          <a:prstGeom prst="ellipse">
            <a:avLst/>
          </a:prstGeom>
          <a:solidFill>
            <a:srgbClr val="E6EDF7">
              <a:alpha val="22000"/>
            </a:srgbClr>
          </a:solidFill>
          <a:ln w="12700">
            <a:solidFill>
              <a:srgbClr val="05070F"/>
            </a:solidFill>
            <a:prstDash val="solid"/>
          </a:ln>
        </p:spPr>
      </p:sp>
      <p:sp>
        <p:nvSpPr>
          <p:cNvPr id="23" name="Shape 20"/>
          <p:cNvSpPr/>
          <p:nvPr/>
        </p:nvSpPr>
        <p:spPr>
          <a:xfrm>
            <a:off x="4386408" y="4017198"/>
            <a:ext cx="27752" cy="27752"/>
          </a:xfrm>
          <a:prstGeom prst="ellipse">
            <a:avLst/>
          </a:prstGeom>
          <a:solidFill>
            <a:srgbClr val="E6EDF7">
              <a:alpha val="61000"/>
            </a:srgbClr>
          </a:solidFill>
          <a:ln w="12700">
            <a:solidFill>
              <a:srgbClr val="05070F"/>
            </a:solidFill>
            <a:prstDash val="solid"/>
          </a:ln>
        </p:spPr>
      </p:sp>
      <p:sp>
        <p:nvSpPr>
          <p:cNvPr id="24" name="Shape 21"/>
          <p:cNvSpPr/>
          <p:nvPr/>
        </p:nvSpPr>
        <p:spPr>
          <a:xfrm>
            <a:off x="5562565" y="5982317"/>
            <a:ext cx="72721" cy="72721"/>
          </a:xfrm>
          <a:prstGeom prst="ellipse">
            <a:avLst/>
          </a:prstGeom>
          <a:solidFill>
            <a:srgbClr val="5EEAD4">
              <a:alpha val="44000"/>
            </a:srgbClr>
          </a:solidFill>
          <a:ln w="12700">
            <a:solidFill>
              <a:srgbClr val="05070F"/>
            </a:solidFill>
            <a:prstDash val="solid"/>
          </a:ln>
        </p:spPr>
      </p:sp>
      <p:sp>
        <p:nvSpPr>
          <p:cNvPr id="25" name="Shape 22"/>
          <p:cNvSpPr/>
          <p:nvPr/>
        </p:nvSpPr>
        <p:spPr>
          <a:xfrm>
            <a:off x="9670625" y="6146506"/>
            <a:ext cx="33152" cy="33152"/>
          </a:xfrm>
          <a:prstGeom prst="ellipse">
            <a:avLst/>
          </a:prstGeom>
          <a:solidFill>
            <a:srgbClr val="E6EDF7">
              <a:alpha val="64000"/>
            </a:srgbClr>
          </a:solidFill>
          <a:ln w="12700">
            <a:solidFill>
              <a:srgbClr val="05070F"/>
            </a:solidFill>
            <a:prstDash val="solid"/>
          </a:ln>
        </p:spPr>
      </p:sp>
      <p:sp>
        <p:nvSpPr>
          <p:cNvPr id="26" name="Shape 23"/>
          <p:cNvSpPr/>
          <p:nvPr/>
        </p:nvSpPr>
        <p:spPr>
          <a:xfrm>
            <a:off x="8620419" y="4784931"/>
            <a:ext cx="34493" cy="34493"/>
          </a:xfrm>
          <a:prstGeom prst="ellipse">
            <a:avLst/>
          </a:prstGeom>
          <a:solidFill>
            <a:srgbClr val="5EEAD4">
              <a:alpha val="26000"/>
            </a:srgbClr>
          </a:solidFill>
          <a:ln w="12700">
            <a:solidFill>
              <a:srgbClr val="05070F"/>
            </a:solidFill>
            <a:prstDash val="solid"/>
          </a:ln>
        </p:spPr>
      </p:sp>
      <p:sp>
        <p:nvSpPr>
          <p:cNvPr id="27" name="Shape 24"/>
          <p:cNvSpPr/>
          <p:nvPr/>
        </p:nvSpPr>
        <p:spPr>
          <a:xfrm>
            <a:off x="10125828" y="1156758"/>
            <a:ext cx="37940" cy="37940"/>
          </a:xfrm>
          <a:prstGeom prst="ellipse">
            <a:avLst/>
          </a:prstGeom>
          <a:solidFill>
            <a:srgbClr val="E6EDF7">
              <a:alpha val="62000"/>
            </a:srgbClr>
          </a:solidFill>
          <a:ln w="12700">
            <a:solidFill>
              <a:srgbClr val="05070F"/>
            </a:solidFill>
            <a:prstDash val="solid"/>
          </a:ln>
        </p:spPr>
      </p:sp>
      <p:sp>
        <p:nvSpPr>
          <p:cNvPr id="28" name="Shape 25"/>
          <p:cNvSpPr/>
          <p:nvPr/>
        </p:nvSpPr>
        <p:spPr>
          <a:xfrm>
            <a:off x="6548228" y="5697155"/>
            <a:ext cx="28392" cy="28392"/>
          </a:xfrm>
          <a:prstGeom prst="ellipse">
            <a:avLst/>
          </a:prstGeom>
          <a:solidFill>
            <a:srgbClr val="5EEAD4">
              <a:alpha val="59000"/>
            </a:srgbClr>
          </a:solidFill>
          <a:ln w="12700">
            <a:solidFill>
              <a:srgbClr val="05070F"/>
            </a:solidFill>
            <a:prstDash val="solid"/>
          </a:ln>
        </p:spPr>
      </p:sp>
      <p:sp>
        <p:nvSpPr>
          <p:cNvPr id="29" name="Shape 26"/>
          <p:cNvSpPr/>
          <p:nvPr/>
        </p:nvSpPr>
        <p:spPr>
          <a:xfrm>
            <a:off x="634514" y="1917288"/>
            <a:ext cx="50018" cy="50018"/>
          </a:xfrm>
          <a:prstGeom prst="ellipse">
            <a:avLst/>
          </a:prstGeom>
          <a:solidFill>
            <a:srgbClr val="E6EDF7">
              <a:alpha val="63000"/>
            </a:srgbClr>
          </a:solidFill>
          <a:ln w="12700">
            <a:solidFill>
              <a:srgbClr val="05070F"/>
            </a:solidFill>
            <a:prstDash val="solid"/>
          </a:ln>
        </p:spPr>
      </p:sp>
      <p:sp>
        <p:nvSpPr>
          <p:cNvPr id="30" name="Shape 27"/>
          <p:cNvSpPr/>
          <p:nvPr/>
        </p:nvSpPr>
        <p:spPr>
          <a:xfrm>
            <a:off x="2807832" y="2030324"/>
            <a:ext cx="43693" cy="43693"/>
          </a:xfrm>
          <a:prstGeom prst="ellipse">
            <a:avLst/>
          </a:prstGeom>
          <a:solidFill>
            <a:srgbClr val="5EEAD4">
              <a:alpha val="59000"/>
            </a:srgbClr>
          </a:solidFill>
          <a:ln w="12700">
            <a:solidFill>
              <a:srgbClr val="05070F"/>
            </a:solidFill>
            <a:prstDash val="solid"/>
          </a:ln>
        </p:spPr>
      </p:sp>
      <p:sp>
        <p:nvSpPr>
          <p:cNvPr id="31" name="Shape 28"/>
          <p:cNvSpPr/>
          <p:nvPr/>
        </p:nvSpPr>
        <p:spPr>
          <a:xfrm>
            <a:off x="11027" y="4279430"/>
            <a:ext cx="34957" cy="34957"/>
          </a:xfrm>
          <a:prstGeom prst="ellipse">
            <a:avLst/>
          </a:prstGeom>
          <a:solidFill>
            <a:srgbClr val="E6EDF7">
              <a:alpha val="47000"/>
            </a:srgbClr>
          </a:solidFill>
          <a:ln w="12700">
            <a:solidFill>
              <a:srgbClr val="05070F"/>
            </a:solidFill>
            <a:prstDash val="solid"/>
          </a:ln>
        </p:spPr>
      </p:sp>
      <p:sp>
        <p:nvSpPr>
          <p:cNvPr id="32" name="Shape 29"/>
          <p:cNvSpPr/>
          <p:nvPr/>
        </p:nvSpPr>
        <p:spPr>
          <a:xfrm>
            <a:off x="5828057" y="2843771"/>
            <a:ext cx="32418" cy="32418"/>
          </a:xfrm>
          <a:prstGeom prst="ellipse">
            <a:avLst/>
          </a:prstGeom>
          <a:solidFill>
            <a:srgbClr val="E6EDF7">
              <a:alpha val="31000"/>
            </a:srgbClr>
          </a:solidFill>
          <a:ln w="12700">
            <a:solidFill>
              <a:srgbClr val="05070F"/>
            </a:solidFill>
            <a:prstDash val="solid"/>
          </a:ln>
        </p:spPr>
      </p:sp>
      <p:sp>
        <p:nvSpPr>
          <p:cNvPr id="33" name="Shape 30"/>
          <p:cNvSpPr/>
          <p:nvPr/>
        </p:nvSpPr>
        <p:spPr>
          <a:xfrm>
            <a:off x="9007942" y="2316515"/>
            <a:ext cx="48070" cy="48070"/>
          </a:xfrm>
          <a:prstGeom prst="ellipse">
            <a:avLst/>
          </a:prstGeom>
          <a:solidFill>
            <a:srgbClr val="5EEAD4">
              <a:alpha val="33000"/>
            </a:srgbClr>
          </a:solidFill>
          <a:ln w="12700">
            <a:solidFill>
              <a:srgbClr val="05070F"/>
            </a:solidFill>
            <a:prstDash val="solid"/>
          </a:ln>
        </p:spPr>
      </p:sp>
      <p:sp>
        <p:nvSpPr>
          <p:cNvPr id="34" name="Shape 31"/>
          <p:cNvSpPr/>
          <p:nvPr/>
        </p:nvSpPr>
        <p:spPr>
          <a:xfrm>
            <a:off x="3266693" y="2464829"/>
            <a:ext cx="56656" cy="56656"/>
          </a:xfrm>
          <a:prstGeom prst="ellipse">
            <a:avLst/>
          </a:prstGeom>
          <a:solidFill>
            <a:srgbClr val="E6EDF7">
              <a:alpha val="26000"/>
            </a:srgbClr>
          </a:solidFill>
          <a:ln w="12700">
            <a:solidFill>
              <a:srgbClr val="05070F"/>
            </a:solidFill>
            <a:prstDash val="solid"/>
          </a:ln>
        </p:spPr>
      </p:sp>
      <p:sp>
        <p:nvSpPr>
          <p:cNvPr id="35" name="Shape 32"/>
          <p:cNvSpPr/>
          <p:nvPr/>
        </p:nvSpPr>
        <p:spPr>
          <a:xfrm>
            <a:off x="833632" y="1277879"/>
            <a:ext cx="31221" cy="31221"/>
          </a:xfrm>
          <a:prstGeom prst="ellipse">
            <a:avLst/>
          </a:prstGeom>
          <a:solidFill>
            <a:srgbClr val="E6EDF7">
              <a:alpha val="64000"/>
            </a:srgbClr>
          </a:solidFill>
          <a:ln w="12700">
            <a:solidFill>
              <a:srgbClr val="05070F"/>
            </a:solidFill>
            <a:prstDash val="solid"/>
          </a:ln>
        </p:spPr>
      </p:sp>
      <p:sp>
        <p:nvSpPr>
          <p:cNvPr id="36" name="Shape 33"/>
          <p:cNvSpPr/>
          <p:nvPr/>
        </p:nvSpPr>
        <p:spPr>
          <a:xfrm>
            <a:off x="5358743" y="2586831"/>
            <a:ext cx="54882" cy="54882"/>
          </a:xfrm>
          <a:prstGeom prst="ellipse">
            <a:avLst/>
          </a:prstGeom>
          <a:solidFill>
            <a:srgbClr val="5EEAD4">
              <a:alpha val="25000"/>
            </a:srgbClr>
          </a:solidFill>
          <a:ln w="12700">
            <a:solidFill>
              <a:srgbClr val="05070F"/>
            </a:solidFill>
            <a:prstDash val="solid"/>
          </a:ln>
        </p:spPr>
      </p:sp>
      <p:sp>
        <p:nvSpPr>
          <p:cNvPr id="37" name="Shape 34"/>
          <p:cNvSpPr/>
          <p:nvPr/>
        </p:nvSpPr>
        <p:spPr>
          <a:xfrm>
            <a:off x="5139504" y="824853"/>
            <a:ext cx="51578" cy="51578"/>
          </a:xfrm>
          <a:prstGeom prst="ellipse">
            <a:avLst/>
          </a:prstGeom>
          <a:solidFill>
            <a:srgbClr val="5EEAD4">
              <a:alpha val="36000"/>
            </a:srgbClr>
          </a:solidFill>
          <a:ln w="12700">
            <a:solidFill>
              <a:srgbClr val="05070F"/>
            </a:solidFill>
            <a:prstDash val="solid"/>
          </a:ln>
        </p:spPr>
      </p:sp>
      <p:sp>
        <p:nvSpPr>
          <p:cNvPr id="38" name="Shape 35"/>
          <p:cNvSpPr/>
          <p:nvPr/>
        </p:nvSpPr>
        <p:spPr>
          <a:xfrm>
            <a:off x="11050605" y="4649111"/>
            <a:ext cx="50239" cy="50239"/>
          </a:xfrm>
          <a:prstGeom prst="ellipse">
            <a:avLst/>
          </a:prstGeom>
          <a:solidFill>
            <a:srgbClr val="E6EDF7">
              <a:alpha val="22000"/>
            </a:srgbClr>
          </a:solidFill>
          <a:ln w="12700">
            <a:solidFill>
              <a:srgbClr val="05070F"/>
            </a:solidFill>
            <a:prstDash val="solid"/>
          </a:ln>
        </p:spPr>
      </p:sp>
      <p:sp>
        <p:nvSpPr>
          <p:cNvPr id="39" name="Text 36"/>
          <p:cNvSpPr txBox="1"/>
          <p:nvPr/>
        </p:nvSpPr>
        <p:spPr>
          <a:xfrm>
            <a:off x="731520" y="1600200"/>
            <a:ext cx="6035040" cy="1554480"/>
          </a:xfrm>
          <a:prstGeom prst="rect">
            <a:avLst/>
          </a:prstGeom>
          <a:noFill/>
          <a:ln/>
        </p:spPr>
        <p:txBody>
          <a:bodyPr wrap="square" lIns="0" tIns="0" rIns="0" bIns="0" rtlCol="0" anchor="t"/>
          <a:lstStyle/>
          <a:p>
            <a:pPr indent="0" marL="0">
              <a:buNone/>
            </a:pPr>
            <a:r>
              <a:rPr lang="en-US" sz="9200" b="1" spc="1400" kern="0" dirty="0">
                <a:solidFill>
                  <a:srgbClr val="5EEAD4"/>
                </a:solidFill>
                <a:latin typeface="Calibri" pitchFamily="34" charset="0"/>
                <a:ea typeface="Calibri" pitchFamily="34" charset="-122"/>
                <a:cs typeface="Calibri" pitchFamily="34" charset="-120"/>
              </a:rPr>
              <a:t>IRIS</a:t>
            </a:r>
            <a:endParaRPr lang="en-US" sz="9200" dirty="0"/>
          </a:p>
        </p:txBody>
      </p:sp>
      <p:sp>
        <p:nvSpPr>
          <p:cNvPr id="40" name="Text 37"/>
          <p:cNvSpPr txBox="1"/>
          <p:nvPr/>
        </p:nvSpPr>
        <p:spPr>
          <a:xfrm>
            <a:off x="731520" y="3154680"/>
            <a:ext cx="6400800" cy="640080"/>
          </a:xfrm>
          <a:prstGeom prst="rect">
            <a:avLst/>
          </a:prstGeom>
          <a:noFill/>
          <a:ln/>
        </p:spPr>
        <p:txBody>
          <a:bodyPr wrap="square" lIns="0" tIns="0" rIns="0" bIns="0" rtlCol="0" anchor="t"/>
          <a:lstStyle/>
          <a:p>
            <a:pPr indent="0" marL="0">
              <a:buNone/>
            </a:pPr>
            <a:r>
              <a:rPr lang="en-US" sz="3000" dirty="0">
                <a:solidFill>
                  <a:srgbClr val="E6EDF7"/>
                </a:solidFill>
                <a:latin typeface="Calibri" pitchFamily="34" charset="0"/>
                <a:ea typeface="Calibri" pitchFamily="34" charset="-122"/>
                <a:cs typeface="Calibri" pitchFamily="34" charset="-120"/>
              </a:rPr>
              <a:t>One brain. Two bodies.</a:t>
            </a:r>
            <a:endParaRPr lang="en-US" sz="3000" dirty="0"/>
          </a:p>
        </p:txBody>
      </p:sp>
      <p:sp>
        <p:nvSpPr>
          <p:cNvPr id="41" name="Text 38"/>
          <p:cNvSpPr txBox="1"/>
          <p:nvPr/>
        </p:nvSpPr>
        <p:spPr>
          <a:xfrm>
            <a:off x="731520" y="3840480"/>
            <a:ext cx="6035040" cy="822960"/>
          </a:xfrm>
          <a:prstGeom prst="rect">
            <a:avLst/>
          </a:prstGeom>
          <a:noFill/>
          <a:ln/>
        </p:spPr>
        <p:txBody>
          <a:bodyPr wrap="square" lIns="0" tIns="0" rIns="0" bIns="0" rtlCol="0" anchor="t"/>
          <a:lstStyle/>
          <a:p>
            <a:pPr indent="0" marL="0">
              <a:lnSpc>
                <a:spcPct val="110000"/>
              </a:lnSpc>
              <a:buNone/>
            </a:pPr>
            <a:r>
              <a:rPr lang="en-US" sz="1500" dirty="0">
                <a:solidFill>
                  <a:srgbClr val="9AA4BC"/>
                </a:solidFill>
                <a:latin typeface="Calibri" pitchFamily="34" charset="0"/>
                <a:ea typeface="Calibri" pitchFamily="34" charset="-122"/>
                <a:cs typeface="Calibri" pitchFamily="34" charset="-120"/>
              </a:rPr>
              <a:t>A desktop AI assistant that talks, acts on your PC, and drives a robot with a face — free-first, offline-first, private.</a:t>
            </a:r>
            <a:endParaRPr lang="en-US" sz="1500" dirty="0"/>
          </a:p>
        </p:txBody>
      </p:sp>
      <p:sp>
        <p:nvSpPr>
          <p:cNvPr id="42" name="Text 39"/>
          <p:cNvSpPr txBox="1"/>
          <p:nvPr/>
        </p:nvSpPr>
        <p:spPr>
          <a:xfrm>
            <a:off x="731520" y="5074920"/>
            <a:ext cx="36576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TEAM FRIDAY</a:t>
            </a:r>
            <a:endParaRPr lang="en-US" sz="1100" dirty="0"/>
          </a:p>
        </p:txBody>
      </p:sp>
      <p:sp>
        <p:nvSpPr>
          <p:cNvPr id="43" name="Text 40"/>
          <p:cNvSpPr txBox="1"/>
          <p:nvPr/>
        </p:nvSpPr>
        <p:spPr>
          <a:xfrm>
            <a:off x="731520" y="5349240"/>
            <a:ext cx="6858000" cy="365760"/>
          </a:xfrm>
          <a:prstGeom prst="rect">
            <a:avLst/>
          </a:prstGeom>
          <a:noFill/>
          <a:ln/>
        </p:spPr>
        <p:txBody>
          <a:bodyPr wrap="square" lIns="0" tIns="0" rIns="0" bIns="0" rtlCol="0" anchor="t"/>
          <a:lstStyle/>
          <a:p>
            <a:pPr indent="0" marL="0">
              <a:buNone/>
            </a:pPr>
            <a:r>
              <a:rPr lang="en-US" sz="1500" dirty="0">
                <a:solidFill>
                  <a:srgbClr val="E6EDF7"/>
                </a:solidFill>
                <a:latin typeface="Calibri" pitchFamily="34" charset="0"/>
                <a:ea typeface="Calibri" pitchFamily="34" charset="-122"/>
                <a:cs typeface="Calibri" pitchFamily="34" charset="-120"/>
              </a:rPr>
              <a:t>Prajjwal Prasad  ·  Shivnandan Sahu  ·  Payal Gupta</a:t>
            </a:r>
            <a:endParaRPr lang="en-US" sz="1500" dirty="0"/>
          </a:p>
        </p:txBody>
      </p:sp>
      <p:sp>
        <p:nvSpPr>
          <p:cNvPr id="44" name="Text 41"/>
          <p:cNvSpPr txBox="1"/>
          <p:nvPr/>
        </p:nvSpPr>
        <p:spPr>
          <a:xfrm>
            <a:off x="731520" y="5760720"/>
            <a:ext cx="5486400" cy="320040"/>
          </a:xfrm>
          <a:prstGeom prst="rect">
            <a:avLst/>
          </a:prstGeom>
          <a:noFill/>
          <a:ln/>
        </p:spPr>
        <p:txBody>
          <a:bodyPr wrap="square" lIns="0" tIns="0" rIns="0" bIns="0" rtlCol="0" anchor="t"/>
          <a:lstStyle/>
          <a:p>
            <a:pPr indent="0" marL="0">
              <a:buNone/>
            </a:pPr>
            <a:r>
              <a:rPr lang="en-US" sz="1200" spc="100" kern="0" dirty="0">
                <a:solidFill>
                  <a:srgbClr val="9AA4BC"/>
                </a:solidFill>
                <a:latin typeface="Calibri" pitchFamily="34" charset="0"/>
                <a:ea typeface="Calibri" pitchFamily="34" charset="-122"/>
                <a:cs typeface="Calibri" pitchFamily="34" charset="-120"/>
              </a:rPr>
              <a:t>TechRoot 4.0  ·  Working Model</a:t>
            </a:r>
            <a:endParaRPr lang="en-US" sz="1200" dirty="0"/>
          </a:p>
        </p:txBody>
      </p:sp>
      <p:sp>
        <p:nvSpPr>
          <p:cNvPr id="45" name="Shape 42"/>
          <p:cNvSpPr/>
          <p:nvPr/>
        </p:nvSpPr>
        <p:spPr>
          <a:xfrm>
            <a:off x="7379208" y="1984248"/>
            <a:ext cx="2203704" cy="1655064"/>
          </a:xfrm>
          <a:prstGeom prst="roundRect">
            <a:avLst>
              <a:gd name="adj" fmla="val 4420"/>
            </a:avLst>
          </a:prstGeom>
          <a:solidFill>
            <a:srgbClr val="080B16"/>
          </a:solidFill>
          <a:ln w="9525">
            <a:solidFill>
              <a:srgbClr val="22305A"/>
            </a:solidFill>
            <a:prstDash val="solid"/>
          </a:ln>
        </p:spPr>
      </p:sp>
      <p:sp>
        <p:nvSpPr>
          <p:cNvPr id="46" name="Shape 43"/>
          <p:cNvSpPr/>
          <p:nvPr/>
        </p:nvSpPr>
        <p:spPr>
          <a:xfrm>
            <a:off x="7635240" y="2240280"/>
            <a:ext cx="1691640" cy="1143000"/>
          </a:xfrm>
          <a:prstGeom prst="roundRect">
            <a:avLst>
              <a:gd name="adj" fmla="val 28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47" name="Shape 44"/>
          <p:cNvSpPr/>
          <p:nvPr/>
        </p:nvSpPr>
        <p:spPr>
          <a:xfrm>
            <a:off x="7904531" y="2457450"/>
            <a:ext cx="205740" cy="205740"/>
          </a:xfrm>
          <a:prstGeom prst="ellipse">
            <a:avLst/>
          </a:prstGeom>
          <a:solidFill>
            <a:srgbClr val="080B16"/>
          </a:solidFill>
          <a:ln w="12700">
            <a:solidFill>
              <a:srgbClr val="080B16"/>
            </a:solidFill>
            <a:prstDash val="solid"/>
          </a:ln>
        </p:spPr>
      </p:sp>
      <p:sp>
        <p:nvSpPr>
          <p:cNvPr id="48" name="Shape 45"/>
          <p:cNvSpPr/>
          <p:nvPr/>
        </p:nvSpPr>
        <p:spPr>
          <a:xfrm>
            <a:off x="9573768" y="1984248"/>
            <a:ext cx="2203704" cy="1655064"/>
          </a:xfrm>
          <a:prstGeom prst="roundRect">
            <a:avLst>
              <a:gd name="adj" fmla="val 4420"/>
            </a:avLst>
          </a:prstGeom>
          <a:solidFill>
            <a:srgbClr val="080B16"/>
          </a:solidFill>
          <a:ln w="9525">
            <a:solidFill>
              <a:srgbClr val="22305A"/>
            </a:solidFill>
            <a:prstDash val="solid"/>
          </a:ln>
        </p:spPr>
      </p:sp>
      <p:sp>
        <p:nvSpPr>
          <p:cNvPr id="49" name="Shape 46"/>
          <p:cNvSpPr/>
          <p:nvPr/>
        </p:nvSpPr>
        <p:spPr>
          <a:xfrm>
            <a:off x="9829800" y="2240280"/>
            <a:ext cx="1691640" cy="1143000"/>
          </a:xfrm>
          <a:prstGeom prst="roundRect">
            <a:avLst>
              <a:gd name="adj" fmla="val 28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50" name="Shape 47"/>
          <p:cNvSpPr/>
          <p:nvPr/>
        </p:nvSpPr>
        <p:spPr>
          <a:xfrm>
            <a:off x="11046409" y="2457450"/>
            <a:ext cx="205740" cy="205740"/>
          </a:xfrm>
          <a:prstGeom prst="ellipse">
            <a:avLst/>
          </a:prstGeom>
          <a:solidFill>
            <a:srgbClr val="080B16"/>
          </a:solidFill>
          <a:ln w="12700">
            <a:solidFill>
              <a:srgbClr val="080B16"/>
            </a:solidFill>
            <a:prstDash val="solid"/>
          </a:ln>
        </p:spPr>
      </p:sp>
      <p:sp>
        <p:nvSpPr>
          <p:cNvPr id="51" name="Text 48"/>
          <p:cNvSpPr txBox="1"/>
          <p:nvPr/>
        </p:nvSpPr>
        <p:spPr>
          <a:xfrm>
            <a:off x="7360920" y="3794760"/>
            <a:ext cx="4480560" cy="274320"/>
          </a:xfrm>
          <a:prstGeom prst="rect">
            <a:avLst/>
          </a:prstGeom>
          <a:noFill/>
          <a:ln/>
        </p:spPr>
        <p:txBody>
          <a:bodyPr wrap="square" lIns="0" tIns="0" rIns="0" bIns="0" rtlCol="0" anchor="t"/>
          <a:lstStyle/>
          <a:p>
            <a:pPr algn="ctr" indent="0" marL="0">
              <a:buNone/>
            </a:pPr>
            <a:r>
              <a:rPr lang="en-US" sz="1050" spc="200" kern="0" dirty="0">
                <a:solidFill>
                  <a:srgbClr val="5B667F"/>
                </a:solidFill>
                <a:latin typeface="Calibri" pitchFamily="34" charset="0"/>
                <a:ea typeface="Calibri" pitchFamily="34" charset="-122"/>
                <a:cs typeface="Calibri" pitchFamily="34" charset="-120"/>
              </a:rPr>
              <a:t>two 128×64 OLED eyes, live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01 · THE IDEA</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Every assistant lives in a chat box. Ours lives on your desk.</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02</a:t>
            </a:r>
            <a:endParaRPr lang="en-US" sz="900" dirty="0"/>
          </a:p>
        </p:txBody>
      </p:sp>
      <p:sp>
        <p:nvSpPr>
          <p:cNvPr id="7" name="Shape 4"/>
          <p:cNvSpPr/>
          <p:nvPr/>
        </p:nvSpPr>
        <p:spPr>
          <a:xfrm>
            <a:off x="548640" y="1783080"/>
            <a:ext cx="3520440" cy="3520440"/>
          </a:xfrm>
          <a:prstGeom prst="roundRect">
            <a:avLst>
              <a:gd name="adj" fmla="val 3117"/>
            </a:avLst>
          </a:prstGeom>
          <a:solidFill>
            <a:srgbClr val="0D1224"/>
          </a:solidFill>
          <a:ln w="9525">
            <a:solidFill>
              <a:srgbClr val="22305A"/>
            </a:solidFill>
            <a:prstDash val="solid"/>
          </a:ln>
        </p:spPr>
      </p:sp>
      <p:sp>
        <p:nvSpPr>
          <p:cNvPr id="8" name="Shape 5"/>
          <p:cNvSpPr/>
          <p:nvPr/>
        </p:nvSpPr>
        <p:spPr>
          <a:xfrm>
            <a:off x="868680" y="2103120"/>
            <a:ext cx="731520" cy="731520"/>
          </a:xfrm>
          <a:prstGeom prst="ellipse">
            <a:avLst/>
          </a:prstGeom>
          <a:solidFill>
            <a:srgbClr val="5EEAD4">
              <a:alpha val="20000"/>
            </a:srgbClr>
          </a:solidFill>
          <a:ln w="6350">
            <a:solidFill>
              <a:srgbClr val="5EEAD4">
                <a:alpha val="60000"/>
              </a:srgbClr>
            </a:solidFill>
            <a:prstDash val="solid"/>
          </a:ln>
        </p:spPr>
      </p:sp>
      <p:pic>
        <p:nvPicPr>
          <p:cNvPr id="9" name="Image 0" descr="preencoded.png">    </p:cNvPr>
          <p:cNvPicPr>
            <a:picLocks noChangeAspect="1"/>
          </p:cNvPicPr>
          <p:nvPr/>
        </p:nvPicPr>
        <p:blipFill>
          <a:blip r:embed="rId1"/>
          <a:stretch>
            <a:fillRect/>
          </a:stretch>
        </p:blipFill>
        <p:spPr>
          <a:xfrm>
            <a:off x="1044245" y="2278685"/>
            <a:ext cx="380390" cy="380390"/>
          </a:xfrm>
          <a:prstGeom prst="rect">
            <a:avLst/>
          </a:prstGeom>
        </p:spPr>
      </p:pic>
      <p:sp>
        <p:nvSpPr>
          <p:cNvPr id="10" name="Text 6"/>
          <p:cNvSpPr txBox="1"/>
          <p:nvPr/>
        </p:nvSpPr>
        <p:spPr>
          <a:xfrm>
            <a:off x="868680" y="3017520"/>
            <a:ext cx="2880360" cy="457200"/>
          </a:xfrm>
          <a:prstGeom prst="rect">
            <a:avLst/>
          </a:prstGeom>
          <a:noFill/>
          <a:ln/>
        </p:spPr>
        <p:txBody>
          <a:bodyPr wrap="square" lIns="0" tIns="0" rIns="0" bIns="0" rtlCol="0" anchor="t"/>
          <a:lstStyle/>
          <a:p>
            <a:pPr indent="0" marL="0">
              <a:buNone/>
            </a:pPr>
            <a:r>
              <a:rPr lang="en-US" sz="2200" b="1" dirty="0">
                <a:solidFill>
                  <a:srgbClr val="E6EDF7"/>
                </a:solidFill>
                <a:latin typeface="Calibri" pitchFamily="34" charset="0"/>
                <a:ea typeface="Calibri" pitchFamily="34" charset="-122"/>
                <a:cs typeface="Calibri" pitchFamily="34" charset="-120"/>
              </a:rPr>
              <a:t>Talks</a:t>
            </a:r>
            <a:endParaRPr lang="en-US" sz="2200" dirty="0"/>
          </a:p>
        </p:txBody>
      </p:sp>
      <p:sp>
        <p:nvSpPr>
          <p:cNvPr id="11" name="Text 7"/>
          <p:cNvSpPr txBox="1"/>
          <p:nvPr/>
        </p:nvSpPr>
        <p:spPr>
          <a:xfrm>
            <a:off x="868680" y="3520440"/>
            <a:ext cx="2880360" cy="1691640"/>
          </a:xfrm>
          <a:prstGeom prst="rect">
            <a:avLst/>
          </a:prstGeom>
          <a:noFill/>
          <a:ln/>
        </p:spPr>
        <p:txBody>
          <a:bodyPr wrap="square" lIns="0" tIns="0" rIns="0" bIns="0" rtlCol="0" anchor="t"/>
          <a:lstStyle/>
          <a:p>
            <a:pPr indent="0" marL="0">
              <a:lnSpc>
                <a:spcPct val="112000"/>
              </a:lnSpc>
              <a:buNone/>
            </a:pPr>
            <a:r>
              <a:rPr lang="en-US" sz="1450" dirty="0">
                <a:solidFill>
                  <a:srgbClr val="9AA4BC"/>
                </a:solidFill>
                <a:latin typeface="Calibri" pitchFamily="34" charset="0"/>
                <a:ea typeface="Calibri" pitchFamily="34" charset="-122"/>
                <a:cs typeface="Calibri" pitchFamily="34" charset="-120"/>
              </a:rPr>
              <a:t>Voice or text, in English, Hindi or Hinglish. Wake it with “Hey Iris”. It replies out loud, in the language you used — and remembers what you tell it, across restarts.</a:t>
            </a:r>
            <a:endParaRPr lang="en-US" sz="1450" dirty="0"/>
          </a:p>
        </p:txBody>
      </p:sp>
      <p:sp>
        <p:nvSpPr>
          <p:cNvPr id="12" name="Shape 8"/>
          <p:cNvSpPr/>
          <p:nvPr/>
        </p:nvSpPr>
        <p:spPr>
          <a:xfrm>
            <a:off x="4352544" y="1783080"/>
            <a:ext cx="3520440" cy="3520440"/>
          </a:xfrm>
          <a:prstGeom prst="roundRect">
            <a:avLst>
              <a:gd name="adj" fmla="val 3117"/>
            </a:avLst>
          </a:prstGeom>
          <a:solidFill>
            <a:srgbClr val="0D1224"/>
          </a:solidFill>
          <a:ln w="9525">
            <a:solidFill>
              <a:srgbClr val="22305A"/>
            </a:solidFill>
            <a:prstDash val="solid"/>
          </a:ln>
        </p:spPr>
      </p:sp>
      <p:sp>
        <p:nvSpPr>
          <p:cNvPr id="13" name="Shape 9"/>
          <p:cNvSpPr/>
          <p:nvPr/>
        </p:nvSpPr>
        <p:spPr>
          <a:xfrm>
            <a:off x="4672584" y="2103120"/>
            <a:ext cx="731520" cy="731520"/>
          </a:xfrm>
          <a:prstGeom prst="ellipse">
            <a:avLst/>
          </a:prstGeom>
          <a:solidFill>
            <a:srgbClr val="818CF8">
              <a:alpha val="20000"/>
            </a:srgbClr>
          </a:solidFill>
          <a:ln w="6350">
            <a:solidFill>
              <a:srgbClr val="818CF8">
                <a:alpha val="60000"/>
              </a:srgbClr>
            </a:solidFill>
            <a:prstDash val="solid"/>
          </a:ln>
        </p:spPr>
      </p:sp>
      <p:pic>
        <p:nvPicPr>
          <p:cNvPr id="14" name="Image 1" descr="preencoded.png">    </p:cNvPr>
          <p:cNvPicPr>
            <a:picLocks noChangeAspect="1"/>
          </p:cNvPicPr>
          <p:nvPr/>
        </p:nvPicPr>
        <p:blipFill>
          <a:blip r:embed="rId2"/>
          <a:stretch>
            <a:fillRect/>
          </a:stretch>
        </p:blipFill>
        <p:spPr>
          <a:xfrm>
            <a:off x="4848149" y="2278685"/>
            <a:ext cx="380390" cy="380390"/>
          </a:xfrm>
          <a:prstGeom prst="rect">
            <a:avLst/>
          </a:prstGeom>
        </p:spPr>
      </p:pic>
      <p:sp>
        <p:nvSpPr>
          <p:cNvPr id="15" name="Text 10"/>
          <p:cNvSpPr txBox="1"/>
          <p:nvPr/>
        </p:nvSpPr>
        <p:spPr>
          <a:xfrm>
            <a:off x="4672584" y="3017520"/>
            <a:ext cx="2880360" cy="457200"/>
          </a:xfrm>
          <a:prstGeom prst="rect">
            <a:avLst/>
          </a:prstGeom>
          <a:noFill/>
          <a:ln/>
        </p:spPr>
        <p:txBody>
          <a:bodyPr wrap="square" lIns="0" tIns="0" rIns="0" bIns="0" rtlCol="0" anchor="t"/>
          <a:lstStyle/>
          <a:p>
            <a:pPr indent="0" marL="0">
              <a:buNone/>
            </a:pPr>
            <a:r>
              <a:rPr lang="en-US" sz="2200" b="1" dirty="0">
                <a:solidFill>
                  <a:srgbClr val="E6EDF7"/>
                </a:solidFill>
                <a:latin typeface="Calibri" pitchFamily="34" charset="0"/>
                <a:ea typeface="Calibri" pitchFamily="34" charset="-122"/>
                <a:cs typeface="Calibri" pitchFamily="34" charset="-120"/>
              </a:rPr>
              <a:t>Acts</a:t>
            </a:r>
            <a:endParaRPr lang="en-US" sz="2200" dirty="0"/>
          </a:p>
        </p:txBody>
      </p:sp>
      <p:sp>
        <p:nvSpPr>
          <p:cNvPr id="16" name="Text 11"/>
          <p:cNvSpPr txBox="1"/>
          <p:nvPr/>
        </p:nvSpPr>
        <p:spPr>
          <a:xfrm>
            <a:off x="4672584" y="3520440"/>
            <a:ext cx="2880360" cy="1691640"/>
          </a:xfrm>
          <a:prstGeom prst="rect">
            <a:avLst/>
          </a:prstGeom>
          <a:noFill/>
          <a:ln/>
        </p:spPr>
        <p:txBody>
          <a:bodyPr wrap="square" lIns="0" tIns="0" rIns="0" bIns="0" rtlCol="0" anchor="t"/>
          <a:lstStyle/>
          <a:p>
            <a:pPr indent="0" marL="0">
              <a:lnSpc>
                <a:spcPct val="112000"/>
              </a:lnSpc>
              <a:buNone/>
            </a:pPr>
            <a:r>
              <a:rPr lang="en-US" sz="1450" dirty="0">
                <a:solidFill>
                  <a:srgbClr val="9AA4BC"/>
                </a:solidFill>
                <a:latin typeface="Calibri" pitchFamily="34" charset="0"/>
                <a:ea typeface="Calibri" pitchFamily="34" charset="-122"/>
                <a:cs typeface="Calibri" pitchFamily="34" charset="-120"/>
              </a:rPr>
              <a:t>Opens apps and sites, controls volume and windows, takes screenshots, sets reminders and routines, writes documents, slide decks and code. 77 tools, most of them fully offline.</a:t>
            </a:r>
            <a:endParaRPr lang="en-US" sz="1450" dirty="0"/>
          </a:p>
        </p:txBody>
      </p:sp>
      <p:sp>
        <p:nvSpPr>
          <p:cNvPr id="17" name="Shape 12"/>
          <p:cNvSpPr/>
          <p:nvPr/>
        </p:nvSpPr>
        <p:spPr>
          <a:xfrm>
            <a:off x="8156448" y="1783080"/>
            <a:ext cx="3520440" cy="3520440"/>
          </a:xfrm>
          <a:prstGeom prst="roundRect">
            <a:avLst>
              <a:gd name="adj" fmla="val 3117"/>
            </a:avLst>
          </a:prstGeom>
          <a:solidFill>
            <a:srgbClr val="0D1224"/>
          </a:solidFill>
          <a:ln w="9525">
            <a:solidFill>
              <a:srgbClr val="22305A"/>
            </a:solidFill>
            <a:prstDash val="solid"/>
          </a:ln>
        </p:spPr>
      </p:sp>
      <p:sp>
        <p:nvSpPr>
          <p:cNvPr id="18" name="Shape 13"/>
          <p:cNvSpPr/>
          <p:nvPr/>
        </p:nvSpPr>
        <p:spPr>
          <a:xfrm>
            <a:off x="8476488" y="2103120"/>
            <a:ext cx="731520" cy="731520"/>
          </a:xfrm>
          <a:prstGeom prst="ellipse">
            <a:avLst/>
          </a:prstGeom>
          <a:solidFill>
            <a:srgbClr val="F4A259">
              <a:alpha val="20000"/>
            </a:srgbClr>
          </a:solidFill>
          <a:ln w="6350">
            <a:solidFill>
              <a:srgbClr val="F4A259">
                <a:alpha val="60000"/>
              </a:srgbClr>
            </a:solidFill>
            <a:prstDash val="solid"/>
          </a:ln>
        </p:spPr>
      </p:sp>
      <p:pic>
        <p:nvPicPr>
          <p:cNvPr id="19" name="Image 2" descr="preencoded.png">    </p:cNvPr>
          <p:cNvPicPr>
            <a:picLocks noChangeAspect="1"/>
          </p:cNvPicPr>
          <p:nvPr/>
        </p:nvPicPr>
        <p:blipFill>
          <a:blip r:embed="rId3"/>
          <a:stretch>
            <a:fillRect/>
          </a:stretch>
        </p:blipFill>
        <p:spPr>
          <a:xfrm>
            <a:off x="8652053" y="2278685"/>
            <a:ext cx="380390" cy="380390"/>
          </a:xfrm>
          <a:prstGeom prst="rect">
            <a:avLst/>
          </a:prstGeom>
        </p:spPr>
      </p:pic>
      <p:sp>
        <p:nvSpPr>
          <p:cNvPr id="20" name="Text 14"/>
          <p:cNvSpPr txBox="1"/>
          <p:nvPr/>
        </p:nvSpPr>
        <p:spPr>
          <a:xfrm>
            <a:off x="8476488" y="3017520"/>
            <a:ext cx="2880360" cy="457200"/>
          </a:xfrm>
          <a:prstGeom prst="rect">
            <a:avLst/>
          </a:prstGeom>
          <a:noFill/>
          <a:ln/>
        </p:spPr>
        <p:txBody>
          <a:bodyPr wrap="square" lIns="0" tIns="0" rIns="0" bIns="0" rtlCol="0" anchor="t"/>
          <a:lstStyle/>
          <a:p>
            <a:pPr indent="0" marL="0">
              <a:buNone/>
            </a:pPr>
            <a:r>
              <a:rPr lang="en-US" sz="2200" b="1" dirty="0">
                <a:solidFill>
                  <a:srgbClr val="E6EDF7"/>
                </a:solidFill>
                <a:latin typeface="Calibri" pitchFamily="34" charset="0"/>
                <a:ea typeface="Calibri" pitchFamily="34" charset="-122"/>
                <a:cs typeface="Calibri" pitchFamily="34" charset="-120"/>
              </a:rPr>
              <a:t>Moves &amp; senses</a:t>
            </a:r>
            <a:endParaRPr lang="en-US" sz="2200" dirty="0"/>
          </a:p>
        </p:txBody>
      </p:sp>
      <p:sp>
        <p:nvSpPr>
          <p:cNvPr id="21" name="Text 15"/>
          <p:cNvSpPr txBox="1"/>
          <p:nvPr/>
        </p:nvSpPr>
        <p:spPr>
          <a:xfrm>
            <a:off x="8476488" y="3520440"/>
            <a:ext cx="2880360" cy="1691640"/>
          </a:xfrm>
          <a:prstGeom prst="rect">
            <a:avLst/>
          </a:prstGeom>
          <a:noFill/>
          <a:ln/>
        </p:spPr>
        <p:txBody>
          <a:bodyPr wrap="square" lIns="0" tIns="0" rIns="0" bIns="0" rtlCol="0" anchor="t"/>
          <a:lstStyle/>
          <a:p>
            <a:pPr indent="0" marL="0">
              <a:lnSpc>
                <a:spcPct val="112000"/>
              </a:lnSpc>
              <a:buNone/>
            </a:pPr>
            <a:r>
              <a:rPr lang="en-US" sz="1450" dirty="0">
                <a:solidFill>
                  <a:srgbClr val="9AA4BC"/>
                </a:solidFill>
                <a:latin typeface="Calibri" pitchFamily="34" charset="0"/>
                <a:ea typeface="Calibri" pitchFamily="34" charset="-122"/>
                <a:cs typeface="Calibri" pitchFamily="34" charset="-120"/>
              </a:rPr>
              <a:t>Drives a four-motor robot and wears a face: two OLED eyes that react to what it says, plus four distance sensors, temperature, motion, gas and flame.</a:t>
            </a:r>
            <a:endParaRPr lang="en-US" sz="1450" dirty="0"/>
          </a:p>
        </p:txBody>
      </p:sp>
      <p:sp>
        <p:nvSpPr>
          <p:cNvPr id="22" name="Text 16"/>
          <p:cNvSpPr txBox="1"/>
          <p:nvPr/>
        </p:nvSpPr>
        <p:spPr>
          <a:xfrm>
            <a:off x="548640" y="5577840"/>
            <a:ext cx="11064240" cy="41148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Free-first: </a:t>
            </a:r>
            <a:pPr indent="0" marL="0">
              <a:buNone/>
            </a:pPr>
            <a:r>
              <a:rPr lang="en-US" sz="1400" dirty="0">
                <a:solidFill>
                  <a:srgbClr val="9AA4BC"/>
                </a:solidFill>
                <a:latin typeface="Calibri" pitchFamily="34" charset="0"/>
                <a:ea typeface="Calibri" pitchFamily="34" charset="-122"/>
                <a:cs typeface="Calibri" pitchFamily="34" charset="-120"/>
              </a:rPr>
              <a:t>every command works with zero API keys.   </a:t>
            </a:r>
            <a:pPr indent="0" marL="0">
              <a:buNone/>
            </a:pPr>
            <a:r>
              <a:rPr lang="en-US" sz="1400" b="1" dirty="0">
                <a:solidFill>
                  <a:srgbClr val="5EEAD4"/>
                </a:solidFill>
                <a:latin typeface="Calibri" pitchFamily="34" charset="0"/>
                <a:ea typeface="Calibri" pitchFamily="34" charset="-122"/>
                <a:cs typeface="Calibri" pitchFamily="34" charset="-120"/>
              </a:rPr>
              <a:t>Private by design: </a:t>
            </a:r>
            <a:pPr indent="0" marL="0">
              <a:buNone/>
            </a:pPr>
            <a:r>
              <a:rPr lang="en-US" sz="1400" dirty="0">
                <a:solidFill>
                  <a:srgbClr val="9AA4BC"/>
                </a:solidFill>
                <a:latin typeface="Calibri" pitchFamily="34" charset="0"/>
                <a:ea typeface="Calibri" pitchFamily="34" charset="-122"/>
                <a:cs typeface="Calibri" pitchFamily="34" charset="-120"/>
              </a:rPr>
              <a:t>nothing leaves your network unless you add a key.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02 · BY THE NUMBERS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What's actually in it</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03</a:t>
            </a:r>
            <a:endParaRPr lang="en-US" sz="900" dirty="0"/>
          </a:p>
        </p:txBody>
      </p:sp>
      <p:sp>
        <p:nvSpPr>
          <p:cNvPr id="7" name="Shape 4"/>
          <p:cNvSpPr/>
          <p:nvPr/>
        </p:nvSpPr>
        <p:spPr>
          <a:xfrm>
            <a:off x="548640" y="1691640"/>
            <a:ext cx="3520440" cy="2011680"/>
          </a:xfrm>
          <a:prstGeom prst="roundRect">
            <a:avLst>
              <a:gd name="adj" fmla="val 5455"/>
            </a:avLst>
          </a:prstGeom>
          <a:solidFill>
            <a:srgbClr val="0D1224"/>
          </a:solidFill>
          <a:ln w="9525">
            <a:solidFill>
              <a:srgbClr val="22305A"/>
            </a:solidFill>
            <a:prstDash val="solid"/>
          </a:ln>
        </p:spPr>
      </p:sp>
      <p:sp>
        <p:nvSpPr>
          <p:cNvPr id="8" name="Text 5"/>
          <p:cNvSpPr txBox="1"/>
          <p:nvPr/>
        </p:nvSpPr>
        <p:spPr>
          <a:xfrm>
            <a:off x="868680" y="1965960"/>
            <a:ext cx="2880360" cy="960120"/>
          </a:xfrm>
          <a:prstGeom prst="rect">
            <a:avLst/>
          </a:prstGeom>
          <a:noFill/>
          <a:ln/>
        </p:spPr>
        <p:txBody>
          <a:bodyPr wrap="square" lIns="0" tIns="0" rIns="0" bIns="0" rtlCol="0" anchor="t"/>
          <a:lstStyle/>
          <a:p>
            <a:pPr indent="0" marL="0">
              <a:buNone/>
            </a:pPr>
            <a:r>
              <a:rPr lang="en-US" sz="5400" b="1" dirty="0">
                <a:solidFill>
                  <a:srgbClr val="5EEAD4"/>
                </a:solidFill>
                <a:latin typeface="Calibri" pitchFamily="34" charset="0"/>
                <a:ea typeface="Calibri" pitchFamily="34" charset="-122"/>
                <a:cs typeface="Calibri" pitchFamily="34" charset="-120"/>
              </a:rPr>
              <a:t>77</a:t>
            </a:r>
            <a:endParaRPr lang="en-US" sz="5400" dirty="0"/>
          </a:p>
        </p:txBody>
      </p:sp>
      <p:sp>
        <p:nvSpPr>
          <p:cNvPr id="9" name="Text 6"/>
          <p:cNvSpPr txBox="1"/>
          <p:nvPr/>
        </p:nvSpPr>
        <p:spPr>
          <a:xfrm>
            <a:off x="868680" y="297180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tools it can call</a:t>
            </a:r>
            <a:endParaRPr lang="en-US" sz="1350" dirty="0"/>
          </a:p>
        </p:txBody>
      </p:sp>
      <p:sp>
        <p:nvSpPr>
          <p:cNvPr id="10" name="Shape 7"/>
          <p:cNvSpPr/>
          <p:nvPr/>
        </p:nvSpPr>
        <p:spPr>
          <a:xfrm>
            <a:off x="4352544" y="1691640"/>
            <a:ext cx="3520440" cy="2011680"/>
          </a:xfrm>
          <a:prstGeom prst="roundRect">
            <a:avLst>
              <a:gd name="adj" fmla="val 5455"/>
            </a:avLst>
          </a:prstGeom>
          <a:solidFill>
            <a:srgbClr val="0D1224"/>
          </a:solidFill>
          <a:ln w="9525">
            <a:solidFill>
              <a:srgbClr val="22305A"/>
            </a:solidFill>
            <a:prstDash val="solid"/>
          </a:ln>
        </p:spPr>
      </p:sp>
      <p:sp>
        <p:nvSpPr>
          <p:cNvPr id="11" name="Text 8"/>
          <p:cNvSpPr txBox="1"/>
          <p:nvPr/>
        </p:nvSpPr>
        <p:spPr>
          <a:xfrm>
            <a:off x="4672584" y="1965960"/>
            <a:ext cx="2880360" cy="960120"/>
          </a:xfrm>
          <a:prstGeom prst="rect">
            <a:avLst/>
          </a:prstGeom>
          <a:noFill/>
          <a:ln/>
        </p:spPr>
        <p:txBody>
          <a:bodyPr wrap="square" lIns="0" tIns="0" rIns="0" bIns="0" rtlCol="0" anchor="t"/>
          <a:lstStyle/>
          <a:p>
            <a:pPr indent="0" marL="0">
              <a:buNone/>
            </a:pPr>
            <a:r>
              <a:rPr lang="en-US" sz="5400" b="1" dirty="0">
                <a:solidFill>
                  <a:srgbClr val="818CF8"/>
                </a:solidFill>
                <a:latin typeface="Calibri" pitchFamily="34" charset="0"/>
                <a:ea typeface="Calibri" pitchFamily="34" charset="-122"/>
                <a:cs typeface="Calibri" pitchFamily="34" charset="-120"/>
              </a:rPr>
              <a:t>80</a:t>
            </a:r>
            <a:endParaRPr lang="en-US" sz="5400" dirty="0"/>
          </a:p>
        </p:txBody>
      </p:sp>
      <p:sp>
        <p:nvSpPr>
          <p:cNvPr id="12" name="Text 9"/>
          <p:cNvSpPr txBox="1"/>
          <p:nvPr/>
        </p:nvSpPr>
        <p:spPr>
          <a:xfrm>
            <a:off x="4672584" y="297180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commands understood offline, in milliseconds</a:t>
            </a:r>
            <a:endParaRPr lang="en-US" sz="1350" dirty="0"/>
          </a:p>
        </p:txBody>
      </p:sp>
      <p:sp>
        <p:nvSpPr>
          <p:cNvPr id="13" name="Shape 10"/>
          <p:cNvSpPr/>
          <p:nvPr/>
        </p:nvSpPr>
        <p:spPr>
          <a:xfrm>
            <a:off x="8156448" y="1691640"/>
            <a:ext cx="3520440" cy="2011680"/>
          </a:xfrm>
          <a:prstGeom prst="roundRect">
            <a:avLst>
              <a:gd name="adj" fmla="val 5455"/>
            </a:avLst>
          </a:prstGeom>
          <a:solidFill>
            <a:srgbClr val="0D1224"/>
          </a:solidFill>
          <a:ln w="9525">
            <a:solidFill>
              <a:srgbClr val="22305A"/>
            </a:solidFill>
            <a:prstDash val="solid"/>
          </a:ln>
        </p:spPr>
      </p:sp>
      <p:sp>
        <p:nvSpPr>
          <p:cNvPr id="14" name="Text 11"/>
          <p:cNvSpPr txBox="1"/>
          <p:nvPr/>
        </p:nvSpPr>
        <p:spPr>
          <a:xfrm>
            <a:off x="8476488" y="1965960"/>
            <a:ext cx="2880360" cy="960120"/>
          </a:xfrm>
          <a:prstGeom prst="rect">
            <a:avLst/>
          </a:prstGeom>
          <a:noFill/>
          <a:ln/>
        </p:spPr>
        <p:txBody>
          <a:bodyPr wrap="square" lIns="0" tIns="0" rIns="0" bIns="0" rtlCol="0" anchor="t"/>
          <a:lstStyle/>
          <a:p>
            <a:pPr indent="0" marL="0">
              <a:buNone/>
            </a:pPr>
            <a:r>
              <a:rPr lang="en-US" sz="5400" b="1" dirty="0">
                <a:solidFill>
                  <a:srgbClr val="F4A259"/>
                </a:solidFill>
                <a:latin typeface="Calibri" pitchFamily="34" charset="0"/>
                <a:ea typeface="Calibri" pitchFamily="34" charset="-122"/>
                <a:cs typeface="Calibri" pitchFamily="34" charset="-120"/>
              </a:rPr>
              <a:t>3</a:t>
            </a:r>
            <a:endParaRPr lang="en-US" sz="5400" dirty="0"/>
          </a:p>
        </p:txBody>
      </p:sp>
      <p:sp>
        <p:nvSpPr>
          <p:cNvPr id="15" name="Text 12"/>
          <p:cNvSpPr txBox="1"/>
          <p:nvPr/>
        </p:nvSpPr>
        <p:spPr>
          <a:xfrm>
            <a:off x="8476488" y="297180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languages — English, Hindi, Hinglish</a:t>
            </a:r>
            <a:endParaRPr lang="en-US" sz="1350" dirty="0"/>
          </a:p>
        </p:txBody>
      </p:sp>
      <p:sp>
        <p:nvSpPr>
          <p:cNvPr id="16" name="Shape 13"/>
          <p:cNvSpPr/>
          <p:nvPr/>
        </p:nvSpPr>
        <p:spPr>
          <a:xfrm>
            <a:off x="548640" y="3931920"/>
            <a:ext cx="3520440" cy="2011680"/>
          </a:xfrm>
          <a:prstGeom prst="roundRect">
            <a:avLst>
              <a:gd name="adj" fmla="val 5455"/>
            </a:avLst>
          </a:prstGeom>
          <a:solidFill>
            <a:srgbClr val="0D1224"/>
          </a:solidFill>
          <a:ln w="9525">
            <a:solidFill>
              <a:srgbClr val="22305A"/>
            </a:solidFill>
            <a:prstDash val="solid"/>
          </a:ln>
        </p:spPr>
      </p:sp>
      <p:sp>
        <p:nvSpPr>
          <p:cNvPr id="17" name="Text 14"/>
          <p:cNvSpPr txBox="1"/>
          <p:nvPr/>
        </p:nvSpPr>
        <p:spPr>
          <a:xfrm>
            <a:off x="868680" y="4206240"/>
            <a:ext cx="2880360" cy="960120"/>
          </a:xfrm>
          <a:prstGeom prst="rect">
            <a:avLst/>
          </a:prstGeom>
          <a:noFill/>
          <a:ln/>
        </p:spPr>
        <p:txBody>
          <a:bodyPr wrap="square" lIns="0" tIns="0" rIns="0" bIns="0" rtlCol="0" anchor="t"/>
          <a:lstStyle/>
          <a:p>
            <a:pPr indent="0" marL="0">
              <a:buNone/>
            </a:pPr>
            <a:r>
              <a:rPr lang="en-US" sz="5400" b="1" dirty="0">
                <a:solidFill>
                  <a:srgbClr val="22D3EE"/>
                </a:solidFill>
                <a:latin typeface="Calibri" pitchFamily="34" charset="0"/>
                <a:ea typeface="Calibri" pitchFamily="34" charset="-122"/>
                <a:cs typeface="Calibri" pitchFamily="34" charset="-120"/>
              </a:rPr>
              <a:t>0</a:t>
            </a:r>
            <a:endParaRPr lang="en-US" sz="5400" dirty="0"/>
          </a:p>
        </p:txBody>
      </p:sp>
      <p:sp>
        <p:nvSpPr>
          <p:cNvPr id="18" name="Text 15"/>
          <p:cNvSpPr txBox="1"/>
          <p:nvPr/>
        </p:nvSpPr>
        <p:spPr>
          <a:xfrm>
            <a:off x="868680" y="521208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API keys required</a:t>
            </a:r>
            <a:endParaRPr lang="en-US" sz="1350" dirty="0"/>
          </a:p>
        </p:txBody>
      </p:sp>
      <p:sp>
        <p:nvSpPr>
          <p:cNvPr id="19" name="Shape 16"/>
          <p:cNvSpPr/>
          <p:nvPr/>
        </p:nvSpPr>
        <p:spPr>
          <a:xfrm>
            <a:off x="4352544" y="3931920"/>
            <a:ext cx="3520440" cy="2011680"/>
          </a:xfrm>
          <a:prstGeom prst="roundRect">
            <a:avLst>
              <a:gd name="adj" fmla="val 5455"/>
            </a:avLst>
          </a:prstGeom>
          <a:solidFill>
            <a:srgbClr val="0D1224"/>
          </a:solidFill>
          <a:ln w="9525">
            <a:solidFill>
              <a:srgbClr val="22305A"/>
            </a:solidFill>
            <a:prstDash val="solid"/>
          </a:ln>
        </p:spPr>
      </p:sp>
      <p:sp>
        <p:nvSpPr>
          <p:cNvPr id="20" name="Text 17"/>
          <p:cNvSpPr txBox="1"/>
          <p:nvPr/>
        </p:nvSpPr>
        <p:spPr>
          <a:xfrm>
            <a:off x="4672584" y="4206240"/>
            <a:ext cx="2880360" cy="960120"/>
          </a:xfrm>
          <a:prstGeom prst="rect">
            <a:avLst/>
          </a:prstGeom>
          <a:noFill/>
          <a:ln/>
        </p:spPr>
        <p:txBody>
          <a:bodyPr wrap="square" lIns="0" tIns="0" rIns="0" bIns="0" rtlCol="0" anchor="t"/>
          <a:lstStyle/>
          <a:p>
            <a:pPr indent="0" marL="0">
              <a:buNone/>
            </a:pPr>
            <a:r>
              <a:rPr lang="en-US" sz="5400" b="1" dirty="0">
                <a:solidFill>
                  <a:srgbClr val="A78BFA"/>
                </a:solidFill>
                <a:latin typeface="Calibri" pitchFamily="34" charset="0"/>
                <a:ea typeface="Calibri" pitchFamily="34" charset="-122"/>
                <a:cs typeface="Calibri" pitchFamily="34" charset="-120"/>
              </a:rPr>
              <a:t>1,466</a:t>
            </a:r>
            <a:endParaRPr lang="en-US" sz="5400" dirty="0"/>
          </a:p>
        </p:txBody>
      </p:sp>
      <p:sp>
        <p:nvSpPr>
          <p:cNvPr id="21" name="Text 18"/>
          <p:cNvSpPr txBox="1"/>
          <p:nvPr/>
        </p:nvSpPr>
        <p:spPr>
          <a:xfrm>
            <a:off x="4672584" y="521208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automated tests, all passing</a:t>
            </a:r>
            <a:endParaRPr lang="en-US" sz="1350" dirty="0"/>
          </a:p>
        </p:txBody>
      </p:sp>
      <p:sp>
        <p:nvSpPr>
          <p:cNvPr id="22" name="Shape 19"/>
          <p:cNvSpPr/>
          <p:nvPr/>
        </p:nvSpPr>
        <p:spPr>
          <a:xfrm>
            <a:off x="8156448" y="3931920"/>
            <a:ext cx="3520440" cy="2011680"/>
          </a:xfrm>
          <a:prstGeom prst="roundRect">
            <a:avLst>
              <a:gd name="adj" fmla="val 5455"/>
            </a:avLst>
          </a:prstGeom>
          <a:solidFill>
            <a:srgbClr val="0D1224"/>
          </a:solidFill>
          <a:ln w="9525">
            <a:solidFill>
              <a:srgbClr val="22305A"/>
            </a:solidFill>
            <a:prstDash val="solid"/>
          </a:ln>
        </p:spPr>
      </p:sp>
      <p:sp>
        <p:nvSpPr>
          <p:cNvPr id="23" name="Text 20"/>
          <p:cNvSpPr txBox="1"/>
          <p:nvPr/>
        </p:nvSpPr>
        <p:spPr>
          <a:xfrm>
            <a:off x="8476488" y="4206240"/>
            <a:ext cx="2880360" cy="960120"/>
          </a:xfrm>
          <a:prstGeom prst="rect">
            <a:avLst/>
          </a:prstGeom>
          <a:noFill/>
          <a:ln/>
        </p:spPr>
        <p:txBody>
          <a:bodyPr wrap="square" lIns="0" tIns="0" rIns="0" bIns="0" rtlCol="0" anchor="t"/>
          <a:lstStyle/>
          <a:p>
            <a:pPr indent="0" marL="0">
              <a:buNone/>
            </a:pPr>
            <a:r>
              <a:rPr lang="en-US" sz="5400" b="1" dirty="0">
                <a:solidFill>
                  <a:srgbClr val="5EEAD4"/>
                </a:solidFill>
                <a:latin typeface="Calibri" pitchFamily="34" charset="0"/>
                <a:ea typeface="Calibri" pitchFamily="34" charset="-122"/>
                <a:cs typeface="Calibri" pitchFamily="34" charset="-120"/>
              </a:rPr>
              <a:t>14</a:t>
            </a:r>
            <a:endParaRPr lang="en-US" sz="5400" dirty="0"/>
          </a:p>
        </p:txBody>
      </p:sp>
      <p:sp>
        <p:nvSpPr>
          <p:cNvPr id="24" name="Text 21"/>
          <p:cNvSpPr txBox="1"/>
          <p:nvPr/>
        </p:nvSpPr>
        <p:spPr>
          <a:xfrm>
            <a:off x="8476488" y="5212080"/>
            <a:ext cx="2880360" cy="548640"/>
          </a:xfrm>
          <a:prstGeom prst="rect">
            <a:avLst/>
          </a:prstGeom>
          <a:noFill/>
          <a:ln/>
        </p:spPr>
        <p:txBody>
          <a:bodyPr wrap="square" lIns="0" tIns="0" rIns="0" bIns="0" rtlCol="0" anchor="t"/>
          <a:lstStyle/>
          <a:p>
            <a:pPr indent="0" marL="0">
              <a:buNone/>
            </a:pPr>
            <a:r>
              <a:rPr lang="en-US" sz="1350" dirty="0">
                <a:solidFill>
                  <a:srgbClr val="9AA4BC"/>
                </a:solidFill>
                <a:latin typeface="Calibri" pitchFamily="34" charset="0"/>
                <a:ea typeface="Calibri" pitchFamily="34" charset="-122"/>
                <a:cs typeface="Calibri" pitchFamily="34" charset="-120"/>
              </a:rPr>
              <a:t>eye expressions on the robot's face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03 · ARCHITECTURE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One brain, two bodies</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04</a:t>
            </a:r>
            <a:endParaRPr lang="en-US" sz="900" dirty="0"/>
          </a:p>
        </p:txBody>
      </p:sp>
      <p:sp>
        <p:nvSpPr>
          <p:cNvPr id="7" name="Shape 4"/>
          <p:cNvSpPr/>
          <p:nvPr/>
        </p:nvSpPr>
        <p:spPr>
          <a:xfrm>
            <a:off x="548640" y="1737360"/>
            <a:ext cx="4297680" cy="4160520"/>
          </a:xfrm>
          <a:prstGeom prst="roundRect">
            <a:avLst>
              <a:gd name="adj" fmla="val 2637"/>
            </a:avLst>
          </a:prstGeom>
          <a:solidFill>
            <a:srgbClr val="0D1224"/>
          </a:solidFill>
          <a:ln w="9525">
            <a:solidFill>
              <a:srgbClr val="22305A"/>
            </a:solidFill>
            <a:prstDash val="solid"/>
          </a:ln>
        </p:spPr>
      </p:sp>
      <p:sp>
        <p:nvSpPr>
          <p:cNvPr id="8" name="Shape 5"/>
          <p:cNvSpPr/>
          <p:nvPr/>
        </p:nvSpPr>
        <p:spPr>
          <a:xfrm>
            <a:off x="868680" y="2057400"/>
            <a:ext cx="731520" cy="731520"/>
          </a:xfrm>
          <a:prstGeom prst="ellipse">
            <a:avLst/>
          </a:prstGeom>
          <a:solidFill>
            <a:srgbClr val="5EEAD4">
              <a:alpha val="20000"/>
            </a:srgbClr>
          </a:solidFill>
          <a:ln w="6350">
            <a:solidFill>
              <a:srgbClr val="5EEAD4">
                <a:alpha val="60000"/>
              </a:srgbClr>
            </a:solidFill>
            <a:prstDash val="solid"/>
          </a:ln>
        </p:spPr>
      </p:sp>
      <p:pic>
        <p:nvPicPr>
          <p:cNvPr id="9" name="Image 0" descr="preencoded.png">    </p:cNvPr>
          <p:cNvPicPr>
            <a:picLocks noChangeAspect="1"/>
          </p:cNvPicPr>
          <p:nvPr/>
        </p:nvPicPr>
        <p:blipFill>
          <a:blip r:embed="rId1"/>
          <a:stretch>
            <a:fillRect/>
          </a:stretch>
        </p:blipFill>
        <p:spPr>
          <a:xfrm>
            <a:off x="1044245" y="2232965"/>
            <a:ext cx="380390" cy="380390"/>
          </a:xfrm>
          <a:prstGeom prst="rect">
            <a:avLst/>
          </a:prstGeom>
        </p:spPr>
      </p:pic>
      <p:sp>
        <p:nvSpPr>
          <p:cNvPr id="10" name="Text 6"/>
          <p:cNvSpPr txBox="1"/>
          <p:nvPr/>
        </p:nvSpPr>
        <p:spPr>
          <a:xfrm>
            <a:off x="1783080" y="2103120"/>
            <a:ext cx="2743200" cy="274320"/>
          </a:xfrm>
          <a:prstGeom prst="rect">
            <a:avLst/>
          </a:prstGeom>
          <a:noFill/>
          <a:ln/>
        </p:spPr>
        <p:txBody>
          <a:bodyPr wrap="square" lIns="0" tIns="0" rIns="0" bIns="0" rtlCol="0" anchor="t"/>
          <a:lstStyle/>
          <a:p>
            <a:pPr indent="0" marL="0">
              <a:buNone/>
            </a:pPr>
            <a:r>
              <a:rPr lang="en-US" sz="1100" b="1" spc="300" kern="0" dirty="0">
                <a:solidFill>
                  <a:srgbClr val="5EEAD4"/>
                </a:solidFill>
                <a:latin typeface="Calibri" pitchFamily="34" charset="0"/>
                <a:ea typeface="Calibri" pitchFamily="34" charset="-122"/>
                <a:cs typeface="Calibri" pitchFamily="34" charset="-120"/>
              </a:rPr>
              <a:t>THE BRAIN</a:t>
            </a:r>
            <a:endParaRPr lang="en-US" sz="1100" dirty="0"/>
          </a:p>
        </p:txBody>
      </p:sp>
      <p:sp>
        <p:nvSpPr>
          <p:cNvPr id="11" name="Text 7"/>
          <p:cNvSpPr txBox="1"/>
          <p:nvPr/>
        </p:nvSpPr>
        <p:spPr>
          <a:xfrm>
            <a:off x="1783080" y="2359152"/>
            <a:ext cx="2926080" cy="411480"/>
          </a:xfrm>
          <a:prstGeom prst="rect">
            <a:avLst/>
          </a:prstGeom>
          <a:noFill/>
          <a:ln/>
        </p:spPr>
        <p:txBody>
          <a:bodyPr wrap="square" lIns="0" tIns="0" rIns="0" bIns="0" rtlCol="0" anchor="t"/>
          <a:lstStyle/>
          <a:p>
            <a:pPr indent="0" marL="0">
              <a:buNone/>
            </a:pPr>
            <a:r>
              <a:rPr lang="en-US" sz="2000" b="1" dirty="0">
                <a:solidFill>
                  <a:srgbClr val="E6EDF7"/>
                </a:solidFill>
                <a:latin typeface="Calibri" pitchFamily="34" charset="0"/>
                <a:ea typeface="Calibri" pitchFamily="34" charset="-122"/>
                <a:cs typeface="Calibri" pitchFamily="34" charset="-120"/>
              </a:rPr>
              <a:t>Your laptop</a:t>
            </a:r>
            <a:endParaRPr lang="en-US" sz="2000" dirty="0"/>
          </a:p>
        </p:txBody>
      </p:sp>
      <p:sp>
        <p:nvSpPr>
          <p:cNvPr id="12" name="Text 8"/>
          <p:cNvSpPr txBox="1"/>
          <p:nvPr/>
        </p:nvSpPr>
        <p:spPr>
          <a:xfrm>
            <a:off x="868680" y="3063240"/>
            <a:ext cx="3657600" cy="2651760"/>
          </a:xfrm>
          <a:prstGeom prst="rect">
            <a:avLst/>
          </a:prstGeom>
          <a:noFill/>
          <a:ln/>
        </p:spPr>
        <p:txBody>
          <a:bodyPr wrap="square" lIns="0" tIns="0" rIns="0" bIns="0" rtlCol="0" anchor="t"/>
          <a:lstStyle/>
          <a:p>
            <a:pPr indent="0" marL="0">
              <a:lnSpc>
                <a:spcPct val="115000"/>
              </a:lnSpc>
              <a:buNone/>
            </a:pPr>
            <a:r>
              <a:rPr lang="en-US" sz="1350" b="1" dirty="0">
                <a:solidFill>
                  <a:srgbClr val="E6EDF7"/>
                </a:solidFill>
                <a:latin typeface="Calibri" pitchFamily="34" charset="0"/>
                <a:ea typeface="Calibri" pitchFamily="34" charset="-122"/>
                <a:cs typeface="Calibri" pitchFamily="34" charset="-120"/>
              </a:rPr>
              <a:t>IRIS (Python)</a:t>
            </a:r>
            <a:endParaRPr lang="en-US" sz="1350" dirty="0"/>
          </a:p>
          <a:p>
            <a:pPr indent="0" marL="0">
              <a:lnSpc>
                <a:spcPct val="115000"/>
              </a:lnSpc>
              <a:buNone/>
            </a:pPr>
            <a:r>
              <a:rPr lang="en-US" sz="1350" dirty="0">
                <a:solidFill>
                  <a:srgbClr val="9AA4BC"/>
                </a:solidFill>
                <a:latin typeface="Calibri" pitchFamily="34" charset="0"/>
                <a:ea typeface="Calibri" pitchFamily="34" charset="-122"/>
                <a:cs typeface="Calibri" pitchFamily="34" charset="-120"/>
              </a:rPr>
              <a:t>voice → understanding → tools → speech</a:t>
            </a:r>
            <a:endParaRPr lang="en-US" sz="1350" dirty="0"/>
          </a:p>
          <a:p>
            <a:pPr indent="0" marL="0">
              <a:lnSpc>
                <a:spcPct val="115000"/>
              </a:lnSpc>
              <a:buNone/>
            </a:pPr>
            <a:r>
              <a:rPr lang="en-US" sz="600" dirty="0">
                <a:solidFill>
                  <a:srgbClr val="E6EDF7"/>
                </a:solidFill>
                <a:latin typeface="Calibri" pitchFamily="34" charset="0"/>
                <a:ea typeface="Calibri" pitchFamily="34" charset="-122"/>
                <a:cs typeface="Calibri" pitchFamily="34" charset="-120"/>
              </a:rPr>
              <a:t> </a:t>
            </a:r>
            <a:endParaRPr lang="en-US" sz="1350" dirty="0"/>
          </a:p>
          <a:p>
            <a:pPr indent="0" marL="0">
              <a:lnSpc>
                <a:spcPct val="115000"/>
              </a:lnSpc>
              <a:buNone/>
            </a:pPr>
            <a:r>
              <a:rPr lang="en-US" sz="1350" dirty="0">
                <a:solidFill>
                  <a:srgbClr val="9AA4BC"/>
                </a:solidFill>
                <a:latin typeface="Calibri" pitchFamily="34" charset="0"/>
                <a:ea typeface="Calibri" pitchFamily="34" charset="-122"/>
                <a:cs typeface="Calibri" pitchFamily="34" charset="-120"/>
              </a:rPr>
              <a:t>LLM router  ·  memory  ·  scheduler</a:t>
            </a:r>
            <a:endParaRPr lang="en-US" sz="1350" dirty="0"/>
          </a:p>
          <a:p>
            <a:pPr indent="0" marL="0">
              <a:lnSpc>
                <a:spcPct val="115000"/>
              </a:lnSpc>
              <a:buNone/>
            </a:pPr>
            <a:r>
              <a:rPr lang="en-US" sz="1350" dirty="0">
                <a:solidFill>
                  <a:srgbClr val="9AA4BC"/>
                </a:solidFill>
                <a:latin typeface="Calibri" pitchFamily="34" charset="0"/>
                <a:ea typeface="Calibri" pitchFamily="34" charset="-122"/>
                <a:cs typeface="Calibri" pitchFamily="34" charset="-120"/>
              </a:rPr>
              <a:t>web interface  ·  phone pairing</a:t>
            </a:r>
            <a:endParaRPr lang="en-US" sz="1350" dirty="0"/>
          </a:p>
          <a:p>
            <a:pPr indent="0" marL="0">
              <a:lnSpc>
                <a:spcPct val="115000"/>
              </a:lnSpc>
              <a:buNone/>
            </a:pPr>
            <a:r>
              <a:rPr lang="en-US" sz="600" dirty="0">
                <a:solidFill>
                  <a:srgbClr val="E6EDF7"/>
                </a:solidFill>
                <a:latin typeface="Calibri" pitchFamily="34" charset="0"/>
                <a:ea typeface="Calibri" pitchFamily="34" charset="-122"/>
                <a:cs typeface="Calibri" pitchFamily="34" charset="-120"/>
              </a:rPr>
              <a:t> </a:t>
            </a:r>
            <a:endParaRPr lang="en-US" sz="1350" dirty="0"/>
          </a:p>
          <a:p>
            <a:pPr indent="0" marL="0">
              <a:lnSpc>
                <a:spcPct val="115000"/>
              </a:lnSpc>
              <a:buNone/>
            </a:pPr>
            <a:r>
              <a:rPr lang="en-US" sz="1350" i="1" dirty="0">
                <a:solidFill>
                  <a:srgbClr val="5EEAD4"/>
                </a:solidFill>
                <a:latin typeface="Calibri" pitchFamily="34" charset="0"/>
                <a:ea typeface="Calibri" pitchFamily="34" charset="-122"/>
                <a:cs typeface="Calibri" pitchFamily="34" charset="-120"/>
              </a:rPr>
              <a:t>The only place that thinks.</a:t>
            </a:r>
            <a:endParaRPr lang="en-US" sz="1350" dirty="0"/>
          </a:p>
        </p:txBody>
      </p:sp>
      <p:sp>
        <p:nvSpPr>
          <p:cNvPr id="13" name="Shape 9"/>
          <p:cNvSpPr/>
          <p:nvPr/>
        </p:nvSpPr>
        <p:spPr>
          <a:xfrm>
            <a:off x="5257800" y="3383280"/>
            <a:ext cx="640080" cy="640080"/>
          </a:xfrm>
          <a:prstGeom prst="ellipse">
            <a:avLst/>
          </a:prstGeom>
          <a:solidFill>
            <a:srgbClr val="22D3EE">
              <a:alpha val="20000"/>
            </a:srgbClr>
          </a:solidFill>
          <a:ln w="6350">
            <a:solidFill>
              <a:srgbClr val="22D3EE">
                <a:alpha val="60000"/>
              </a:srgbClr>
            </a:solidFill>
            <a:prstDash val="solid"/>
          </a:ln>
        </p:spPr>
      </p:sp>
      <p:pic>
        <p:nvPicPr>
          <p:cNvPr id="14" name="Image 1" descr="preencoded.png">    </p:cNvPr>
          <p:cNvPicPr>
            <a:picLocks noChangeAspect="1"/>
          </p:cNvPicPr>
          <p:nvPr/>
        </p:nvPicPr>
        <p:blipFill>
          <a:blip r:embed="rId2"/>
          <a:stretch>
            <a:fillRect/>
          </a:stretch>
        </p:blipFill>
        <p:spPr>
          <a:xfrm>
            <a:off x="5411419" y="3536899"/>
            <a:ext cx="332842" cy="332842"/>
          </a:xfrm>
          <a:prstGeom prst="rect">
            <a:avLst/>
          </a:prstGeom>
        </p:spPr>
      </p:pic>
      <p:sp>
        <p:nvSpPr>
          <p:cNvPr id="15" name="Text 10"/>
          <p:cNvSpPr txBox="1"/>
          <p:nvPr/>
        </p:nvSpPr>
        <p:spPr>
          <a:xfrm>
            <a:off x="4892040" y="4069080"/>
            <a:ext cx="1371600" cy="548640"/>
          </a:xfrm>
          <a:prstGeom prst="rect">
            <a:avLst/>
          </a:prstGeom>
          <a:noFill/>
          <a:ln/>
        </p:spPr>
        <p:txBody>
          <a:bodyPr wrap="square" lIns="0" tIns="0" rIns="0" bIns="0" rtlCol="0" anchor="t"/>
          <a:lstStyle/>
          <a:p>
            <a:pPr algn="ctr" indent="0" marL="0">
              <a:buNone/>
            </a:pPr>
            <a:r>
              <a:rPr lang="en-US" sz="1050" dirty="0">
                <a:solidFill>
                  <a:srgbClr val="9AA4BC"/>
                </a:solidFill>
                <a:latin typeface="Calibri" pitchFamily="34" charset="0"/>
                <a:ea typeface="Calibri" pitchFamily="34" charset="-122"/>
                <a:cs typeface="Calibri" pitchFamily="34" charset="-120"/>
              </a:rPr>
              <a:t>phone hotspot</a:t>
            </a:r>
            <a:endParaRPr lang="en-US" sz="1050" dirty="0"/>
          </a:p>
          <a:p>
            <a:pPr algn="ctr" indent="0" marL="0">
              <a:buNone/>
            </a:pPr>
            <a:r>
              <a:rPr lang="en-US" sz="1050" dirty="0">
                <a:solidFill>
                  <a:srgbClr val="9AA4BC"/>
                </a:solidFill>
                <a:latin typeface="Calibri" pitchFamily="34" charset="0"/>
                <a:ea typeface="Calibri" pitchFamily="34" charset="-122"/>
                <a:cs typeface="Calibri" pitchFamily="34" charset="-120"/>
              </a:rPr>
              <a:t>2.4 GHz</a:t>
            </a:r>
            <a:endParaRPr lang="en-US" sz="1050" dirty="0"/>
          </a:p>
        </p:txBody>
      </p:sp>
      <p:sp>
        <p:nvSpPr>
          <p:cNvPr id="16" name="Shape 11"/>
          <p:cNvSpPr/>
          <p:nvPr/>
        </p:nvSpPr>
        <p:spPr>
          <a:xfrm rot="-720000">
            <a:off x="6035040" y="2514600"/>
            <a:ext cx="1097280" cy="292608"/>
          </a:xfrm>
          <a:prstGeom prst="rightArrow">
            <a:avLst/>
          </a:prstGeom>
          <a:solidFill>
            <a:srgbClr val="22D3EE">
              <a:alpha val="80000"/>
            </a:srgbClr>
          </a:solidFill>
          <a:ln w="12700">
            <a:solidFill>
              <a:srgbClr val="22D3EE"/>
            </a:solidFill>
            <a:prstDash val="solid"/>
          </a:ln>
        </p:spPr>
      </p:sp>
      <p:sp>
        <p:nvSpPr>
          <p:cNvPr id="17" name="Shape 12"/>
          <p:cNvSpPr/>
          <p:nvPr/>
        </p:nvSpPr>
        <p:spPr>
          <a:xfrm rot="720000">
            <a:off x="6035040" y="4800600"/>
            <a:ext cx="1097280" cy="292608"/>
          </a:xfrm>
          <a:prstGeom prst="rightArrow">
            <a:avLst/>
          </a:prstGeom>
          <a:solidFill>
            <a:srgbClr val="22D3EE">
              <a:alpha val="80000"/>
            </a:srgbClr>
          </a:solidFill>
          <a:ln w="12700">
            <a:solidFill>
              <a:srgbClr val="22D3EE"/>
            </a:solidFill>
            <a:prstDash val="solid"/>
          </a:ln>
        </p:spPr>
      </p:sp>
      <p:sp>
        <p:nvSpPr>
          <p:cNvPr id="18" name="Text 13"/>
          <p:cNvSpPr txBox="1"/>
          <p:nvPr/>
        </p:nvSpPr>
        <p:spPr>
          <a:xfrm>
            <a:off x="5806440" y="2103120"/>
            <a:ext cx="1600200" cy="274320"/>
          </a:xfrm>
          <a:prstGeom prst="rect">
            <a:avLst/>
          </a:prstGeom>
          <a:noFill/>
          <a:ln/>
        </p:spPr>
        <p:txBody>
          <a:bodyPr wrap="square" lIns="0" tIns="0" rIns="0" bIns="0" rtlCol="0" anchor="t"/>
          <a:lstStyle/>
          <a:p>
            <a:pPr algn="ctr" indent="0" marL="0">
              <a:buNone/>
            </a:pPr>
            <a:r>
              <a:rPr lang="en-US" sz="950" spc="100" kern="0" dirty="0">
                <a:solidFill>
                  <a:srgbClr val="22D3EE"/>
                </a:solidFill>
                <a:latin typeface="Calibri" pitchFamily="34" charset="0"/>
                <a:ea typeface="Calibri" pitchFamily="34" charset="-122"/>
                <a:cs typeface="Calibri" pitchFamily="34" charset="-120"/>
              </a:rPr>
              <a:t>UDP 8267 · HTTP</a:t>
            </a:r>
            <a:endParaRPr lang="en-US" sz="950" dirty="0"/>
          </a:p>
        </p:txBody>
      </p:sp>
      <p:sp>
        <p:nvSpPr>
          <p:cNvPr id="19" name="Text 14"/>
          <p:cNvSpPr txBox="1"/>
          <p:nvPr/>
        </p:nvSpPr>
        <p:spPr>
          <a:xfrm>
            <a:off x="5806440" y="5166360"/>
            <a:ext cx="1600200" cy="274320"/>
          </a:xfrm>
          <a:prstGeom prst="rect">
            <a:avLst/>
          </a:prstGeom>
          <a:noFill/>
          <a:ln/>
        </p:spPr>
        <p:txBody>
          <a:bodyPr wrap="square" lIns="0" tIns="0" rIns="0" bIns="0" rtlCol="0" anchor="t"/>
          <a:lstStyle/>
          <a:p>
            <a:pPr algn="ctr" indent="0" marL="0">
              <a:buNone/>
            </a:pPr>
            <a:r>
              <a:rPr lang="en-US" sz="950" spc="100" kern="0" dirty="0">
                <a:solidFill>
                  <a:srgbClr val="22D3EE"/>
                </a:solidFill>
                <a:latin typeface="Calibri" pitchFamily="34" charset="0"/>
                <a:ea typeface="Calibri" pitchFamily="34" charset="-122"/>
                <a:cs typeface="Calibri" pitchFamily="34" charset="-120"/>
              </a:rPr>
              <a:t>UDP 8267 · HTTP</a:t>
            </a:r>
            <a:endParaRPr lang="en-US" sz="950" dirty="0"/>
          </a:p>
        </p:txBody>
      </p:sp>
      <p:sp>
        <p:nvSpPr>
          <p:cNvPr id="20" name="Shape 15"/>
          <p:cNvSpPr/>
          <p:nvPr/>
        </p:nvSpPr>
        <p:spPr>
          <a:xfrm>
            <a:off x="7360920" y="1737360"/>
            <a:ext cx="4279392" cy="1920240"/>
          </a:xfrm>
          <a:prstGeom prst="roundRect">
            <a:avLst>
              <a:gd name="adj" fmla="val 5714"/>
            </a:avLst>
          </a:prstGeom>
          <a:solidFill>
            <a:srgbClr val="0D1224"/>
          </a:solidFill>
          <a:ln w="9525">
            <a:solidFill>
              <a:srgbClr val="22305A"/>
            </a:solidFill>
            <a:prstDash val="solid"/>
          </a:ln>
        </p:spPr>
      </p:sp>
      <p:sp>
        <p:nvSpPr>
          <p:cNvPr id="21" name="Shape 16"/>
          <p:cNvSpPr/>
          <p:nvPr/>
        </p:nvSpPr>
        <p:spPr>
          <a:xfrm>
            <a:off x="7680960" y="2057400"/>
            <a:ext cx="640080" cy="640080"/>
          </a:xfrm>
          <a:prstGeom prst="ellipse">
            <a:avLst/>
          </a:prstGeom>
          <a:solidFill>
            <a:srgbClr val="F4A259">
              <a:alpha val="20000"/>
            </a:srgbClr>
          </a:solidFill>
          <a:ln w="6350">
            <a:solidFill>
              <a:srgbClr val="F4A259">
                <a:alpha val="60000"/>
              </a:srgbClr>
            </a:solidFill>
            <a:prstDash val="solid"/>
          </a:ln>
        </p:spPr>
      </p:sp>
      <p:pic>
        <p:nvPicPr>
          <p:cNvPr id="22" name="Image 2" descr="preencoded.png">    </p:cNvPr>
          <p:cNvPicPr>
            <a:picLocks noChangeAspect="1"/>
          </p:cNvPicPr>
          <p:nvPr/>
        </p:nvPicPr>
        <p:blipFill>
          <a:blip r:embed="rId3"/>
          <a:stretch>
            <a:fillRect/>
          </a:stretch>
        </p:blipFill>
        <p:spPr>
          <a:xfrm>
            <a:off x="7834579" y="2211019"/>
            <a:ext cx="332842" cy="332842"/>
          </a:xfrm>
          <a:prstGeom prst="rect">
            <a:avLst/>
          </a:prstGeom>
        </p:spPr>
      </p:pic>
      <p:sp>
        <p:nvSpPr>
          <p:cNvPr id="23" name="Text 17"/>
          <p:cNvSpPr txBox="1"/>
          <p:nvPr/>
        </p:nvSpPr>
        <p:spPr>
          <a:xfrm>
            <a:off x="8503920" y="2029968"/>
            <a:ext cx="2743200" cy="274320"/>
          </a:xfrm>
          <a:prstGeom prst="rect">
            <a:avLst/>
          </a:prstGeom>
          <a:noFill/>
          <a:ln/>
        </p:spPr>
        <p:txBody>
          <a:bodyPr wrap="square" lIns="0" tIns="0" rIns="0" bIns="0" rtlCol="0" anchor="t"/>
          <a:lstStyle/>
          <a:p>
            <a:pPr indent="0" marL="0">
              <a:buNone/>
            </a:pPr>
            <a:r>
              <a:rPr lang="en-US" sz="1100" b="1" spc="300" kern="0" dirty="0">
                <a:solidFill>
                  <a:srgbClr val="F4A259"/>
                </a:solidFill>
                <a:latin typeface="Calibri" pitchFamily="34" charset="0"/>
                <a:ea typeface="Calibri" pitchFamily="34" charset="-122"/>
                <a:cs typeface="Calibri" pitchFamily="34" charset="-120"/>
              </a:rPr>
              <a:t>BODY ONE</a:t>
            </a:r>
            <a:endParaRPr lang="en-US" sz="1100" dirty="0"/>
          </a:p>
        </p:txBody>
      </p:sp>
      <p:sp>
        <p:nvSpPr>
          <p:cNvPr id="24" name="Text 18"/>
          <p:cNvSpPr txBox="1"/>
          <p:nvPr/>
        </p:nvSpPr>
        <p:spPr>
          <a:xfrm>
            <a:off x="8503920" y="2286000"/>
            <a:ext cx="3017520" cy="365760"/>
          </a:xfrm>
          <a:prstGeom prst="rect">
            <a:avLst/>
          </a:prstGeom>
          <a:noFill/>
          <a:ln/>
        </p:spPr>
        <p:txBody>
          <a:bodyPr wrap="square" lIns="0" tIns="0" rIns="0" bIns="0" rtlCol="0" anchor="t"/>
          <a:lstStyle/>
          <a:p>
            <a:pPr indent="0" marL="0">
              <a:buNone/>
            </a:pPr>
            <a:r>
              <a:rPr lang="en-US" sz="1800" b="1" dirty="0">
                <a:solidFill>
                  <a:srgbClr val="E6EDF7"/>
                </a:solidFill>
                <a:latin typeface="Calibri" pitchFamily="34" charset="0"/>
                <a:ea typeface="Calibri" pitchFamily="34" charset="-122"/>
                <a:cs typeface="Calibri" pitchFamily="34" charset="-120"/>
              </a:rPr>
              <a:t>The robot base</a:t>
            </a:r>
            <a:endParaRPr lang="en-US" sz="1800" dirty="0"/>
          </a:p>
        </p:txBody>
      </p:sp>
      <p:sp>
        <p:nvSpPr>
          <p:cNvPr id="25" name="Text 19"/>
          <p:cNvSpPr txBox="1"/>
          <p:nvPr/>
        </p:nvSpPr>
        <p:spPr>
          <a:xfrm>
            <a:off x="7680960" y="2834640"/>
            <a:ext cx="3749040" cy="7315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ESP32 · two BTS7960 drivers · four DC motors, skid steer · calibrates from its own web page</a:t>
            </a:r>
            <a:endParaRPr lang="en-US" sz="1200" dirty="0"/>
          </a:p>
        </p:txBody>
      </p:sp>
      <p:sp>
        <p:nvSpPr>
          <p:cNvPr id="26" name="Shape 20"/>
          <p:cNvSpPr/>
          <p:nvPr/>
        </p:nvSpPr>
        <p:spPr>
          <a:xfrm>
            <a:off x="7360920" y="3977640"/>
            <a:ext cx="4279392" cy="1920240"/>
          </a:xfrm>
          <a:prstGeom prst="roundRect">
            <a:avLst>
              <a:gd name="adj" fmla="val 5714"/>
            </a:avLst>
          </a:prstGeom>
          <a:solidFill>
            <a:srgbClr val="0D1224"/>
          </a:solidFill>
          <a:ln w="9525">
            <a:solidFill>
              <a:srgbClr val="22305A"/>
            </a:solidFill>
            <a:prstDash val="solid"/>
          </a:ln>
        </p:spPr>
      </p:sp>
      <p:sp>
        <p:nvSpPr>
          <p:cNvPr id="27" name="Shape 21"/>
          <p:cNvSpPr/>
          <p:nvPr/>
        </p:nvSpPr>
        <p:spPr>
          <a:xfrm>
            <a:off x="7680960" y="4297680"/>
            <a:ext cx="640080" cy="640080"/>
          </a:xfrm>
          <a:prstGeom prst="ellipse">
            <a:avLst/>
          </a:prstGeom>
          <a:solidFill>
            <a:srgbClr val="818CF8">
              <a:alpha val="20000"/>
            </a:srgbClr>
          </a:solidFill>
          <a:ln w="6350">
            <a:solidFill>
              <a:srgbClr val="818CF8">
                <a:alpha val="60000"/>
              </a:srgbClr>
            </a:solidFill>
            <a:prstDash val="solid"/>
          </a:ln>
        </p:spPr>
      </p:sp>
      <p:pic>
        <p:nvPicPr>
          <p:cNvPr id="28" name="Image 3" descr="preencoded.png">    </p:cNvPr>
          <p:cNvPicPr>
            <a:picLocks noChangeAspect="1"/>
          </p:cNvPicPr>
          <p:nvPr/>
        </p:nvPicPr>
        <p:blipFill>
          <a:blip r:embed="rId4"/>
          <a:stretch>
            <a:fillRect/>
          </a:stretch>
        </p:blipFill>
        <p:spPr>
          <a:xfrm>
            <a:off x="7834579" y="4451299"/>
            <a:ext cx="332842" cy="332842"/>
          </a:xfrm>
          <a:prstGeom prst="rect">
            <a:avLst/>
          </a:prstGeom>
        </p:spPr>
      </p:pic>
      <p:sp>
        <p:nvSpPr>
          <p:cNvPr id="29" name="Text 22"/>
          <p:cNvSpPr txBox="1"/>
          <p:nvPr/>
        </p:nvSpPr>
        <p:spPr>
          <a:xfrm>
            <a:off x="8503920" y="4270248"/>
            <a:ext cx="2743200" cy="274320"/>
          </a:xfrm>
          <a:prstGeom prst="rect">
            <a:avLst/>
          </a:prstGeom>
          <a:noFill/>
          <a:ln/>
        </p:spPr>
        <p:txBody>
          <a:bodyPr wrap="square" lIns="0" tIns="0" rIns="0" bIns="0" rtlCol="0" anchor="t"/>
          <a:lstStyle/>
          <a:p>
            <a:pPr indent="0" marL="0">
              <a:buNone/>
            </a:pPr>
            <a:r>
              <a:rPr lang="en-US" sz="1100" b="1" spc="300" kern="0" dirty="0">
                <a:solidFill>
                  <a:srgbClr val="818CF8"/>
                </a:solidFill>
                <a:latin typeface="Calibri" pitchFamily="34" charset="0"/>
                <a:ea typeface="Calibri" pitchFamily="34" charset="-122"/>
                <a:cs typeface="Calibri" pitchFamily="34" charset="-120"/>
              </a:rPr>
              <a:t>BODY TWO</a:t>
            </a:r>
            <a:endParaRPr lang="en-US" sz="1100" dirty="0"/>
          </a:p>
        </p:txBody>
      </p:sp>
      <p:sp>
        <p:nvSpPr>
          <p:cNvPr id="30" name="Text 23"/>
          <p:cNvSpPr txBox="1"/>
          <p:nvPr/>
        </p:nvSpPr>
        <p:spPr>
          <a:xfrm>
            <a:off x="8503920" y="4526280"/>
            <a:ext cx="3017520" cy="365760"/>
          </a:xfrm>
          <a:prstGeom prst="rect">
            <a:avLst/>
          </a:prstGeom>
          <a:noFill/>
          <a:ln/>
        </p:spPr>
        <p:txBody>
          <a:bodyPr wrap="square" lIns="0" tIns="0" rIns="0" bIns="0" rtlCol="0" anchor="t"/>
          <a:lstStyle/>
          <a:p>
            <a:pPr indent="0" marL="0">
              <a:buNone/>
            </a:pPr>
            <a:r>
              <a:rPr lang="en-US" sz="1800" b="1" dirty="0">
                <a:solidFill>
                  <a:srgbClr val="E6EDF7"/>
                </a:solidFill>
                <a:latin typeface="Calibri" pitchFamily="34" charset="0"/>
                <a:ea typeface="Calibri" pitchFamily="34" charset="-122"/>
                <a:cs typeface="Calibri" pitchFamily="34" charset="-120"/>
              </a:rPr>
              <a:t>The face &amp; senses</a:t>
            </a:r>
            <a:endParaRPr lang="en-US" sz="1800" dirty="0"/>
          </a:p>
        </p:txBody>
      </p:sp>
      <p:sp>
        <p:nvSpPr>
          <p:cNvPr id="31" name="Text 24"/>
          <p:cNvSpPr txBox="1"/>
          <p:nvPr/>
        </p:nvSpPr>
        <p:spPr>
          <a:xfrm>
            <a:off x="7680960" y="5074920"/>
            <a:ext cx="3749040" cy="7315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ESP32-S3 · two OLED eyes · four ultrasonics · DHT22 · PIR · MQ-2 gas · flame · light</a:t>
            </a:r>
            <a:endParaRPr lang="en-US" sz="1200" dirty="0"/>
          </a:p>
        </p:txBody>
      </p:sp>
      <p:sp>
        <p:nvSpPr>
          <p:cNvPr id="32" name="Text 25"/>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250" i="1" dirty="0">
                <a:solidFill>
                  <a:srgbClr val="5B667F"/>
                </a:solidFill>
                <a:latin typeface="Calibri" pitchFamily="34" charset="0"/>
                <a:ea typeface="Calibri" pitchFamily="34" charset="-122"/>
                <a:cs typeface="Calibri" pitchFamily="34" charset="-120"/>
              </a:rPr>
              <a:t>Every board is a body: no AI on it, it does what it is told and reports what it senses.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04 · UNDERSTANDING</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How a sentence becomes an action</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05</a:t>
            </a:r>
            <a:endParaRPr lang="en-US" sz="900" dirty="0"/>
          </a:p>
        </p:txBody>
      </p:sp>
      <p:sp>
        <p:nvSpPr>
          <p:cNvPr id="7" name="Shape 4"/>
          <p:cNvSpPr/>
          <p:nvPr/>
        </p:nvSpPr>
        <p:spPr>
          <a:xfrm>
            <a:off x="548640" y="1783080"/>
            <a:ext cx="2103120" cy="2743200"/>
          </a:xfrm>
          <a:prstGeom prst="roundRect">
            <a:avLst>
              <a:gd name="adj" fmla="val 5217"/>
            </a:avLst>
          </a:prstGeom>
          <a:solidFill>
            <a:srgbClr val="0D1224"/>
          </a:solidFill>
          <a:ln w="9525">
            <a:solidFill>
              <a:srgbClr val="22305A"/>
            </a:solidFill>
            <a:prstDash val="solid"/>
          </a:ln>
        </p:spPr>
      </p:sp>
      <p:sp>
        <p:nvSpPr>
          <p:cNvPr id="8" name="Text 5"/>
          <p:cNvSpPr txBox="1"/>
          <p:nvPr/>
        </p:nvSpPr>
        <p:spPr>
          <a:xfrm>
            <a:off x="804672" y="1984248"/>
            <a:ext cx="914400" cy="777240"/>
          </a:xfrm>
          <a:prstGeom prst="rect">
            <a:avLst/>
          </a:prstGeom>
          <a:noFill/>
          <a:ln/>
        </p:spPr>
        <p:txBody>
          <a:bodyPr wrap="square" lIns="0" tIns="0" rIns="0" bIns="0" rtlCol="0" anchor="t"/>
          <a:lstStyle/>
          <a:p>
            <a:pPr indent="0" marL="0">
              <a:buNone/>
            </a:pPr>
            <a:r>
              <a:rPr lang="en-US" sz="4400" b="1" dirty="0">
                <a:solidFill>
                  <a:srgbClr val="5EEAD4"/>
                </a:solidFill>
                <a:latin typeface="Calibri" pitchFamily="34" charset="0"/>
                <a:ea typeface="Calibri" pitchFamily="34" charset="-122"/>
                <a:cs typeface="Calibri" pitchFamily="34" charset="-120"/>
              </a:rPr>
              <a:t>1</a:t>
            </a:r>
            <a:endParaRPr lang="en-US" sz="4400" dirty="0"/>
          </a:p>
        </p:txBody>
      </p:sp>
      <p:sp>
        <p:nvSpPr>
          <p:cNvPr id="9" name="Text 6"/>
          <p:cNvSpPr txBox="1"/>
          <p:nvPr/>
        </p:nvSpPr>
        <p:spPr>
          <a:xfrm>
            <a:off x="804672" y="2834640"/>
            <a:ext cx="1645920" cy="36576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Wake word</a:t>
            </a:r>
            <a:endParaRPr lang="en-US" sz="1600" dirty="0"/>
          </a:p>
        </p:txBody>
      </p:sp>
      <p:sp>
        <p:nvSpPr>
          <p:cNvPr id="10" name="Text 7"/>
          <p:cNvSpPr txBox="1"/>
          <p:nvPr/>
        </p:nvSpPr>
        <p:spPr>
          <a:xfrm>
            <a:off x="804672" y="3246120"/>
            <a:ext cx="1645920" cy="11887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“Hey Iris, …” is stripped. Works offline, no model.</a:t>
            </a:r>
            <a:endParaRPr lang="en-US" sz="1200" dirty="0"/>
          </a:p>
        </p:txBody>
      </p:sp>
      <p:sp>
        <p:nvSpPr>
          <p:cNvPr id="11" name="Shape 8"/>
          <p:cNvSpPr/>
          <p:nvPr/>
        </p:nvSpPr>
        <p:spPr>
          <a:xfrm>
            <a:off x="2670048" y="2990088"/>
            <a:ext cx="146304" cy="256032"/>
          </a:xfrm>
          <a:prstGeom prst="rightArrow">
            <a:avLst/>
          </a:prstGeom>
          <a:solidFill>
            <a:srgbClr val="22305A"/>
          </a:solidFill>
          <a:ln w="12700">
            <a:solidFill>
              <a:srgbClr val="22305A"/>
            </a:solidFill>
            <a:prstDash val="solid"/>
          </a:ln>
        </p:spPr>
      </p:sp>
      <p:sp>
        <p:nvSpPr>
          <p:cNvPr id="12" name="Shape 9"/>
          <p:cNvSpPr/>
          <p:nvPr/>
        </p:nvSpPr>
        <p:spPr>
          <a:xfrm>
            <a:off x="2816352" y="1783080"/>
            <a:ext cx="2103120" cy="2743200"/>
          </a:xfrm>
          <a:prstGeom prst="roundRect">
            <a:avLst>
              <a:gd name="adj" fmla="val 5217"/>
            </a:avLst>
          </a:prstGeom>
          <a:solidFill>
            <a:srgbClr val="0D1224"/>
          </a:solidFill>
          <a:ln w="9525">
            <a:solidFill>
              <a:srgbClr val="22305A"/>
            </a:solidFill>
            <a:prstDash val="solid"/>
          </a:ln>
        </p:spPr>
      </p:sp>
      <p:sp>
        <p:nvSpPr>
          <p:cNvPr id="13" name="Text 10"/>
          <p:cNvSpPr txBox="1"/>
          <p:nvPr/>
        </p:nvSpPr>
        <p:spPr>
          <a:xfrm>
            <a:off x="3072384" y="1984248"/>
            <a:ext cx="914400" cy="777240"/>
          </a:xfrm>
          <a:prstGeom prst="rect">
            <a:avLst/>
          </a:prstGeom>
          <a:noFill/>
          <a:ln/>
        </p:spPr>
        <p:txBody>
          <a:bodyPr wrap="square" lIns="0" tIns="0" rIns="0" bIns="0" rtlCol="0" anchor="t"/>
          <a:lstStyle/>
          <a:p>
            <a:pPr indent="0" marL="0">
              <a:buNone/>
            </a:pPr>
            <a:r>
              <a:rPr lang="en-US" sz="4400" b="1" dirty="0">
                <a:solidFill>
                  <a:srgbClr val="818CF8"/>
                </a:solidFill>
                <a:latin typeface="Calibri" pitchFamily="34" charset="0"/>
                <a:ea typeface="Calibri" pitchFamily="34" charset="-122"/>
                <a:cs typeface="Calibri" pitchFamily="34" charset="-120"/>
              </a:rPr>
              <a:t>2</a:t>
            </a:r>
            <a:endParaRPr lang="en-US" sz="4400" dirty="0"/>
          </a:p>
        </p:txBody>
      </p:sp>
      <p:sp>
        <p:nvSpPr>
          <p:cNvPr id="14" name="Text 11"/>
          <p:cNvSpPr txBox="1"/>
          <p:nvPr/>
        </p:nvSpPr>
        <p:spPr>
          <a:xfrm>
            <a:off x="3072384" y="2834640"/>
            <a:ext cx="1645920" cy="36576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Memory</a:t>
            </a:r>
            <a:endParaRPr lang="en-US" sz="1600" dirty="0"/>
          </a:p>
        </p:txBody>
      </p:sp>
      <p:sp>
        <p:nvSpPr>
          <p:cNvPr id="15" name="Text 12"/>
          <p:cNvSpPr txBox="1"/>
          <p:nvPr/>
        </p:nvSpPr>
        <p:spPr>
          <a:xfrm>
            <a:off x="3072384" y="3246120"/>
            <a:ext cx="1645920" cy="11887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“remember my budget is $500” — saved to disk, survives a restart.</a:t>
            </a:r>
            <a:endParaRPr lang="en-US" sz="1200" dirty="0"/>
          </a:p>
        </p:txBody>
      </p:sp>
      <p:sp>
        <p:nvSpPr>
          <p:cNvPr id="16" name="Shape 13"/>
          <p:cNvSpPr/>
          <p:nvPr/>
        </p:nvSpPr>
        <p:spPr>
          <a:xfrm>
            <a:off x="4937760" y="2990088"/>
            <a:ext cx="146304" cy="256032"/>
          </a:xfrm>
          <a:prstGeom prst="rightArrow">
            <a:avLst/>
          </a:prstGeom>
          <a:solidFill>
            <a:srgbClr val="22305A"/>
          </a:solidFill>
          <a:ln w="12700">
            <a:solidFill>
              <a:srgbClr val="22305A"/>
            </a:solidFill>
            <a:prstDash val="solid"/>
          </a:ln>
        </p:spPr>
      </p:sp>
      <p:sp>
        <p:nvSpPr>
          <p:cNvPr id="17" name="Shape 14"/>
          <p:cNvSpPr/>
          <p:nvPr/>
        </p:nvSpPr>
        <p:spPr>
          <a:xfrm>
            <a:off x="5084064" y="1783080"/>
            <a:ext cx="2103120" cy="2743200"/>
          </a:xfrm>
          <a:prstGeom prst="roundRect">
            <a:avLst>
              <a:gd name="adj" fmla="val 5217"/>
            </a:avLst>
          </a:prstGeom>
          <a:solidFill>
            <a:srgbClr val="0D1224"/>
          </a:solidFill>
          <a:ln w="9525">
            <a:solidFill>
              <a:srgbClr val="22305A"/>
            </a:solidFill>
            <a:prstDash val="solid"/>
          </a:ln>
        </p:spPr>
      </p:sp>
      <p:sp>
        <p:nvSpPr>
          <p:cNvPr id="18" name="Text 15"/>
          <p:cNvSpPr txBox="1"/>
          <p:nvPr/>
        </p:nvSpPr>
        <p:spPr>
          <a:xfrm>
            <a:off x="5340096" y="1984248"/>
            <a:ext cx="914400" cy="777240"/>
          </a:xfrm>
          <a:prstGeom prst="rect">
            <a:avLst/>
          </a:prstGeom>
          <a:noFill/>
          <a:ln/>
        </p:spPr>
        <p:txBody>
          <a:bodyPr wrap="square" lIns="0" tIns="0" rIns="0" bIns="0" rtlCol="0" anchor="t"/>
          <a:lstStyle/>
          <a:p>
            <a:pPr indent="0" marL="0">
              <a:buNone/>
            </a:pPr>
            <a:r>
              <a:rPr lang="en-US" sz="4400" b="1" dirty="0">
                <a:solidFill>
                  <a:srgbClr val="A78BFA"/>
                </a:solidFill>
                <a:latin typeface="Calibri" pitchFamily="34" charset="0"/>
                <a:ea typeface="Calibri" pitchFamily="34" charset="-122"/>
                <a:cs typeface="Calibri" pitchFamily="34" charset="-120"/>
              </a:rPr>
              <a:t>3</a:t>
            </a:r>
            <a:endParaRPr lang="en-US" sz="4400" dirty="0"/>
          </a:p>
        </p:txBody>
      </p:sp>
      <p:sp>
        <p:nvSpPr>
          <p:cNvPr id="19" name="Text 16"/>
          <p:cNvSpPr txBox="1"/>
          <p:nvPr/>
        </p:nvSpPr>
        <p:spPr>
          <a:xfrm>
            <a:off x="5340096" y="2834640"/>
            <a:ext cx="1645920" cy="36576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Small talk</a:t>
            </a:r>
            <a:endParaRPr lang="en-US" sz="1600" dirty="0"/>
          </a:p>
        </p:txBody>
      </p:sp>
      <p:sp>
        <p:nvSpPr>
          <p:cNvPr id="20" name="Text 17"/>
          <p:cNvSpPr txBox="1"/>
          <p:nvPr/>
        </p:nvSpPr>
        <p:spPr>
          <a:xfrm>
            <a:off x="5340096" y="3246120"/>
            <a:ext cx="1645920" cy="11887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Greetings, jokes, “who are you” — answered instantly.</a:t>
            </a:r>
            <a:endParaRPr lang="en-US" sz="1200" dirty="0"/>
          </a:p>
        </p:txBody>
      </p:sp>
      <p:sp>
        <p:nvSpPr>
          <p:cNvPr id="21" name="Shape 18"/>
          <p:cNvSpPr/>
          <p:nvPr/>
        </p:nvSpPr>
        <p:spPr>
          <a:xfrm>
            <a:off x="7205472" y="2990088"/>
            <a:ext cx="146304" cy="256032"/>
          </a:xfrm>
          <a:prstGeom prst="rightArrow">
            <a:avLst/>
          </a:prstGeom>
          <a:solidFill>
            <a:srgbClr val="22305A"/>
          </a:solidFill>
          <a:ln w="12700">
            <a:solidFill>
              <a:srgbClr val="22305A"/>
            </a:solidFill>
            <a:prstDash val="solid"/>
          </a:ln>
        </p:spPr>
      </p:sp>
      <p:sp>
        <p:nvSpPr>
          <p:cNvPr id="22" name="Shape 19"/>
          <p:cNvSpPr/>
          <p:nvPr/>
        </p:nvSpPr>
        <p:spPr>
          <a:xfrm>
            <a:off x="7351776" y="1783080"/>
            <a:ext cx="2103120" cy="2743200"/>
          </a:xfrm>
          <a:prstGeom prst="roundRect">
            <a:avLst>
              <a:gd name="adj" fmla="val 5217"/>
            </a:avLst>
          </a:prstGeom>
          <a:solidFill>
            <a:srgbClr val="0D1224"/>
          </a:solidFill>
          <a:ln w="9525">
            <a:solidFill>
              <a:srgbClr val="22305A"/>
            </a:solidFill>
            <a:prstDash val="solid"/>
          </a:ln>
        </p:spPr>
      </p:sp>
      <p:sp>
        <p:nvSpPr>
          <p:cNvPr id="23" name="Text 20"/>
          <p:cNvSpPr txBox="1"/>
          <p:nvPr/>
        </p:nvSpPr>
        <p:spPr>
          <a:xfrm>
            <a:off x="7607808" y="1984248"/>
            <a:ext cx="914400" cy="777240"/>
          </a:xfrm>
          <a:prstGeom prst="rect">
            <a:avLst/>
          </a:prstGeom>
          <a:noFill/>
          <a:ln/>
        </p:spPr>
        <p:txBody>
          <a:bodyPr wrap="square" lIns="0" tIns="0" rIns="0" bIns="0" rtlCol="0" anchor="t"/>
          <a:lstStyle/>
          <a:p>
            <a:pPr indent="0" marL="0">
              <a:buNone/>
            </a:pPr>
            <a:r>
              <a:rPr lang="en-US" sz="4400" b="1" dirty="0">
                <a:solidFill>
                  <a:srgbClr val="F4A259"/>
                </a:solidFill>
                <a:latin typeface="Calibri" pitchFamily="34" charset="0"/>
                <a:ea typeface="Calibri" pitchFamily="34" charset="-122"/>
                <a:cs typeface="Calibri" pitchFamily="34" charset="-120"/>
              </a:rPr>
              <a:t>4</a:t>
            </a:r>
            <a:endParaRPr lang="en-US" sz="4400" dirty="0"/>
          </a:p>
        </p:txBody>
      </p:sp>
      <p:sp>
        <p:nvSpPr>
          <p:cNvPr id="24" name="Text 21"/>
          <p:cNvSpPr txBox="1"/>
          <p:nvPr/>
        </p:nvSpPr>
        <p:spPr>
          <a:xfrm>
            <a:off x="7607808" y="2834640"/>
            <a:ext cx="1645920" cy="36576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Commands</a:t>
            </a:r>
            <a:endParaRPr lang="en-US" sz="1600" dirty="0"/>
          </a:p>
        </p:txBody>
      </p:sp>
      <p:sp>
        <p:nvSpPr>
          <p:cNvPr id="25" name="Text 22"/>
          <p:cNvSpPr txBox="1"/>
          <p:nvPr/>
        </p:nvSpPr>
        <p:spPr>
          <a:xfrm>
            <a:off x="7607808" y="3246120"/>
            <a:ext cx="1645920" cy="11887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80 sentence rules → the tool runs directly. ~8 ms, offline.</a:t>
            </a:r>
            <a:endParaRPr lang="en-US" sz="1200" dirty="0"/>
          </a:p>
        </p:txBody>
      </p:sp>
      <p:sp>
        <p:nvSpPr>
          <p:cNvPr id="26" name="Shape 23"/>
          <p:cNvSpPr/>
          <p:nvPr/>
        </p:nvSpPr>
        <p:spPr>
          <a:xfrm>
            <a:off x="9473184" y="2990088"/>
            <a:ext cx="146304" cy="256032"/>
          </a:xfrm>
          <a:prstGeom prst="rightArrow">
            <a:avLst/>
          </a:prstGeom>
          <a:solidFill>
            <a:srgbClr val="22305A"/>
          </a:solidFill>
          <a:ln w="12700">
            <a:solidFill>
              <a:srgbClr val="22305A"/>
            </a:solidFill>
            <a:prstDash val="solid"/>
          </a:ln>
        </p:spPr>
      </p:sp>
      <p:sp>
        <p:nvSpPr>
          <p:cNvPr id="27" name="Shape 24"/>
          <p:cNvSpPr/>
          <p:nvPr/>
        </p:nvSpPr>
        <p:spPr>
          <a:xfrm>
            <a:off x="9619488" y="1783080"/>
            <a:ext cx="2103120" cy="2743200"/>
          </a:xfrm>
          <a:prstGeom prst="roundRect">
            <a:avLst>
              <a:gd name="adj" fmla="val 5217"/>
            </a:avLst>
          </a:prstGeom>
          <a:solidFill>
            <a:srgbClr val="0D1224"/>
          </a:solidFill>
          <a:ln w="9525">
            <a:solidFill>
              <a:srgbClr val="22305A"/>
            </a:solidFill>
            <a:prstDash val="solid"/>
          </a:ln>
        </p:spPr>
      </p:sp>
      <p:sp>
        <p:nvSpPr>
          <p:cNvPr id="28" name="Text 25"/>
          <p:cNvSpPr txBox="1"/>
          <p:nvPr/>
        </p:nvSpPr>
        <p:spPr>
          <a:xfrm>
            <a:off x="9875520" y="1984248"/>
            <a:ext cx="914400" cy="777240"/>
          </a:xfrm>
          <a:prstGeom prst="rect">
            <a:avLst/>
          </a:prstGeom>
          <a:noFill/>
          <a:ln/>
        </p:spPr>
        <p:txBody>
          <a:bodyPr wrap="square" lIns="0" tIns="0" rIns="0" bIns="0" rtlCol="0" anchor="t"/>
          <a:lstStyle/>
          <a:p>
            <a:pPr indent="0" marL="0">
              <a:buNone/>
            </a:pPr>
            <a:r>
              <a:rPr lang="en-US" sz="4400" b="1" dirty="0">
                <a:solidFill>
                  <a:srgbClr val="22D3EE"/>
                </a:solidFill>
                <a:latin typeface="Calibri" pitchFamily="34" charset="0"/>
                <a:ea typeface="Calibri" pitchFamily="34" charset="-122"/>
                <a:cs typeface="Calibri" pitchFamily="34" charset="-120"/>
              </a:rPr>
              <a:t>5</a:t>
            </a:r>
            <a:endParaRPr lang="en-US" sz="4400" dirty="0"/>
          </a:p>
        </p:txBody>
      </p:sp>
      <p:sp>
        <p:nvSpPr>
          <p:cNvPr id="29" name="Text 26"/>
          <p:cNvSpPr txBox="1"/>
          <p:nvPr/>
        </p:nvSpPr>
        <p:spPr>
          <a:xfrm>
            <a:off x="9875520" y="2834640"/>
            <a:ext cx="1645920" cy="36576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The model</a:t>
            </a:r>
            <a:endParaRPr lang="en-US" sz="1600" dirty="0"/>
          </a:p>
        </p:txBody>
      </p:sp>
      <p:sp>
        <p:nvSpPr>
          <p:cNvPr id="30" name="Text 27"/>
          <p:cNvSpPr txBox="1"/>
          <p:nvPr/>
        </p:nvSpPr>
        <p:spPr>
          <a:xfrm>
            <a:off x="9875520" y="3246120"/>
            <a:ext cx="1645920" cy="1188720"/>
          </a:xfrm>
          <a:prstGeom prst="rect">
            <a:avLst/>
          </a:prstGeom>
          <a:noFill/>
          <a:ln/>
        </p:spPr>
        <p:txBody>
          <a:bodyPr wrap="square" lIns="0" tIns="0" rIns="0" bIns="0" rtlCol="0" anchor="t"/>
          <a:lstStyle/>
          <a:p>
            <a:pPr indent="0" marL="0">
              <a:lnSpc>
                <a:spcPct val="110000"/>
              </a:lnSpc>
              <a:buNone/>
            </a:pPr>
            <a:r>
              <a:rPr lang="en-US" sz="1200" dirty="0">
                <a:solidFill>
                  <a:srgbClr val="9AA4BC"/>
                </a:solidFill>
                <a:latin typeface="Calibri" pitchFamily="34" charset="0"/>
                <a:ea typeface="Calibri" pitchFamily="34" charset="-122"/>
                <a:cs typeface="Calibri" pitchFamily="34" charset="-120"/>
              </a:rPr>
              <a:t>Anything else goes to a free LLM that can chain all 77 tools.</a:t>
            </a:r>
            <a:endParaRPr lang="en-US" sz="1200" dirty="0"/>
          </a:p>
        </p:txBody>
      </p:sp>
      <p:sp>
        <p:nvSpPr>
          <p:cNvPr id="31" name="Shape 28"/>
          <p:cNvSpPr/>
          <p:nvPr/>
        </p:nvSpPr>
        <p:spPr>
          <a:xfrm>
            <a:off x="548640" y="4846320"/>
            <a:ext cx="11064240" cy="1234440"/>
          </a:xfrm>
          <a:prstGeom prst="roundRect">
            <a:avLst>
              <a:gd name="adj" fmla="val 8889"/>
            </a:avLst>
          </a:prstGeom>
          <a:solidFill>
            <a:srgbClr val="131C34"/>
          </a:solidFill>
          <a:ln w="9525">
            <a:solidFill>
              <a:srgbClr val="22305A"/>
            </a:solidFill>
            <a:prstDash val="solid"/>
          </a:ln>
        </p:spPr>
      </p:sp>
      <p:sp>
        <p:nvSpPr>
          <p:cNvPr id="32" name="Text 29"/>
          <p:cNvSpPr txBox="1"/>
          <p:nvPr/>
        </p:nvSpPr>
        <p:spPr>
          <a:xfrm>
            <a:off x="868680" y="5029200"/>
            <a:ext cx="1828800" cy="274320"/>
          </a:xfrm>
          <a:prstGeom prst="rect">
            <a:avLst/>
          </a:prstGeom>
          <a:noFill/>
          <a:ln/>
        </p:spPr>
        <p:txBody>
          <a:bodyPr wrap="square" lIns="0" tIns="0" rIns="0" bIns="0" rtlCol="0" anchor="t"/>
          <a:lstStyle/>
          <a:p>
            <a:pPr indent="0" marL="0">
              <a:buNone/>
            </a:pPr>
            <a:r>
              <a:rPr lang="en-US" sz="1050" b="1" spc="300" kern="0" dirty="0">
                <a:solidFill>
                  <a:srgbClr val="5EEAD4"/>
                </a:solidFill>
                <a:latin typeface="Calibri" pitchFamily="34" charset="0"/>
                <a:ea typeface="Calibri" pitchFamily="34" charset="-122"/>
                <a:cs typeface="Calibri" pitchFamily="34" charset="-120"/>
              </a:rPr>
              <a:t>EXAMPLE</a:t>
            </a:r>
            <a:endParaRPr lang="en-US" sz="1050" dirty="0"/>
          </a:p>
        </p:txBody>
      </p:sp>
      <p:sp>
        <p:nvSpPr>
          <p:cNvPr id="33" name="Text 30"/>
          <p:cNvSpPr txBox="1"/>
          <p:nvPr/>
        </p:nvSpPr>
        <p:spPr>
          <a:xfrm>
            <a:off x="868680" y="5349240"/>
            <a:ext cx="10424160" cy="548640"/>
          </a:xfrm>
          <a:prstGeom prst="rect">
            <a:avLst/>
          </a:prstGeom>
          <a:noFill/>
          <a:ln/>
        </p:spPr>
        <p:txBody>
          <a:bodyPr wrap="square" lIns="0" tIns="0" rIns="0" bIns="0" rtlCol="0" anchor="ctr"/>
          <a:lstStyle/>
          <a:p>
            <a:pPr indent="0" marL="0">
              <a:buNone/>
            </a:pPr>
            <a:r>
              <a:rPr lang="en-US" sz="1500" b="1" dirty="0">
                <a:solidFill>
                  <a:srgbClr val="E6EDF7"/>
                </a:solidFill>
                <a:latin typeface="Calibri" pitchFamily="34" charset="0"/>
                <a:ea typeface="Calibri" pitchFamily="34" charset="-122"/>
                <a:cs typeface="Calibri" pitchFamily="34" charset="-120"/>
              </a:rPr>
              <a:t>“robot forward”</a:t>
            </a:r>
            <a:pPr indent="0" marL="0">
              <a:buNone/>
            </a:pPr>
            <a:r>
              <a:rPr lang="en-US" sz="1500" dirty="0">
                <a:solidFill>
                  <a:srgbClr val="9AA4BC"/>
                </a:solidFill>
                <a:latin typeface="Calibri" pitchFamily="34" charset="0"/>
                <a:ea typeface="Calibri" pitchFamily="34" charset="-122"/>
                <a:cs typeface="Calibri" pitchFamily="34" charset="-120"/>
              </a:rPr>
              <a:t>   →   rule </a:t>
            </a:r>
            <a:pPr indent="0" marL="0">
              <a:buNone/>
            </a:pPr>
            <a:r>
              <a:rPr lang="en-US" sz="1500" dirty="0">
                <a:solidFill>
                  <a:srgbClr val="F4A259"/>
                </a:solidFill>
                <a:latin typeface="Courier New" pitchFamily="34" charset="0"/>
                <a:ea typeface="Courier New" pitchFamily="34" charset="-122"/>
                <a:cs typeface="Courier New" pitchFamily="34" charset="-120"/>
              </a:rPr>
              <a:t>robot_move</a:t>
            </a:r>
            <a:pPr indent="0" marL="0">
              <a:buNone/>
            </a:pPr>
            <a:r>
              <a:rPr lang="en-US" sz="1500" dirty="0">
                <a:solidFill>
                  <a:srgbClr val="9AA4BC"/>
                </a:solidFill>
                <a:latin typeface="Calibri" pitchFamily="34" charset="0"/>
                <a:ea typeface="Calibri" pitchFamily="34" charset="-122"/>
                <a:cs typeface="Calibri" pitchFamily="34" charset="-120"/>
              </a:rPr>
              <a:t>   →   tool </a:t>
            </a:r>
            <a:pPr indent="0" marL="0">
              <a:buNone/>
            </a:pPr>
            <a:r>
              <a:rPr lang="en-US" sz="1500" dirty="0">
                <a:solidFill>
                  <a:srgbClr val="F4A259"/>
                </a:solidFill>
                <a:latin typeface="Courier New" pitchFamily="34" charset="0"/>
                <a:ea typeface="Courier New" pitchFamily="34" charset="-122"/>
                <a:cs typeface="Courier New" pitchFamily="34" charset="-120"/>
              </a:rPr>
              <a:t>device_motor</a:t>
            </a:r>
            <a:pPr indent="0" marL="0">
              <a:buNone/>
            </a:pPr>
            <a:r>
              <a:rPr lang="en-US" sz="1500" dirty="0">
                <a:solidFill>
                  <a:srgbClr val="9AA4BC"/>
                </a:solidFill>
                <a:latin typeface="Calibri" pitchFamily="34" charset="0"/>
                <a:ea typeface="Calibri" pitchFamily="34" charset="-122"/>
                <a:cs typeface="Calibri" pitchFamily="34" charset="-120"/>
              </a:rPr>
              <a:t>   →   one UDP packet to the board   →   </a:t>
            </a:r>
            <a:pPr indent="0" marL="0">
              <a:buNone/>
            </a:pPr>
            <a:r>
              <a:rPr lang="en-US" sz="1500" b="1" dirty="0">
                <a:solidFill>
                  <a:srgbClr val="5EEAD4"/>
                </a:solidFill>
                <a:latin typeface="Calibri" pitchFamily="34" charset="0"/>
                <a:ea typeface="Calibri" pitchFamily="34" charset="-122"/>
                <a:cs typeface="Calibri" pitchFamily="34" charset="-120"/>
              </a:rPr>
              <a:t>8 ms, measured.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05 · THE MODEL LAYER</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Free first, never stuck</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06</a:t>
            </a:r>
            <a:endParaRPr lang="en-US" sz="900" dirty="0"/>
          </a:p>
        </p:txBody>
      </p:sp>
      <p:sp>
        <p:nvSpPr>
          <p:cNvPr id="7" name="Shape 4"/>
          <p:cNvSpPr/>
          <p:nvPr/>
        </p:nvSpPr>
        <p:spPr>
          <a:xfrm>
            <a:off x="548640" y="1965960"/>
            <a:ext cx="1783080" cy="566928"/>
          </a:xfrm>
          <a:prstGeom prst="roundRect">
            <a:avLst>
              <a:gd name="adj" fmla="val 48387"/>
            </a:avLst>
          </a:prstGeom>
          <a:solidFill>
            <a:srgbClr val="131C34"/>
          </a:solidFill>
          <a:ln w="12700">
            <a:solidFill>
              <a:srgbClr val="5EEAD4">
                <a:alpha val="70000"/>
              </a:srgbClr>
            </a:solidFill>
            <a:prstDash val="solid"/>
          </a:ln>
        </p:spPr>
      </p:sp>
      <p:sp>
        <p:nvSpPr>
          <p:cNvPr id="8" name="Text 5"/>
          <p:cNvSpPr txBox="1"/>
          <p:nvPr/>
        </p:nvSpPr>
        <p:spPr>
          <a:xfrm>
            <a:off x="548640" y="1965960"/>
            <a:ext cx="17830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OpenRouter</a:t>
            </a:r>
            <a:endParaRPr lang="en-US" sz="1350" dirty="0"/>
          </a:p>
        </p:txBody>
      </p:sp>
      <p:sp>
        <p:nvSpPr>
          <p:cNvPr id="9" name="Shape 6"/>
          <p:cNvSpPr/>
          <p:nvPr/>
        </p:nvSpPr>
        <p:spPr>
          <a:xfrm>
            <a:off x="2377440" y="2139696"/>
            <a:ext cx="201168" cy="219456"/>
          </a:xfrm>
          <a:prstGeom prst="rightArrow">
            <a:avLst/>
          </a:prstGeom>
          <a:solidFill>
            <a:srgbClr val="22305A"/>
          </a:solidFill>
          <a:ln w="12700">
            <a:solidFill>
              <a:srgbClr val="22305A"/>
            </a:solidFill>
            <a:prstDash val="solid"/>
          </a:ln>
        </p:spPr>
      </p:sp>
      <p:sp>
        <p:nvSpPr>
          <p:cNvPr id="10" name="Shape 7"/>
          <p:cNvSpPr/>
          <p:nvPr/>
        </p:nvSpPr>
        <p:spPr>
          <a:xfrm>
            <a:off x="2624328" y="1965960"/>
            <a:ext cx="1325880" cy="566928"/>
          </a:xfrm>
          <a:prstGeom prst="roundRect">
            <a:avLst>
              <a:gd name="adj" fmla="val 48387"/>
            </a:avLst>
          </a:prstGeom>
          <a:solidFill>
            <a:srgbClr val="131C34"/>
          </a:solidFill>
          <a:ln w="12700">
            <a:solidFill>
              <a:srgbClr val="5EEAD4">
                <a:alpha val="70000"/>
              </a:srgbClr>
            </a:solidFill>
            <a:prstDash val="solid"/>
          </a:ln>
        </p:spPr>
      </p:sp>
      <p:sp>
        <p:nvSpPr>
          <p:cNvPr id="11" name="Text 8"/>
          <p:cNvSpPr txBox="1"/>
          <p:nvPr/>
        </p:nvSpPr>
        <p:spPr>
          <a:xfrm>
            <a:off x="2624328" y="1965960"/>
            <a:ext cx="13258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Groq</a:t>
            </a:r>
            <a:endParaRPr lang="en-US" sz="1350" dirty="0"/>
          </a:p>
        </p:txBody>
      </p:sp>
      <p:sp>
        <p:nvSpPr>
          <p:cNvPr id="12" name="Shape 9"/>
          <p:cNvSpPr/>
          <p:nvPr/>
        </p:nvSpPr>
        <p:spPr>
          <a:xfrm>
            <a:off x="3995928" y="2139696"/>
            <a:ext cx="201168" cy="219456"/>
          </a:xfrm>
          <a:prstGeom prst="rightArrow">
            <a:avLst/>
          </a:prstGeom>
          <a:solidFill>
            <a:srgbClr val="22305A"/>
          </a:solidFill>
          <a:ln w="12700">
            <a:solidFill>
              <a:srgbClr val="22305A"/>
            </a:solidFill>
            <a:prstDash val="solid"/>
          </a:ln>
        </p:spPr>
      </p:sp>
      <p:sp>
        <p:nvSpPr>
          <p:cNvPr id="13" name="Shape 10"/>
          <p:cNvSpPr/>
          <p:nvPr/>
        </p:nvSpPr>
        <p:spPr>
          <a:xfrm>
            <a:off x="4242816" y="1965960"/>
            <a:ext cx="1325880" cy="566928"/>
          </a:xfrm>
          <a:prstGeom prst="roundRect">
            <a:avLst>
              <a:gd name="adj" fmla="val 48387"/>
            </a:avLst>
          </a:prstGeom>
          <a:solidFill>
            <a:srgbClr val="131C34"/>
          </a:solidFill>
          <a:ln w="12700">
            <a:solidFill>
              <a:srgbClr val="5EEAD4">
                <a:alpha val="70000"/>
              </a:srgbClr>
            </a:solidFill>
            <a:prstDash val="solid"/>
          </a:ln>
        </p:spPr>
      </p:sp>
      <p:sp>
        <p:nvSpPr>
          <p:cNvPr id="14" name="Text 11"/>
          <p:cNvSpPr txBox="1"/>
          <p:nvPr/>
        </p:nvSpPr>
        <p:spPr>
          <a:xfrm>
            <a:off x="4242816" y="1965960"/>
            <a:ext cx="13258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Gemini</a:t>
            </a:r>
            <a:endParaRPr lang="en-US" sz="1350" dirty="0"/>
          </a:p>
        </p:txBody>
      </p:sp>
      <p:sp>
        <p:nvSpPr>
          <p:cNvPr id="15" name="Shape 12"/>
          <p:cNvSpPr/>
          <p:nvPr/>
        </p:nvSpPr>
        <p:spPr>
          <a:xfrm>
            <a:off x="5614416" y="2139696"/>
            <a:ext cx="201168" cy="219456"/>
          </a:xfrm>
          <a:prstGeom prst="rightArrow">
            <a:avLst/>
          </a:prstGeom>
          <a:solidFill>
            <a:srgbClr val="22305A"/>
          </a:solidFill>
          <a:ln w="12700">
            <a:solidFill>
              <a:srgbClr val="22305A"/>
            </a:solidFill>
            <a:prstDash val="solid"/>
          </a:ln>
        </p:spPr>
      </p:sp>
      <p:sp>
        <p:nvSpPr>
          <p:cNvPr id="16" name="Shape 13"/>
          <p:cNvSpPr/>
          <p:nvPr/>
        </p:nvSpPr>
        <p:spPr>
          <a:xfrm>
            <a:off x="5861304" y="1965960"/>
            <a:ext cx="1325880" cy="566928"/>
          </a:xfrm>
          <a:prstGeom prst="roundRect">
            <a:avLst>
              <a:gd name="adj" fmla="val 48387"/>
            </a:avLst>
          </a:prstGeom>
          <a:solidFill>
            <a:srgbClr val="131C34"/>
          </a:solidFill>
          <a:ln w="12700">
            <a:solidFill>
              <a:srgbClr val="5EEAD4">
                <a:alpha val="70000"/>
              </a:srgbClr>
            </a:solidFill>
            <a:prstDash val="solid"/>
          </a:ln>
        </p:spPr>
      </p:sp>
      <p:sp>
        <p:nvSpPr>
          <p:cNvPr id="17" name="Text 14"/>
          <p:cNvSpPr txBox="1"/>
          <p:nvPr/>
        </p:nvSpPr>
        <p:spPr>
          <a:xfrm>
            <a:off x="5861304" y="1965960"/>
            <a:ext cx="13258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Cerebras</a:t>
            </a:r>
            <a:endParaRPr lang="en-US" sz="1350" dirty="0"/>
          </a:p>
        </p:txBody>
      </p:sp>
      <p:sp>
        <p:nvSpPr>
          <p:cNvPr id="18" name="Shape 15"/>
          <p:cNvSpPr/>
          <p:nvPr/>
        </p:nvSpPr>
        <p:spPr>
          <a:xfrm>
            <a:off x="7232904" y="2139696"/>
            <a:ext cx="201168" cy="219456"/>
          </a:xfrm>
          <a:prstGeom prst="rightArrow">
            <a:avLst/>
          </a:prstGeom>
          <a:solidFill>
            <a:srgbClr val="22305A"/>
          </a:solidFill>
          <a:ln w="12700">
            <a:solidFill>
              <a:srgbClr val="22305A"/>
            </a:solidFill>
            <a:prstDash val="solid"/>
          </a:ln>
        </p:spPr>
      </p:sp>
      <p:sp>
        <p:nvSpPr>
          <p:cNvPr id="19" name="Shape 16"/>
          <p:cNvSpPr/>
          <p:nvPr/>
        </p:nvSpPr>
        <p:spPr>
          <a:xfrm>
            <a:off x="7479792" y="1965960"/>
            <a:ext cx="1325880" cy="566928"/>
          </a:xfrm>
          <a:prstGeom prst="roundRect">
            <a:avLst>
              <a:gd name="adj" fmla="val 48387"/>
            </a:avLst>
          </a:prstGeom>
          <a:solidFill>
            <a:srgbClr val="131C34"/>
          </a:solidFill>
          <a:ln w="12700">
            <a:solidFill>
              <a:srgbClr val="5EEAD4">
                <a:alpha val="70000"/>
              </a:srgbClr>
            </a:solidFill>
            <a:prstDash val="solid"/>
          </a:ln>
        </p:spPr>
      </p:sp>
      <p:sp>
        <p:nvSpPr>
          <p:cNvPr id="20" name="Text 17"/>
          <p:cNvSpPr txBox="1"/>
          <p:nvPr/>
        </p:nvSpPr>
        <p:spPr>
          <a:xfrm>
            <a:off x="7479792" y="1965960"/>
            <a:ext cx="13258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Mistral</a:t>
            </a:r>
            <a:endParaRPr lang="en-US" sz="1350" dirty="0"/>
          </a:p>
        </p:txBody>
      </p:sp>
      <p:sp>
        <p:nvSpPr>
          <p:cNvPr id="21" name="Shape 18"/>
          <p:cNvSpPr/>
          <p:nvPr/>
        </p:nvSpPr>
        <p:spPr>
          <a:xfrm>
            <a:off x="8851392" y="2139696"/>
            <a:ext cx="201168" cy="219456"/>
          </a:xfrm>
          <a:prstGeom prst="rightArrow">
            <a:avLst/>
          </a:prstGeom>
          <a:solidFill>
            <a:srgbClr val="22305A"/>
          </a:solidFill>
          <a:ln w="12700">
            <a:solidFill>
              <a:srgbClr val="22305A"/>
            </a:solidFill>
            <a:prstDash val="solid"/>
          </a:ln>
        </p:spPr>
      </p:sp>
      <p:sp>
        <p:nvSpPr>
          <p:cNvPr id="22" name="Shape 19"/>
          <p:cNvSpPr/>
          <p:nvPr/>
        </p:nvSpPr>
        <p:spPr>
          <a:xfrm>
            <a:off x="9098280" y="1965960"/>
            <a:ext cx="502920" cy="566928"/>
          </a:xfrm>
          <a:prstGeom prst="roundRect">
            <a:avLst>
              <a:gd name="adj" fmla="val 54545"/>
            </a:avLst>
          </a:prstGeom>
          <a:solidFill>
            <a:srgbClr val="131C34"/>
          </a:solidFill>
          <a:ln w="12700">
            <a:solidFill>
              <a:srgbClr val="5B667F">
                <a:alpha val="70000"/>
              </a:srgbClr>
            </a:solidFill>
            <a:prstDash val="solid"/>
          </a:ln>
        </p:spPr>
      </p:sp>
      <p:sp>
        <p:nvSpPr>
          <p:cNvPr id="23" name="Text 20"/>
          <p:cNvSpPr txBox="1"/>
          <p:nvPr/>
        </p:nvSpPr>
        <p:spPr>
          <a:xfrm>
            <a:off x="9098280" y="1965960"/>
            <a:ext cx="502920" cy="566928"/>
          </a:xfrm>
          <a:prstGeom prst="rect">
            <a:avLst/>
          </a:prstGeom>
          <a:noFill/>
          <a:ln/>
        </p:spPr>
        <p:txBody>
          <a:bodyPr wrap="square" lIns="0" tIns="0" rIns="0" bIns="0" rtlCol="0" anchor="ctr"/>
          <a:lstStyle/>
          <a:p>
            <a:pPr algn="ctr" indent="0" marL="0">
              <a:buNone/>
            </a:pPr>
            <a:r>
              <a:rPr lang="en-US" sz="1350" b="1" dirty="0">
                <a:solidFill>
                  <a:srgbClr val="9AA4BC"/>
                </a:solidFill>
                <a:latin typeface="Calibri" pitchFamily="34" charset="0"/>
                <a:ea typeface="Calibri" pitchFamily="34" charset="-122"/>
                <a:cs typeface="Calibri" pitchFamily="34" charset="-120"/>
              </a:rPr>
              <a:t>…</a:t>
            </a:r>
            <a:endParaRPr lang="en-US" sz="1350" dirty="0"/>
          </a:p>
        </p:txBody>
      </p:sp>
      <p:sp>
        <p:nvSpPr>
          <p:cNvPr id="24" name="Shape 21"/>
          <p:cNvSpPr/>
          <p:nvPr/>
        </p:nvSpPr>
        <p:spPr>
          <a:xfrm>
            <a:off x="9646920" y="2139696"/>
            <a:ext cx="201168" cy="219456"/>
          </a:xfrm>
          <a:prstGeom prst="rightArrow">
            <a:avLst/>
          </a:prstGeom>
          <a:solidFill>
            <a:srgbClr val="22305A"/>
          </a:solidFill>
          <a:ln w="12700">
            <a:solidFill>
              <a:srgbClr val="22305A"/>
            </a:solidFill>
            <a:prstDash val="solid"/>
          </a:ln>
        </p:spPr>
      </p:sp>
      <p:sp>
        <p:nvSpPr>
          <p:cNvPr id="25" name="Shape 22"/>
          <p:cNvSpPr/>
          <p:nvPr/>
        </p:nvSpPr>
        <p:spPr>
          <a:xfrm>
            <a:off x="9893808" y="1965960"/>
            <a:ext cx="1783080" cy="566928"/>
          </a:xfrm>
          <a:prstGeom prst="roundRect">
            <a:avLst>
              <a:gd name="adj" fmla="val 48387"/>
            </a:avLst>
          </a:prstGeom>
          <a:solidFill>
            <a:srgbClr val="131C34"/>
          </a:solidFill>
          <a:ln w="12700">
            <a:solidFill>
              <a:srgbClr val="F4A259">
                <a:alpha val="70000"/>
              </a:srgbClr>
            </a:solidFill>
            <a:prstDash val="solid"/>
          </a:ln>
        </p:spPr>
      </p:sp>
      <p:sp>
        <p:nvSpPr>
          <p:cNvPr id="26" name="Text 23"/>
          <p:cNvSpPr txBox="1"/>
          <p:nvPr/>
        </p:nvSpPr>
        <p:spPr>
          <a:xfrm>
            <a:off x="9893808" y="1965960"/>
            <a:ext cx="1783080" cy="566928"/>
          </a:xfrm>
          <a:prstGeom prst="rect">
            <a:avLst/>
          </a:prstGeom>
          <a:noFill/>
          <a:ln/>
        </p:spPr>
        <p:txBody>
          <a:bodyPr wrap="square" lIns="0" tIns="0" rIns="0" bIns="0" rtlCol="0" anchor="ctr"/>
          <a:lstStyle/>
          <a:p>
            <a:pPr algn="ctr" indent="0" marL="0">
              <a:buNone/>
            </a:pPr>
            <a:r>
              <a:rPr lang="en-US" sz="1350" b="1" dirty="0">
                <a:solidFill>
                  <a:srgbClr val="E6EDF7"/>
                </a:solidFill>
                <a:latin typeface="Calibri" pitchFamily="34" charset="0"/>
                <a:ea typeface="Calibri" pitchFamily="34" charset="-122"/>
                <a:cs typeface="Calibri" pitchFamily="34" charset="-120"/>
              </a:rPr>
              <a:t>Offline engine</a:t>
            </a:r>
            <a:endParaRPr lang="en-US" sz="1350" dirty="0"/>
          </a:p>
        </p:txBody>
      </p:sp>
      <p:sp>
        <p:nvSpPr>
          <p:cNvPr id="27" name="Text 24"/>
          <p:cNvSpPr txBox="1"/>
          <p:nvPr/>
        </p:nvSpPr>
        <p:spPr>
          <a:xfrm>
            <a:off x="548640" y="2697480"/>
            <a:ext cx="11064240" cy="320040"/>
          </a:xfrm>
          <a:prstGeom prst="rect">
            <a:avLst/>
          </a:prstGeom>
          <a:noFill/>
          <a:ln/>
        </p:spPr>
        <p:txBody>
          <a:bodyPr wrap="square" lIns="0" tIns="0" rIns="0" bIns="0" rtlCol="0" anchor="t"/>
          <a:lstStyle/>
          <a:p>
            <a:pPr indent="0" marL="0">
              <a:buNone/>
            </a:pPr>
            <a:r>
              <a:rPr lang="en-US" sz="1200" i="1" dirty="0">
                <a:solidFill>
                  <a:srgbClr val="5B667F"/>
                </a:solidFill>
                <a:latin typeface="Calibri" pitchFamily="34" charset="0"/>
                <a:ea typeface="Calibri" pitchFamily="34" charset="-122"/>
                <a:cs typeface="Calibri" pitchFamily="34" charset="-120"/>
              </a:rPr>
              <a:t>tried in order  ·  a provider that rate-limits is skipped for two minutes  ·  the offline engine always answers</a:t>
            </a:r>
            <a:endParaRPr lang="en-US" sz="1200" dirty="0"/>
          </a:p>
        </p:txBody>
      </p:sp>
      <p:sp>
        <p:nvSpPr>
          <p:cNvPr id="28" name="Shape 25"/>
          <p:cNvSpPr/>
          <p:nvPr/>
        </p:nvSpPr>
        <p:spPr>
          <a:xfrm>
            <a:off x="548640" y="3291840"/>
            <a:ext cx="3520440" cy="2697480"/>
          </a:xfrm>
          <a:prstGeom prst="roundRect">
            <a:avLst>
              <a:gd name="adj" fmla="val 4068"/>
            </a:avLst>
          </a:prstGeom>
          <a:solidFill>
            <a:srgbClr val="0D1224"/>
          </a:solidFill>
          <a:ln w="9525">
            <a:solidFill>
              <a:srgbClr val="22305A"/>
            </a:solidFill>
            <a:prstDash val="solid"/>
          </a:ln>
        </p:spPr>
      </p:sp>
      <p:sp>
        <p:nvSpPr>
          <p:cNvPr id="29" name="Shape 26"/>
          <p:cNvSpPr/>
          <p:nvPr/>
        </p:nvSpPr>
        <p:spPr>
          <a:xfrm>
            <a:off x="822960" y="3566160"/>
            <a:ext cx="566928" cy="566928"/>
          </a:xfrm>
          <a:prstGeom prst="ellipse">
            <a:avLst/>
          </a:prstGeom>
          <a:solidFill>
            <a:srgbClr val="5EEAD4">
              <a:alpha val="20000"/>
            </a:srgbClr>
          </a:solidFill>
          <a:ln w="6350">
            <a:solidFill>
              <a:srgbClr val="5EEAD4">
                <a:alpha val="60000"/>
              </a:srgbClr>
            </a:solidFill>
            <a:prstDash val="solid"/>
          </a:ln>
        </p:spPr>
      </p:sp>
      <p:pic>
        <p:nvPicPr>
          <p:cNvPr id="30" name="Image 0" descr="preencoded.png">    </p:cNvPr>
          <p:cNvPicPr>
            <a:picLocks noChangeAspect="1"/>
          </p:cNvPicPr>
          <p:nvPr/>
        </p:nvPicPr>
        <p:blipFill>
          <a:blip r:embed="rId1"/>
          <a:stretch>
            <a:fillRect/>
          </a:stretch>
        </p:blipFill>
        <p:spPr>
          <a:xfrm>
            <a:off x="959023" y="3702223"/>
            <a:ext cx="294803" cy="294803"/>
          </a:xfrm>
          <a:prstGeom prst="rect">
            <a:avLst/>
          </a:prstGeom>
        </p:spPr>
      </p:pic>
      <p:sp>
        <p:nvSpPr>
          <p:cNvPr id="31" name="Text 27"/>
          <p:cNvSpPr txBox="1"/>
          <p:nvPr/>
        </p:nvSpPr>
        <p:spPr>
          <a:xfrm>
            <a:off x="822960" y="4297680"/>
            <a:ext cx="2971800" cy="594360"/>
          </a:xfrm>
          <a:prstGeom prst="rect">
            <a:avLst/>
          </a:prstGeom>
          <a:noFill/>
          <a:ln/>
        </p:spPr>
        <p:txBody>
          <a:bodyPr wrap="square" lIns="0" tIns="0" rIns="0" bIns="0" rtlCol="0" anchor="t"/>
          <a:lstStyle/>
          <a:p>
            <a:pPr indent="0" marL="0">
              <a:lnSpc>
                <a:spcPct val="105000"/>
              </a:lnSpc>
              <a:buNone/>
            </a:pPr>
            <a:r>
              <a:rPr lang="en-US" sz="1550" b="1" dirty="0">
                <a:solidFill>
                  <a:srgbClr val="E6EDF7"/>
                </a:solidFill>
                <a:latin typeface="Calibri" pitchFamily="34" charset="0"/>
                <a:ea typeface="Calibri" pitchFamily="34" charset="-122"/>
                <a:cs typeface="Calibri" pitchFamily="34" charset="-120"/>
              </a:rPr>
              <a:t>Any one free key unlocks conversation</a:t>
            </a:r>
            <a:endParaRPr lang="en-US" sz="1550" dirty="0"/>
          </a:p>
        </p:txBody>
      </p:sp>
      <p:sp>
        <p:nvSpPr>
          <p:cNvPr id="32" name="Text 28"/>
          <p:cNvSpPr txBox="1"/>
          <p:nvPr/>
        </p:nvSpPr>
        <p:spPr>
          <a:xfrm>
            <a:off x="822960" y="4937760"/>
            <a:ext cx="2971800" cy="100584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Without a key every command still works — the 80 offline rules never call the network. Add one key and IRIS starts chatting and chaining tools.</a:t>
            </a:r>
            <a:endParaRPr lang="en-US" sz="1250" dirty="0"/>
          </a:p>
        </p:txBody>
      </p:sp>
      <p:sp>
        <p:nvSpPr>
          <p:cNvPr id="33" name="Shape 29"/>
          <p:cNvSpPr/>
          <p:nvPr/>
        </p:nvSpPr>
        <p:spPr>
          <a:xfrm>
            <a:off x="4352544" y="3291840"/>
            <a:ext cx="3520440" cy="2697480"/>
          </a:xfrm>
          <a:prstGeom prst="roundRect">
            <a:avLst>
              <a:gd name="adj" fmla="val 4068"/>
            </a:avLst>
          </a:prstGeom>
          <a:solidFill>
            <a:srgbClr val="0D1224"/>
          </a:solidFill>
          <a:ln w="9525">
            <a:solidFill>
              <a:srgbClr val="22305A"/>
            </a:solidFill>
            <a:prstDash val="solid"/>
          </a:ln>
        </p:spPr>
      </p:sp>
      <p:sp>
        <p:nvSpPr>
          <p:cNvPr id="34" name="Shape 30"/>
          <p:cNvSpPr/>
          <p:nvPr/>
        </p:nvSpPr>
        <p:spPr>
          <a:xfrm>
            <a:off x="4626864" y="3566160"/>
            <a:ext cx="566928" cy="566928"/>
          </a:xfrm>
          <a:prstGeom prst="ellipse">
            <a:avLst/>
          </a:prstGeom>
          <a:solidFill>
            <a:srgbClr val="F4A259">
              <a:alpha val="20000"/>
            </a:srgbClr>
          </a:solidFill>
          <a:ln w="6350">
            <a:solidFill>
              <a:srgbClr val="F4A259">
                <a:alpha val="60000"/>
              </a:srgbClr>
            </a:solidFill>
            <a:prstDash val="solid"/>
          </a:ln>
        </p:spPr>
      </p:sp>
      <p:pic>
        <p:nvPicPr>
          <p:cNvPr id="35" name="Image 1" descr="preencoded.png">    </p:cNvPr>
          <p:cNvPicPr>
            <a:picLocks noChangeAspect="1"/>
          </p:cNvPicPr>
          <p:nvPr/>
        </p:nvPicPr>
        <p:blipFill>
          <a:blip r:embed="rId2"/>
          <a:stretch>
            <a:fillRect/>
          </a:stretch>
        </p:blipFill>
        <p:spPr>
          <a:xfrm>
            <a:off x="4762927" y="3702223"/>
            <a:ext cx="294803" cy="294803"/>
          </a:xfrm>
          <a:prstGeom prst="rect">
            <a:avLst/>
          </a:prstGeom>
        </p:spPr>
      </p:pic>
      <p:sp>
        <p:nvSpPr>
          <p:cNvPr id="36" name="Text 31"/>
          <p:cNvSpPr txBox="1"/>
          <p:nvPr/>
        </p:nvSpPr>
        <p:spPr>
          <a:xfrm>
            <a:off x="4626864" y="4297680"/>
            <a:ext cx="2971800" cy="594360"/>
          </a:xfrm>
          <a:prstGeom prst="rect">
            <a:avLst/>
          </a:prstGeom>
          <a:noFill/>
          <a:ln/>
        </p:spPr>
        <p:txBody>
          <a:bodyPr wrap="square" lIns="0" tIns="0" rIns="0" bIns="0" rtlCol="0" anchor="t"/>
          <a:lstStyle/>
          <a:p>
            <a:pPr indent="0" marL="0">
              <a:lnSpc>
                <a:spcPct val="105000"/>
              </a:lnSpc>
              <a:buNone/>
            </a:pPr>
            <a:r>
              <a:rPr lang="en-US" sz="1550" b="1" dirty="0">
                <a:solidFill>
                  <a:srgbClr val="E6EDF7"/>
                </a:solidFill>
                <a:latin typeface="Calibri" pitchFamily="34" charset="0"/>
                <a:ea typeface="Calibri" pitchFamily="34" charset="-122"/>
                <a:cs typeface="Calibri" pitchFamily="34" charset="-120"/>
              </a:rPr>
              <a:t>A circuit breaker keeps the demo alive</a:t>
            </a:r>
            <a:endParaRPr lang="en-US" sz="1550" dirty="0"/>
          </a:p>
        </p:txBody>
      </p:sp>
      <p:sp>
        <p:nvSpPr>
          <p:cNvPr id="37" name="Text 32"/>
          <p:cNvSpPr txBox="1"/>
          <p:nvPr/>
        </p:nvSpPr>
        <p:spPr>
          <a:xfrm>
            <a:off x="4626864" y="4937760"/>
            <a:ext cx="2971800" cy="100584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Free tiers meter tokens per minute. A failing provider is cooled down, the rest keep answering, and the transcript is always valid.</a:t>
            </a:r>
            <a:endParaRPr lang="en-US" sz="1250" dirty="0"/>
          </a:p>
        </p:txBody>
      </p:sp>
      <p:sp>
        <p:nvSpPr>
          <p:cNvPr id="38" name="Shape 33"/>
          <p:cNvSpPr/>
          <p:nvPr/>
        </p:nvSpPr>
        <p:spPr>
          <a:xfrm>
            <a:off x="8156448" y="3291840"/>
            <a:ext cx="3520440" cy="2697480"/>
          </a:xfrm>
          <a:prstGeom prst="roundRect">
            <a:avLst>
              <a:gd name="adj" fmla="val 4068"/>
            </a:avLst>
          </a:prstGeom>
          <a:solidFill>
            <a:srgbClr val="0D1224"/>
          </a:solidFill>
          <a:ln w="9525">
            <a:solidFill>
              <a:srgbClr val="22305A"/>
            </a:solidFill>
            <a:prstDash val="solid"/>
          </a:ln>
        </p:spPr>
      </p:sp>
      <p:sp>
        <p:nvSpPr>
          <p:cNvPr id="39" name="Shape 34"/>
          <p:cNvSpPr/>
          <p:nvPr/>
        </p:nvSpPr>
        <p:spPr>
          <a:xfrm>
            <a:off x="8430768" y="3566160"/>
            <a:ext cx="566928" cy="566928"/>
          </a:xfrm>
          <a:prstGeom prst="ellipse">
            <a:avLst/>
          </a:prstGeom>
          <a:solidFill>
            <a:srgbClr val="818CF8">
              <a:alpha val="20000"/>
            </a:srgbClr>
          </a:solidFill>
          <a:ln w="6350">
            <a:solidFill>
              <a:srgbClr val="818CF8">
                <a:alpha val="60000"/>
              </a:srgbClr>
            </a:solidFill>
            <a:prstDash val="solid"/>
          </a:ln>
        </p:spPr>
      </p:sp>
      <p:pic>
        <p:nvPicPr>
          <p:cNvPr id="40" name="Image 2" descr="preencoded.png">    </p:cNvPr>
          <p:cNvPicPr>
            <a:picLocks noChangeAspect="1"/>
          </p:cNvPicPr>
          <p:nvPr/>
        </p:nvPicPr>
        <p:blipFill>
          <a:blip r:embed="rId3"/>
          <a:stretch>
            <a:fillRect/>
          </a:stretch>
        </p:blipFill>
        <p:spPr>
          <a:xfrm>
            <a:off x="8566831" y="3702223"/>
            <a:ext cx="294803" cy="294803"/>
          </a:xfrm>
          <a:prstGeom prst="rect">
            <a:avLst/>
          </a:prstGeom>
        </p:spPr>
      </p:pic>
      <p:sp>
        <p:nvSpPr>
          <p:cNvPr id="41" name="Text 35"/>
          <p:cNvSpPr txBox="1"/>
          <p:nvPr/>
        </p:nvSpPr>
        <p:spPr>
          <a:xfrm>
            <a:off x="8430768" y="4297680"/>
            <a:ext cx="2971800" cy="594360"/>
          </a:xfrm>
          <a:prstGeom prst="rect">
            <a:avLst/>
          </a:prstGeom>
          <a:noFill/>
          <a:ln/>
        </p:spPr>
        <p:txBody>
          <a:bodyPr wrap="square" lIns="0" tIns="0" rIns="0" bIns="0" rtlCol="0" anchor="t"/>
          <a:lstStyle/>
          <a:p>
            <a:pPr indent="0" marL="0">
              <a:lnSpc>
                <a:spcPct val="105000"/>
              </a:lnSpc>
              <a:buNone/>
            </a:pPr>
            <a:r>
              <a:rPr lang="en-US" sz="1550" b="1" dirty="0">
                <a:solidFill>
                  <a:srgbClr val="E6EDF7"/>
                </a:solidFill>
                <a:latin typeface="Calibri" pitchFamily="34" charset="0"/>
                <a:ea typeface="Calibri" pitchFamily="34" charset="-122"/>
                <a:cs typeface="Calibri" pitchFamily="34" charset="-120"/>
              </a:rPr>
              <a:t>Keys never leave the laptop</a:t>
            </a:r>
            <a:endParaRPr lang="en-US" sz="1550" dirty="0"/>
          </a:p>
        </p:txBody>
      </p:sp>
      <p:sp>
        <p:nvSpPr>
          <p:cNvPr id="42" name="Text 36"/>
          <p:cNvSpPr txBox="1"/>
          <p:nvPr/>
        </p:nvSpPr>
        <p:spPr>
          <a:xfrm>
            <a:off x="8430768" y="4937760"/>
            <a:ext cx="2971800" cy="100584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They live in a local .env, are never written to logs, and the robot boards never see them — a board only ever receives a command.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06 · SAFETY</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It can drive your whole desktop — so it is guarded in depth</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07</a:t>
            </a:r>
            <a:endParaRPr lang="en-US" sz="900" dirty="0"/>
          </a:p>
        </p:txBody>
      </p:sp>
      <p:sp>
        <p:nvSpPr>
          <p:cNvPr id="7" name="Shape 4"/>
          <p:cNvSpPr/>
          <p:nvPr/>
        </p:nvSpPr>
        <p:spPr>
          <a:xfrm>
            <a:off x="548640" y="1783080"/>
            <a:ext cx="5394960" cy="1965960"/>
          </a:xfrm>
          <a:prstGeom prst="roundRect">
            <a:avLst>
              <a:gd name="adj" fmla="val 5581"/>
            </a:avLst>
          </a:prstGeom>
          <a:solidFill>
            <a:srgbClr val="0D1224"/>
          </a:solidFill>
          <a:ln w="9525">
            <a:solidFill>
              <a:srgbClr val="22305A"/>
            </a:solidFill>
            <a:prstDash val="solid"/>
          </a:ln>
        </p:spPr>
      </p:sp>
      <p:sp>
        <p:nvSpPr>
          <p:cNvPr id="8" name="Shape 5"/>
          <p:cNvSpPr/>
          <p:nvPr/>
        </p:nvSpPr>
        <p:spPr>
          <a:xfrm>
            <a:off x="822960" y="2057400"/>
            <a:ext cx="603504" cy="603504"/>
          </a:xfrm>
          <a:prstGeom prst="ellipse">
            <a:avLst/>
          </a:prstGeom>
          <a:solidFill>
            <a:srgbClr val="5EEAD4">
              <a:alpha val="20000"/>
            </a:srgbClr>
          </a:solidFill>
          <a:ln w="6350">
            <a:solidFill>
              <a:srgbClr val="5EEAD4">
                <a:alpha val="60000"/>
              </a:srgbClr>
            </a:solidFill>
            <a:prstDash val="solid"/>
          </a:ln>
        </p:spPr>
      </p:sp>
      <p:pic>
        <p:nvPicPr>
          <p:cNvPr id="9" name="Image 0" descr="preencoded.png">    </p:cNvPr>
          <p:cNvPicPr>
            <a:picLocks noChangeAspect="1"/>
          </p:cNvPicPr>
          <p:nvPr/>
        </p:nvPicPr>
        <p:blipFill>
          <a:blip r:embed="rId1"/>
          <a:stretch>
            <a:fillRect/>
          </a:stretch>
        </p:blipFill>
        <p:spPr>
          <a:xfrm>
            <a:off x="967801" y="2202241"/>
            <a:ext cx="313822" cy="313822"/>
          </a:xfrm>
          <a:prstGeom prst="rect">
            <a:avLst/>
          </a:prstGeom>
        </p:spPr>
      </p:pic>
      <p:sp>
        <p:nvSpPr>
          <p:cNvPr id="10" name="Text 6"/>
          <p:cNvSpPr txBox="1"/>
          <p:nvPr/>
        </p:nvSpPr>
        <p:spPr>
          <a:xfrm>
            <a:off x="1645920" y="2075688"/>
            <a:ext cx="4023360" cy="365760"/>
          </a:xfrm>
          <a:prstGeom prst="rect">
            <a:avLst/>
          </a:prstGeom>
          <a:noFill/>
          <a:ln/>
        </p:spPr>
        <p:txBody>
          <a:bodyPr wrap="square" lIns="0" tIns="0" rIns="0" bIns="0" rtlCol="0" anchor="t"/>
          <a:lstStyle/>
          <a:p>
            <a:pPr indent="0" marL="0">
              <a:buNone/>
            </a:pPr>
            <a:r>
              <a:rPr lang="en-US" sz="1700" b="1" dirty="0">
                <a:solidFill>
                  <a:srgbClr val="E6EDF7"/>
                </a:solidFill>
                <a:latin typeface="Calibri" pitchFamily="34" charset="0"/>
                <a:ea typeface="Calibri" pitchFamily="34" charset="-122"/>
                <a:cs typeface="Calibri" pitchFamily="34" charset="-120"/>
              </a:rPr>
              <a:t>Risk-graded permissions</a:t>
            </a:r>
            <a:endParaRPr lang="en-US" sz="1700" dirty="0"/>
          </a:p>
        </p:txBody>
      </p:sp>
      <p:sp>
        <p:nvSpPr>
          <p:cNvPr id="11" name="Text 7"/>
          <p:cNvSpPr txBox="1"/>
          <p:nvPr/>
        </p:nvSpPr>
        <p:spPr>
          <a:xfrm>
            <a:off x="1645920" y="2496312"/>
            <a:ext cx="4023360" cy="118872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Every tool declares its level — read, desktop action, confirm-required, high-risk. Shutdown needs an opt-in flag AND a confirmation click. Deletes always confirm.</a:t>
            </a:r>
            <a:endParaRPr lang="en-US" sz="1250" dirty="0"/>
          </a:p>
        </p:txBody>
      </p:sp>
      <p:sp>
        <p:nvSpPr>
          <p:cNvPr id="12" name="Shape 8"/>
          <p:cNvSpPr/>
          <p:nvPr/>
        </p:nvSpPr>
        <p:spPr>
          <a:xfrm>
            <a:off x="6217920" y="1783080"/>
            <a:ext cx="5394960" cy="1965960"/>
          </a:xfrm>
          <a:prstGeom prst="roundRect">
            <a:avLst>
              <a:gd name="adj" fmla="val 5581"/>
            </a:avLst>
          </a:prstGeom>
          <a:solidFill>
            <a:srgbClr val="0D1224"/>
          </a:solidFill>
          <a:ln w="9525">
            <a:solidFill>
              <a:srgbClr val="22305A"/>
            </a:solidFill>
            <a:prstDash val="solid"/>
          </a:ln>
        </p:spPr>
      </p:sp>
      <p:sp>
        <p:nvSpPr>
          <p:cNvPr id="13" name="Shape 9"/>
          <p:cNvSpPr/>
          <p:nvPr/>
        </p:nvSpPr>
        <p:spPr>
          <a:xfrm>
            <a:off x="6492240" y="2057400"/>
            <a:ext cx="603504" cy="603504"/>
          </a:xfrm>
          <a:prstGeom prst="ellipse">
            <a:avLst/>
          </a:prstGeom>
          <a:solidFill>
            <a:srgbClr val="818CF8">
              <a:alpha val="20000"/>
            </a:srgbClr>
          </a:solidFill>
          <a:ln w="6350">
            <a:solidFill>
              <a:srgbClr val="818CF8">
                <a:alpha val="60000"/>
              </a:srgbClr>
            </a:solidFill>
            <a:prstDash val="solid"/>
          </a:ln>
        </p:spPr>
      </p:sp>
      <p:pic>
        <p:nvPicPr>
          <p:cNvPr id="14" name="Image 1" descr="preencoded.png">    </p:cNvPr>
          <p:cNvPicPr>
            <a:picLocks noChangeAspect="1"/>
          </p:cNvPicPr>
          <p:nvPr/>
        </p:nvPicPr>
        <p:blipFill>
          <a:blip r:embed="rId2"/>
          <a:stretch>
            <a:fillRect/>
          </a:stretch>
        </p:blipFill>
        <p:spPr>
          <a:xfrm>
            <a:off x="6637081" y="2202241"/>
            <a:ext cx="313822" cy="313822"/>
          </a:xfrm>
          <a:prstGeom prst="rect">
            <a:avLst/>
          </a:prstGeom>
        </p:spPr>
      </p:pic>
      <p:sp>
        <p:nvSpPr>
          <p:cNvPr id="15" name="Text 10"/>
          <p:cNvSpPr txBox="1"/>
          <p:nvPr/>
        </p:nvSpPr>
        <p:spPr>
          <a:xfrm>
            <a:off x="7315200" y="2075688"/>
            <a:ext cx="4023360" cy="365760"/>
          </a:xfrm>
          <a:prstGeom prst="rect">
            <a:avLst/>
          </a:prstGeom>
          <a:noFill/>
          <a:ln/>
        </p:spPr>
        <p:txBody>
          <a:bodyPr wrap="square" lIns="0" tIns="0" rIns="0" bIns="0" rtlCol="0" anchor="t"/>
          <a:lstStyle/>
          <a:p>
            <a:pPr indent="0" marL="0">
              <a:buNone/>
            </a:pPr>
            <a:r>
              <a:rPr lang="en-US" sz="1700" b="1" dirty="0">
                <a:solidFill>
                  <a:srgbClr val="E6EDF7"/>
                </a:solidFill>
                <a:latin typeface="Calibri" pitchFamily="34" charset="0"/>
                <a:ea typeface="Calibri" pitchFamily="34" charset="-122"/>
                <a:cs typeface="Calibri" pitchFamily="34" charset="-120"/>
              </a:rPr>
              <a:t>Filesystem sandbox</a:t>
            </a:r>
            <a:endParaRPr lang="en-US" sz="1700" dirty="0"/>
          </a:p>
        </p:txBody>
      </p:sp>
      <p:sp>
        <p:nvSpPr>
          <p:cNvPr id="16" name="Text 11"/>
          <p:cNvSpPr txBox="1"/>
          <p:nvPr/>
        </p:nvSpPr>
        <p:spPr>
          <a:xfrm>
            <a:off x="7315200" y="2496312"/>
            <a:ext cx="4023360" cy="118872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File tools reach only your workspace and standard folders. ~/.ssh, key files and .env are blocked by pattern; symlinks are resolved before the check.</a:t>
            </a:r>
            <a:endParaRPr lang="en-US" sz="1250" dirty="0"/>
          </a:p>
        </p:txBody>
      </p:sp>
      <p:sp>
        <p:nvSpPr>
          <p:cNvPr id="17" name="Shape 12"/>
          <p:cNvSpPr/>
          <p:nvPr/>
        </p:nvSpPr>
        <p:spPr>
          <a:xfrm>
            <a:off x="548640" y="3977640"/>
            <a:ext cx="5394960" cy="1965960"/>
          </a:xfrm>
          <a:prstGeom prst="roundRect">
            <a:avLst>
              <a:gd name="adj" fmla="val 5581"/>
            </a:avLst>
          </a:prstGeom>
          <a:solidFill>
            <a:srgbClr val="0D1224"/>
          </a:solidFill>
          <a:ln w="9525">
            <a:solidFill>
              <a:srgbClr val="22305A"/>
            </a:solidFill>
            <a:prstDash val="solid"/>
          </a:ln>
        </p:spPr>
      </p:sp>
      <p:sp>
        <p:nvSpPr>
          <p:cNvPr id="18" name="Shape 13"/>
          <p:cNvSpPr/>
          <p:nvPr/>
        </p:nvSpPr>
        <p:spPr>
          <a:xfrm>
            <a:off x="822960" y="4251960"/>
            <a:ext cx="603504" cy="603504"/>
          </a:xfrm>
          <a:prstGeom prst="ellipse">
            <a:avLst/>
          </a:prstGeom>
          <a:solidFill>
            <a:srgbClr val="F4A259">
              <a:alpha val="20000"/>
            </a:srgbClr>
          </a:solidFill>
          <a:ln w="6350">
            <a:solidFill>
              <a:srgbClr val="F4A259">
                <a:alpha val="60000"/>
              </a:srgbClr>
            </a:solidFill>
            <a:prstDash val="solid"/>
          </a:ln>
        </p:spPr>
      </p:sp>
      <p:pic>
        <p:nvPicPr>
          <p:cNvPr id="19" name="Image 2" descr="preencoded.png">    </p:cNvPr>
          <p:cNvPicPr>
            <a:picLocks noChangeAspect="1"/>
          </p:cNvPicPr>
          <p:nvPr/>
        </p:nvPicPr>
        <p:blipFill>
          <a:blip r:embed="rId3"/>
          <a:stretch>
            <a:fillRect/>
          </a:stretch>
        </p:blipFill>
        <p:spPr>
          <a:xfrm>
            <a:off x="967801" y="4396801"/>
            <a:ext cx="313822" cy="313822"/>
          </a:xfrm>
          <a:prstGeom prst="rect">
            <a:avLst/>
          </a:prstGeom>
        </p:spPr>
      </p:pic>
      <p:sp>
        <p:nvSpPr>
          <p:cNvPr id="20" name="Text 14"/>
          <p:cNvSpPr txBox="1"/>
          <p:nvPr/>
        </p:nvSpPr>
        <p:spPr>
          <a:xfrm>
            <a:off x="1645920" y="4270248"/>
            <a:ext cx="4023360" cy="365760"/>
          </a:xfrm>
          <a:prstGeom prst="rect">
            <a:avLst/>
          </a:prstGeom>
          <a:noFill/>
          <a:ln/>
        </p:spPr>
        <p:txBody>
          <a:bodyPr wrap="square" lIns="0" tIns="0" rIns="0" bIns="0" rtlCol="0" anchor="t"/>
          <a:lstStyle/>
          <a:p>
            <a:pPr indent="0" marL="0">
              <a:buNone/>
            </a:pPr>
            <a:r>
              <a:rPr lang="en-US" sz="1700" b="1" dirty="0">
                <a:solidFill>
                  <a:srgbClr val="E6EDF7"/>
                </a:solidFill>
                <a:latin typeface="Calibri" pitchFamily="34" charset="0"/>
                <a:ea typeface="Calibri" pitchFamily="34" charset="-122"/>
                <a:cs typeface="Calibri" pitchFamily="34" charset="-120"/>
              </a:rPr>
              <a:t>Command policy</a:t>
            </a:r>
            <a:endParaRPr lang="en-US" sz="1700" dirty="0"/>
          </a:p>
        </p:txBody>
      </p:sp>
      <p:sp>
        <p:nvSpPr>
          <p:cNvPr id="21" name="Text 15"/>
          <p:cNvSpPr txBox="1"/>
          <p:nvPr/>
        </p:nvSpPr>
        <p:spPr>
          <a:xfrm>
            <a:off x="1645920" y="4690872"/>
            <a:ext cx="4023360" cy="118872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The shell tool is off by default. Even enabled, a hard denylist refuses rm -rf, fork bombs and curl | sh regardless of what any model says — and “run shutdown” cannot sneak through the app opener.</a:t>
            </a:r>
            <a:endParaRPr lang="en-US" sz="1250" dirty="0"/>
          </a:p>
        </p:txBody>
      </p:sp>
      <p:sp>
        <p:nvSpPr>
          <p:cNvPr id="22" name="Shape 16"/>
          <p:cNvSpPr/>
          <p:nvPr/>
        </p:nvSpPr>
        <p:spPr>
          <a:xfrm>
            <a:off x="6217920" y="3977640"/>
            <a:ext cx="5394960" cy="1965960"/>
          </a:xfrm>
          <a:prstGeom prst="roundRect">
            <a:avLst>
              <a:gd name="adj" fmla="val 5581"/>
            </a:avLst>
          </a:prstGeom>
          <a:solidFill>
            <a:srgbClr val="0D1224"/>
          </a:solidFill>
          <a:ln w="9525">
            <a:solidFill>
              <a:srgbClr val="22305A"/>
            </a:solidFill>
            <a:prstDash val="solid"/>
          </a:ln>
        </p:spPr>
      </p:sp>
      <p:sp>
        <p:nvSpPr>
          <p:cNvPr id="23" name="Shape 17"/>
          <p:cNvSpPr/>
          <p:nvPr/>
        </p:nvSpPr>
        <p:spPr>
          <a:xfrm>
            <a:off x="6492240" y="4251960"/>
            <a:ext cx="603504" cy="603504"/>
          </a:xfrm>
          <a:prstGeom prst="ellipse">
            <a:avLst/>
          </a:prstGeom>
          <a:solidFill>
            <a:srgbClr val="22D3EE">
              <a:alpha val="20000"/>
            </a:srgbClr>
          </a:solidFill>
          <a:ln w="6350">
            <a:solidFill>
              <a:srgbClr val="22D3EE">
                <a:alpha val="60000"/>
              </a:srgbClr>
            </a:solidFill>
            <a:prstDash val="solid"/>
          </a:ln>
        </p:spPr>
      </p:sp>
      <p:pic>
        <p:nvPicPr>
          <p:cNvPr id="24" name="Image 3" descr="preencoded.png">    </p:cNvPr>
          <p:cNvPicPr>
            <a:picLocks noChangeAspect="1"/>
          </p:cNvPicPr>
          <p:nvPr/>
        </p:nvPicPr>
        <p:blipFill>
          <a:blip r:embed="rId4"/>
          <a:stretch>
            <a:fillRect/>
          </a:stretch>
        </p:blipFill>
        <p:spPr>
          <a:xfrm>
            <a:off x="6637081" y="4396801"/>
            <a:ext cx="313822" cy="313822"/>
          </a:xfrm>
          <a:prstGeom prst="rect">
            <a:avLst/>
          </a:prstGeom>
        </p:spPr>
      </p:pic>
      <p:sp>
        <p:nvSpPr>
          <p:cNvPr id="25" name="Text 18"/>
          <p:cNvSpPr txBox="1"/>
          <p:nvPr/>
        </p:nvSpPr>
        <p:spPr>
          <a:xfrm>
            <a:off x="7315200" y="4270248"/>
            <a:ext cx="4023360" cy="365760"/>
          </a:xfrm>
          <a:prstGeom prst="rect">
            <a:avLst/>
          </a:prstGeom>
          <a:noFill/>
          <a:ln/>
        </p:spPr>
        <p:txBody>
          <a:bodyPr wrap="square" lIns="0" tIns="0" rIns="0" bIns="0" rtlCol="0" anchor="t"/>
          <a:lstStyle/>
          <a:p>
            <a:pPr indent="0" marL="0">
              <a:buNone/>
            </a:pPr>
            <a:r>
              <a:rPr lang="en-US" sz="1700" b="1" dirty="0">
                <a:solidFill>
                  <a:srgbClr val="E6EDF7"/>
                </a:solidFill>
                <a:latin typeface="Calibri" pitchFamily="34" charset="0"/>
                <a:ea typeface="Calibri" pitchFamily="34" charset="-122"/>
                <a:cs typeface="Calibri" pitchFamily="34" charset="-120"/>
              </a:rPr>
              <a:t>Network boundaries</a:t>
            </a:r>
            <a:endParaRPr lang="en-US" sz="1700" dirty="0"/>
          </a:p>
        </p:txBody>
      </p:sp>
      <p:sp>
        <p:nvSpPr>
          <p:cNvPr id="26" name="Text 19"/>
          <p:cNvSpPr txBox="1"/>
          <p:nvPr/>
        </p:nvSpPr>
        <p:spPr>
          <a:xfrm>
            <a:off x="7315200" y="4690872"/>
            <a:ext cx="4023360" cy="118872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Device commands go only to private addresses. Phone and LAN access need a bearer token; the boards' own link needs a second, separate token.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07 · THE INTERFACE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A face on the screen, too</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08</a:t>
            </a:r>
            <a:endParaRPr lang="en-US" sz="900" dirty="0"/>
          </a:p>
        </p:txBody>
      </p:sp>
      <p:pic>
        <p:nvPicPr>
          <p:cNvPr id="7" name="Image 0" descr="ui.png">    </p:cNvPr>
          <p:cNvPicPr>
            <a:picLocks noChangeAspect="1"/>
          </p:cNvPicPr>
          <p:nvPr/>
        </p:nvPicPr>
        <p:blipFill>
          <a:blip r:embed="rId1"/>
          <a:stretch>
            <a:fillRect/>
          </a:stretch>
        </p:blipFill>
        <p:spPr>
          <a:xfrm>
            <a:off x="548640" y="1691640"/>
            <a:ext cx="7040880" cy="4398264"/>
          </a:xfrm>
          <a:prstGeom prst="rect">
            <a:avLst/>
          </a:prstGeom>
        </p:spPr>
      </p:pic>
      <p:sp>
        <p:nvSpPr>
          <p:cNvPr id="8" name="Shape 4"/>
          <p:cNvSpPr/>
          <p:nvPr/>
        </p:nvSpPr>
        <p:spPr>
          <a:xfrm>
            <a:off x="7955280" y="1728216"/>
            <a:ext cx="530352" cy="530352"/>
          </a:xfrm>
          <a:prstGeom prst="ellipse">
            <a:avLst/>
          </a:prstGeom>
          <a:solidFill>
            <a:srgbClr val="5EEAD4">
              <a:alpha val="20000"/>
            </a:srgbClr>
          </a:solidFill>
          <a:ln w="6350">
            <a:solidFill>
              <a:srgbClr val="5EEAD4">
                <a:alpha val="60000"/>
              </a:srgbClr>
            </a:solidFill>
            <a:prstDash val="solid"/>
          </a:ln>
        </p:spPr>
      </p:sp>
      <p:pic>
        <p:nvPicPr>
          <p:cNvPr id="9" name="Image 1" descr="preencoded.png">    </p:cNvPr>
          <p:cNvPicPr>
            <a:picLocks noChangeAspect="1"/>
          </p:cNvPicPr>
          <p:nvPr/>
        </p:nvPicPr>
        <p:blipFill>
          <a:blip r:embed="rId2"/>
          <a:stretch>
            <a:fillRect/>
          </a:stretch>
        </p:blipFill>
        <p:spPr>
          <a:xfrm>
            <a:off x="8082564" y="1855500"/>
            <a:ext cx="275783" cy="275783"/>
          </a:xfrm>
          <a:prstGeom prst="rect">
            <a:avLst/>
          </a:prstGeom>
        </p:spPr>
      </p:pic>
      <p:sp>
        <p:nvSpPr>
          <p:cNvPr id="10" name="Text 5"/>
          <p:cNvSpPr txBox="1"/>
          <p:nvPr/>
        </p:nvSpPr>
        <p:spPr>
          <a:xfrm>
            <a:off x="8714232" y="1691640"/>
            <a:ext cx="2898648" cy="310896"/>
          </a:xfrm>
          <a:prstGeom prst="rect">
            <a:avLst/>
          </a:prstGeom>
          <a:noFill/>
          <a:ln/>
        </p:spPr>
        <p:txBody>
          <a:bodyPr wrap="square" lIns="0" tIns="0" rIns="0" bIns="0" rtlCol="0" anchor="t"/>
          <a:lstStyle/>
          <a:p>
            <a:pPr indent="0" marL="0">
              <a:buNone/>
            </a:pPr>
            <a:r>
              <a:rPr lang="en-US" sz="1500" b="1" dirty="0">
                <a:solidFill>
                  <a:srgbClr val="E6EDF7"/>
                </a:solidFill>
                <a:latin typeface="Calibri" pitchFamily="34" charset="0"/>
                <a:ea typeface="Calibri" pitchFamily="34" charset="-122"/>
                <a:cs typeface="Calibri" pitchFamily="34" charset="-120"/>
              </a:rPr>
              <a:t>A sphere that shows its state</a:t>
            </a:r>
            <a:endParaRPr lang="en-US" sz="1500" dirty="0"/>
          </a:p>
        </p:txBody>
      </p:sp>
      <p:sp>
        <p:nvSpPr>
          <p:cNvPr id="11" name="Text 6"/>
          <p:cNvSpPr txBox="1"/>
          <p:nvPr/>
        </p:nvSpPr>
        <p:spPr>
          <a:xfrm>
            <a:off x="8714232" y="2020824"/>
            <a:ext cx="2898648" cy="8686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Drifts when idle, blooms when listening, swirls while thinking, pulses as it speaks.</a:t>
            </a:r>
            <a:endParaRPr lang="en-US" sz="1250" dirty="0"/>
          </a:p>
        </p:txBody>
      </p:sp>
      <p:sp>
        <p:nvSpPr>
          <p:cNvPr id="12" name="Shape 7"/>
          <p:cNvSpPr/>
          <p:nvPr/>
        </p:nvSpPr>
        <p:spPr>
          <a:xfrm>
            <a:off x="7955280" y="3209544"/>
            <a:ext cx="530352" cy="530352"/>
          </a:xfrm>
          <a:prstGeom prst="ellipse">
            <a:avLst/>
          </a:prstGeom>
          <a:solidFill>
            <a:srgbClr val="818CF8">
              <a:alpha val="20000"/>
            </a:srgbClr>
          </a:solidFill>
          <a:ln w="6350">
            <a:solidFill>
              <a:srgbClr val="818CF8">
                <a:alpha val="60000"/>
              </a:srgbClr>
            </a:solidFill>
            <a:prstDash val="solid"/>
          </a:ln>
        </p:spPr>
      </p:sp>
      <p:pic>
        <p:nvPicPr>
          <p:cNvPr id="13" name="Image 2" descr="preencoded.png">    </p:cNvPr>
          <p:cNvPicPr>
            <a:picLocks noChangeAspect="1"/>
          </p:cNvPicPr>
          <p:nvPr/>
        </p:nvPicPr>
        <p:blipFill>
          <a:blip r:embed="rId3"/>
          <a:stretch>
            <a:fillRect/>
          </a:stretch>
        </p:blipFill>
        <p:spPr>
          <a:xfrm>
            <a:off x="8082564" y="3336828"/>
            <a:ext cx="275783" cy="275783"/>
          </a:xfrm>
          <a:prstGeom prst="rect">
            <a:avLst/>
          </a:prstGeom>
        </p:spPr>
      </p:pic>
      <p:sp>
        <p:nvSpPr>
          <p:cNvPr id="14" name="Text 8"/>
          <p:cNvSpPr txBox="1"/>
          <p:nvPr/>
        </p:nvSpPr>
        <p:spPr>
          <a:xfrm>
            <a:off x="8714232" y="3172968"/>
            <a:ext cx="2898648" cy="310896"/>
          </a:xfrm>
          <a:prstGeom prst="rect">
            <a:avLst/>
          </a:prstGeom>
          <a:noFill/>
          <a:ln/>
        </p:spPr>
        <p:txBody>
          <a:bodyPr wrap="square" lIns="0" tIns="0" rIns="0" bIns="0" rtlCol="0" anchor="t"/>
          <a:lstStyle/>
          <a:p>
            <a:pPr indent="0" marL="0">
              <a:buNone/>
            </a:pPr>
            <a:r>
              <a:rPr lang="en-US" sz="1500" b="1" dirty="0">
                <a:solidFill>
                  <a:srgbClr val="E6EDF7"/>
                </a:solidFill>
                <a:latin typeface="Calibri" pitchFamily="34" charset="0"/>
                <a:ea typeface="Calibri" pitchFamily="34" charset="-122"/>
                <a:cs typeface="Calibri" pitchFamily="34" charset="-120"/>
              </a:rPr>
              <a:t>Five specialists</a:t>
            </a:r>
            <a:endParaRPr lang="en-US" sz="1500" dirty="0"/>
          </a:p>
        </p:txBody>
      </p:sp>
      <p:sp>
        <p:nvSpPr>
          <p:cNvPr id="15" name="Text 9"/>
          <p:cNvSpPr txBox="1"/>
          <p:nvPr/>
        </p:nvSpPr>
        <p:spPr>
          <a:xfrm>
            <a:off x="8714232" y="3502152"/>
            <a:ext cx="2898648" cy="8686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Operator, Scout, Scribe, Relay, Sentinel — the one whose tools are running lights up.</a:t>
            </a:r>
            <a:endParaRPr lang="en-US" sz="1250" dirty="0"/>
          </a:p>
        </p:txBody>
      </p:sp>
      <p:sp>
        <p:nvSpPr>
          <p:cNvPr id="16" name="Shape 10"/>
          <p:cNvSpPr/>
          <p:nvPr/>
        </p:nvSpPr>
        <p:spPr>
          <a:xfrm>
            <a:off x="7955280" y="4690872"/>
            <a:ext cx="530352" cy="530352"/>
          </a:xfrm>
          <a:prstGeom prst="ellipse">
            <a:avLst/>
          </a:prstGeom>
          <a:solidFill>
            <a:srgbClr val="F4A259">
              <a:alpha val="20000"/>
            </a:srgbClr>
          </a:solidFill>
          <a:ln w="6350">
            <a:solidFill>
              <a:srgbClr val="F4A259">
                <a:alpha val="60000"/>
              </a:srgbClr>
            </a:solidFill>
            <a:prstDash val="solid"/>
          </a:ln>
        </p:spPr>
      </p:sp>
      <p:pic>
        <p:nvPicPr>
          <p:cNvPr id="17" name="Image 3" descr="preencoded.png">    </p:cNvPr>
          <p:cNvPicPr>
            <a:picLocks noChangeAspect="1"/>
          </p:cNvPicPr>
          <p:nvPr/>
        </p:nvPicPr>
        <p:blipFill>
          <a:blip r:embed="rId4"/>
          <a:stretch>
            <a:fillRect/>
          </a:stretch>
        </p:blipFill>
        <p:spPr>
          <a:xfrm>
            <a:off x="8082564" y="4818156"/>
            <a:ext cx="275783" cy="275783"/>
          </a:xfrm>
          <a:prstGeom prst="rect">
            <a:avLst/>
          </a:prstGeom>
        </p:spPr>
      </p:pic>
      <p:sp>
        <p:nvSpPr>
          <p:cNvPr id="18" name="Text 11"/>
          <p:cNvSpPr txBox="1"/>
          <p:nvPr/>
        </p:nvSpPr>
        <p:spPr>
          <a:xfrm>
            <a:off x="8714232" y="4654296"/>
            <a:ext cx="2898648" cy="310896"/>
          </a:xfrm>
          <a:prstGeom prst="rect">
            <a:avLst/>
          </a:prstGeom>
          <a:noFill/>
          <a:ln/>
        </p:spPr>
        <p:txBody>
          <a:bodyPr wrap="square" lIns="0" tIns="0" rIns="0" bIns="0" rtlCol="0" anchor="t"/>
          <a:lstStyle/>
          <a:p>
            <a:pPr indent="0" marL="0">
              <a:buNone/>
            </a:pPr>
            <a:r>
              <a:rPr lang="en-US" sz="1500" b="1" dirty="0">
                <a:solidFill>
                  <a:srgbClr val="E6EDF7"/>
                </a:solidFill>
                <a:latin typeface="Calibri" pitchFamily="34" charset="0"/>
                <a:ea typeface="Calibri" pitchFamily="34" charset="-122"/>
                <a:cs typeface="Calibri" pitchFamily="34" charset="-120"/>
              </a:rPr>
              <a:t>Any browser, any phone</a:t>
            </a:r>
            <a:endParaRPr lang="en-US" sz="1500" dirty="0"/>
          </a:p>
        </p:txBody>
      </p:sp>
      <p:sp>
        <p:nvSpPr>
          <p:cNvPr id="19" name="Text 12"/>
          <p:cNvSpPr txBox="1"/>
          <p:nvPr/>
        </p:nvSpPr>
        <p:spPr>
          <a:xfrm>
            <a:off x="8714232" y="4983480"/>
            <a:ext cx="2898648" cy="8686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Pair a phone by QR. Voice works with zero installs. A Telegram bot reaches it from anywhere.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08 · BODY ONE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The robot base</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09</a:t>
            </a:r>
            <a:endParaRPr lang="en-US" sz="900" dirty="0"/>
          </a:p>
        </p:txBody>
      </p:sp>
      <p:sp>
        <p:nvSpPr>
          <p:cNvPr id="7" name="Shape 4"/>
          <p:cNvSpPr/>
          <p:nvPr/>
        </p:nvSpPr>
        <p:spPr>
          <a:xfrm>
            <a:off x="548640" y="1819656"/>
            <a:ext cx="530352" cy="530352"/>
          </a:xfrm>
          <a:prstGeom prst="ellipse">
            <a:avLst/>
          </a:prstGeom>
          <a:solidFill>
            <a:srgbClr val="F4A259">
              <a:alpha val="20000"/>
            </a:srgbClr>
          </a:solidFill>
          <a:ln w="6350">
            <a:solidFill>
              <a:srgbClr val="F4A259">
                <a:alpha val="60000"/>
              </a:srgbClr>
            </a:solidFill>
            <a:prstDash val="solid"/>
          </a:ln>
        </p:spPr>
      </p:sp>
      <p:pic>
        <p:nvPicPr>
          <p:cNvPr id="8" name="Image 0" descr="preencoded.png">    </p:cNvPr>
          <p:cNvPicPr>
            <a:picLocks noChangeAspect="1"/>
          </p:cNvPicPr>
          <p:nvPr/>
        </p:nvPicPr>
        <p:blipFill>
          <a:blip r:embed="rId1"/>
          <a:stretch>
            <a:fillRect/>
          </a:stretch>
        </p:blipFill>
        <p:spPr>
          <a:xfrm>
            <a:off x="675924" y="1946940"/>
            <a:ext cx="275783" cy="275783"/>
          </a:xfrm>
          <a:prstGeom prst="rect">
            <a:avLst/>
          </a:prstGeom>
        </p:spPr>
      </p:pic>
      <p:sp>
        <p:nvSpPr>
          <p:cNvPr id="9" name="Text 5"/>
          <p:cNvSpPr txBox="1"/>
          <p:nvPr/>
        </p:nvSpPr>
        <p:spPr>
          <a:xfrm>
            <a:off x="1307592" y="1783080"/>
            <a:ext cx="5550408" cy="310896"/>
          </a:xfrm>
          <a:prstGeom prst="rect">
            <a:avLst/>
          </a:prstGeom>
          <a:noFill/>
          <a:ln/>
        </p:spPr>
        <p:txBody>
          <a:bodyPr wrap="square" lIns="0" tIns="0" rIns="0" bIns="0" rtlCol="0" anchor="t"/>
          <a:lstStyle/>
          <a:p>
            <a:pPr indent="0" marL="0">
              <a:buNone/>
            </a:pPr>
            <a:r>
              <a:rPr lang="en-US" sz="1550" b="1" dirty="0">
                <a:solidFill>
                  <a:srgbClr val="E6EDF7"/>
                </a:solidFill>
                <a:latin typeface="Calibri" pitchFamily="34" charset="0"/>
                <a:ea typeface="Calibri" pitchFamily="34" charset="-122"/>
                <a:cs typeface="Calibri" pitchFamily="34" charset="-120"/>
              </a:rPr>
              <a:t>ESP32 + two BTS7960 drivers</a:t>
            </a:r>
            <a:endParaRPr lang="en-US" sz="1550" dirty="0"/>
          </a:p>
        </p:txBody>
      </p:sp>
      <p:sp>
        <p:nvSpPr>
          <p:cNvPr id="10" name="Text 6"/>
          <p:cNvSpPr txBox="1"/>
          <p:nvPr/>
        </p:nvSpPr>
        <p:spPr>
          <a:xfrm>
            <a:off x="1307592" y="2112264"/>
            <a:ext cx="5550408" cy="6400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Four DC motors, two per side, skid steer. 20 kHz PWM so nothing whines.</a:t>
            </a:r>
            <a:endParaRPr lang="en-US" sz="1250" dirty="0"/>
          </a:p>
        </p:txBody>
      </p:sp>
      <p:sp>
        <p:nvSpPr>
          <p:cNvPr id="11" name="Shape 7"/>
          <p:cNvSpPr/>
          <p:nvPr/>
        </p:nvSpPr>
        <p:spPr>
          <a:xfrm>
            <a:off x="548640" y="2916936"/>
            <a:ext cx="530352" cy="530352"/>
          </a:xfrm>
          <a:prstGeom prst="ellipse">
            <a:avLst/>
          </a:prstGeom>
          <a:solidFill>
            <a:srgbClr val="FB7185">
              <a:alpha val="20000"/>
            </a:srgbClr>
          </a:solidFill>
          <a:ln w="6350">
            <a:solidFill>
              <a:srgbClr val="FB7185">
                <a:alpha val="60000"/>
              </a:srgbClr>
            </a:solidFill>
            <a:prstDash val="solid"/>
          </a:ln>
        </p:spPr>
      </p:sp>
      <p:pic>
        <p:nvPicPr>
          <p:cNvPr id="12" name="Image 1" descr="preencoded.png">    </p:cNvPr>
          <p:cNvPicPr>
            <a:picLocks noChangeAspect="1"/>
          </p:cNvPicPr>
          <p:nvPr/>
        </p:nvPicPr>
        <p:blipFill>
          <a:blip r:embed="rId2"/>
          <a:stretch>
            <a:fillRect/>
          </a:stretch>
        </p:blipFill>
        <p:spPr>
          <a:xfrm>
            <a:off x="675924" y="3044220"/>
            <a:ext cx="275783" cy="275783"/>
          </a:xfrm>
          <a:prstGeom prst="rect">
            <a:avLst/>
          </a:prstGeom>
        </p:spPr>
      </p:pic>
      <p:sp>
        <p:nvSpPr>
          <p:cNvPr id="13" name="Text 8"/>
          <p:cNvSpPr txBox="1"/>
          <p:nvPr/>
        </p:nvSpPr>
        <p:spPr>
          <a:xfrm>
            <a:off x="1307592" y="2880360"/>
            <a:ext cx="5550408" cy="310896"/>
          </a:xfrm>
          <a:prstGeom prst="rect">
            <a:avLst/>
          </a:prstGeom>
          <a:noFill/>
          <a:ln/>
        </p:spPr>
        <p:txBody>
          <a:bodyPr wrap="square" lIns="0" tIns="0" rIns="0" bIns="0" rtlCol="0" anchor="t"/>
          <a:lstStyle/>
          <a:p>
            <a:pPr indent="0" marL="0">
              <a:buNone/>
            </a:pPr>
            <a:r>
              <a:rPr lang="en-US" sz="1550" b="1" dirty="0">
                <a:solidFill>
                  <a:srgbClr val="E6EDF7"/>
                </a:solidFill>
                <a:latin typeface="Calibri" pitchFamily="34" charset="0"/>
                <a:ea typeface="Calibri" pitchFamily="34" charset="-122"/>
                <a:cs typeface="Calibri" pitchFamily="34" charset="-120"/>
              </a:rPr>
              <a:t>Fail-safe on the board</a:t>
            </a:r>
            <a:endParaRPr lang="en-US" sz="1550" dirty="0"/>
          </a:p>
        </p:txBody>
      </p:sp>
      <p:sp>
        <p:nvSpPr>
          <p:cNvPr id="14" name="Text 9"/>
          <p:cNvSpPr txBox="1"/>
          <p:nvPr/>
        </p:nvSpPr>
        <p:spPr>
          <a:xfrm>
            <a:off x="1307592" y="3209544"/>
            <a:ext cx="5550408" cy="6400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Every move carries a deadline. Lose WiFi mid-drive and it stops by itself — the laptop is never trusted to say stop.</a:t>
            </a:r>
            <a:endParaRPr lang="en-US" sz="1250" dirty="0"/>
          </a:p>
        </p:txBody>
      </p:sp>
      <p:sp>
        <p:nvSpPr>
          <p:cNvPr id="15" name="Shape 10"/>
          <p:cNvSpPr/>
          <p:nvPr/>
        </p:nvSpPr>
        <p:spPr>
          <a:xfrm>
            <a:off x="548640" y="4014216"/>
            <a:ext cx="530352" cy="530352"/>
          </a:xfrm>
          <a:prstGeom prst="ellipse">
            <a:avLst/>
          </a:prstGeom>
          <a:solidFill>
            <a:srgbClr val="5EEAD4">
              <a:alpha val="20000"/>
            </a:srgbClr>
          </a:solidFill>
          <a:ln w="6350">
            <a:solidFill>
              <a:srgbClr val="5EEAD4">
                <a:alpha val="60000"/>
              </a:srgbClr>
            </a:solidFill>
            <a:prstDash val="solid"/>
          </a:ln>
        </p:spPr>
      </p:sp>
      <p:pic>
        <p:nvPicPr>
          <p:cNvPr id="16" name="Image 2" descr="preencoded.png">    </p:cNvPr>
          <p:cNvPicPr>
            <a:picLocks noChangeAspect="1"/>
          </p:cNvPicPr>
          <p:nvPr/>
        </p:nvPicPr>
        <p:blipFill>
          <a:blip r:embed="rId3"/>
          <a:stretch>
            <a:fillRect/>
          </a:stretch>
        </p:blipFill>
        <p:spPr>
          <a:xfrm>
            <a:off x="675924" y="4141500"/>
            <a:ext cx="275783" cy="275783"/>
          </a:xfrm>
          <a:prstGeom prst="rect">
            <a:avLst/>
          </a:prstGeom>
        </p:spPr>
      </p:pic>
      <p:sp>
        <p:nvSpPr>
          <p:cNvPr id="17" name="Text 11"/>
          <p:cNvSpPr txBox="1"/>
          <p:nvPr/>
        </p:nvSpPr>
        <p:spPr>
          <a:xfrm>
            <a:off x="1307592" y="3977640"/>
            <a:ext cx="5550408" cy="310896"/>
          </a:xfrm>
          <a:prstGeom prst="rect">
            <a:avLst/>
          </a:prstGeom>
          <a:noFill/>
          <a:ln/>
        </p:spPr>
        <p:txBody>
          <a:bodyPr wrap="square" lIns="0" tIns="0" rIns="0" bIns="0" rtlCol="0" anchor="t"/>
          <a:lstStyle/>
          <a:p>
            <a:pPr indent="0" marL="0">
              <a:buNone/>
            </a:pPr>
            <a:r>
              <a:rPr lang="en-US" sz="1550" b="1" dirty="0">
                <a:solidFill>
                  <a:srgbClr val="E6EDF7"/>
                </a:solidFill>
                <a:latin typeface="Calibri" pitchFamily="34" charset="0"/>
                <a:ea typeface="Calibri" pitchFamily="34" charset="-122"/>
                <a:cs typeface="Calibri" pitchFamily="34" charset="-120"/>
              </a:rPr>
              <a:t>Soft ramp, 90 ms</a:t>
            </a:r>
            <a:endParaRPr lang="en-US" sz="1550" dirty="0"/>
          </a:p>
        </p:txBody>
      </p:sp>
      <p:sp>
        <p:nvSpPr>
          <p:cNvPr id="18" name="Text 12"/>
          <p:cNvSpPr txBox="1"/>
          <p:nvPr/>
        </p:nvSpPr>
        <p:spPr>
          <a:xfrm>
            <a:off x="1307592" y="4306824"/>
            <a:ext cx="5550408" cy="6400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Four motors starting at once would brown out the board. A short ramp makes it snappy without the reset.</a:t>
            </a:r>
            <a:endParaRPr lang="en-US" sz="1250" dirty="0"/>
          </a:p>
        </p:txBody>
      </p:sp>
      <p:sp>
        <p:nvSpPr>
          <p:cNvPr id="19" name="Shape 13"/>
          <p:cNvSpPr/>
          <p:nvPr/>
        </p:nvSpPr>
        <p:spPr>
          <a:xfrm>
            <a:off x="548640" y="5111496"/>
            <a:ext cx="530352" cy="530352"/>
          </a:xfrm>
          <a:prstGeom prst="ellipse">
            <a:avLst/>
          </a:prstGeom>
          <a:solidFill>
            <a:srgbClr val="818CF8">
              <a:alpha val="20000"/>
            </a:srgbClr>
          </a:solidFill>
          <a:ln w="6350">
            <a:solidFill>
              <a:srgbClr val="818CF8">
                <a:alpha val="60000"/>
              </a:srgbClr>
            </a:solidFill>
            <a:prstDash val="solid"/>
          </a:ln>
        </p:spPr>
      </p:sp>
      <p:pic>
        <p:nvPicPr>
          <p:cNvPr id="20" name="Image 3" descr="preencoded.png">    </p:cNvPr>
          <p:cNvPicPr>
            <a:picLocks noChangeAspect="1"/>
          </p:cNvPicPr>
          <p:nvPr/>
        </p:nvPicPr>
        <p:blipFill>
          <a:blip r:embed="rId4"/>
          <a:stretch>
            <a:fillRect/>
          </a:stretch>
        </p:blipFill>
        <p:spPr>
          <a:xfrm>
            <a:off x="675924" y="5238780"/>
            <a:ext cx="275783" cy="275783"/>
          </a:xfrm>
          <a:prstGeom prst="rect">
            <a:avLst/>
          </a:prstGeom>
        </p:spPr>
      </p:pic>
      <p:sp>
        <p:nvSpPr>
          <p:cNvPr id="21" name="Text 14"/>
          <p:cNvSpPr txBox="1"/>
          <p:nvPr/>
        </p:nvSpPr>
        <p:spPr>
          <a:xfrm>
            <a:off x="1307592" y="5074920"/>
            <a:ext cx="5550408" cy="310896"/>
          </a:xfrm>
          <a:prstGeom prst="rect">
            <a:avLst/>
          </a:prstGeom>
          <a:noFill/>
          <a:ln/>
        </p:spPr>
        <p:txBody>
          <a:bodyPr wrap="square" lIns="0" tIns="0" rIns="0" bIns="0" rtlCol="0" anchor="t"/>
          <a:lstStyle/>
          <a:p>
            <a:pPr indent="0" marL="0">
              <a:buNone/>
            </a:pPr>
            <a:r>
              <a:rPr lang="en-US" sz="1550" b="1" dirty="0">
                <a:solidFill>
                  <a:srgbClr val="E6EDF7"/>
                </a:solidFill>
                <a:latin typeface="Calibri" pitchFamily="34" charset="0"/>
                <a:ea typeface="Calibri" pitchFamily="34" charset="-122"/>
                <a:cs typeface="Calibri" pitchFamily="34" charset="-120"/>
              </a:rPr>
              <a:t>Calibrate from its own page</a:t>
            </a:r>
            <a:endParaRPr lang="en-US" sz="1550" dirty="0"/>
          </a:p>
        </p:txBody>
      </p:sp>
      <p:sp>
        <p:nvSpPr>
          <p:cNvPr id="22" name="Text 15"/>
          <p:cNvSpPr txBox="1"/>
          <p:nvPr/>
        </p:nvSpPr>
        <p:spPr>
          <a:xfrm>
            <a:off x="1307592" y="5404104"/>
            <a:ext cx="5550408" cy="64008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Swap sides, invert, trim, ramp — saved to flash. Wrong-way wheels are fixed in a browser, never with a soldering iron.</a:t>
            </a:r>
            <a:endParaRPr lang="en-US" sz="1250" dirty="0"/>
          </a:p>
        </p:txBody>
      </p:sp>
      <p:pic>
        <p:nvPicPr>
          <p:cNvPr id="23" name="Image 4" descr="robot-crop.png">    </p:cNvPr>
          <p:cNvPicPr>
            <a:picLocks noChangeAspect="1"/>
          </p:cNvPicPr>
          <p:nvPr/>
        </p:nvPicPr>
        <p:blipFill>
          <a:blip r:embed="rId5"/>
          <a:stretch>
            <a:fillRect/>
          </a:stretch>
        </p:blipFill>
        <p:spPr>
          <a:xfrm>
            <a:off x="7406640" y="1691640"/>
            <a:ext cx="4224528" cy="3950208"/>
          </a:xfrm>
          <a:prstGeom prst="rect">
            <a:avLst/>
          </a:prstGeom>
        </p:spPr>
      </p:pic>
      <p:sp>
        <p:nvSpPr>
          <p:cNvPr id="24" name="Text 16"/>
          <p:cNvSpPr txBox="1"/>
          <p:nvPr/>
        </p:nvSpPr>
        <p:spPr>
          <a:xfrm>
            <a:off x="7406640" y="5715000"/>
            <a:ext cx="4224528" cy="274320"/>
          </a:xfrm>
          <a:prstGeom prst="rect">
            <a:avLst/>
          </a:prstGeom>
          <a:noFill/>
          <a:ln/>
        </p:spPr>
        <p:txBody>
          <a:bodyPr wrap="square" lIns="0" tIns="0" rIns="0" bIns="0" rtlCol="0" anchor="t"/>
          <a:lstStyle/>
          <a:p>
            <a:pPr algn="ctr" indent="0" marL="0">
              <a:buNone/>
            </a:pPr>
            <a:r>
              <a:rPr lang="en-US" sz="1000" spc="100" kern="0" dirty="0">
                <a:solidFill>
                  <a:srgbClr val="5B667F"/>
                </a:solidFill>
                <a:latin typeface="Calibri" pitchFamily="34" charset="0"/>
                <a:ea typeface="Calibri" pitchFamily="34" charset="-122"/>
                <a:cs typeface="Calibri" pitchFamily="34" charset="-120"/>
              </a:rPr>
              <a:t>the robot's own calibration page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09 · LATENCY</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Making it feel instant</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783080"/>
            <a:ext cx="5440680" cy="2514600"/>
          </a:xfrm>
          <a:prstGeom prst="roundRect">
            <a:avLst>
              <a:gd name="adj" fmla="val 4364"/>
            </a:avLst>
          </a:prstGeom>
          <a:solidFill>
            <a:srgbClr val="0D1224"/>
          </a:solidFill>
          <a:ln w="9525">
            <a:solidFill>
              <a:srgbClr val="22305A"/>
            </a:solidFill>
            <a:prstDash val="solid"/>
          </a:ln>
        </p:spPr>
      </p:sp>
      <p:sp>
        <p:nvSpPr>
          <p:cNvPr id="8" name="Text 5"/>
          <p:cNvSpPr txBox="1"/>
          <p:nvPr/>
        </p:nvSpPr>
        <p:spPr>
          <a:xfrm>
            <a:off x="868680" y="2011680"/>
            <a:ext cx="2743200" cy="274320"/>
          </a:xfrm>
          <a:prstGeom prst="rect">
            <a:avLst/>
          </a:prstGeom>
          <a:noFill/>
          <a:ln/>
        </p:spPr>
        <p:txBody>
          <a:bodyPr wrap="square" lIns="0" tIns="0" rIns="0" bIns="0" rtlCol="0" anchor="t"/>
          <a:lstStyle/>
          <a:p>
            <a:pPr indent="0" marL="0">
              <a:buNone/>
            </a:pPr>
            <a:r>
              <a:rPr lang="en-US" sz="1100" b="1" spc="300" kern="0" dirty="0">
                <a:solidFill>
                  <a:srgbClr val="FB7185"/>
                </a:solidFill>
                <a:latin typeface="Calibri" pitchFamily="34" charset="0"/>
                <a:ea typeface="Calibri" pitchFamily="34" charset="-122"/>
                <a:cs typeface="Calibri" pitchFamily="34" charset="-120"/>
              </a:rPr>
              <a:t>BEFORE</a:t>
            </a:r>
            <a:endParaRPr lang="en-US" sz="1100" dirty="0"/>
          </a:p>
        </p:txBody>
      </p:sp>
      <p:sp>
        <p:nvSpPr>
          <p:cNvPr id="9" name="Text 6"/>
          <p:cNvSpPr txBox="1"/>
          <p:nvPr/>
        </p:nvSpPr>
        <p:spPr>
          <a:xfrm>
            <a:off x="868680" y="2377440"/>
            <a:ext cx="4800600" cy="1828800"/>
          </a:xfrm>
          <a:prstGeom prst="rect">
            <a:avLst/>
          </a:prstGeom>
          <a:noFill/>
          <a:ln/>
        </p:spPr>
        <p:txBody>
          <a:bodyPr wrap="square" lIns="0" tIns="0" rIns="0" bIns="0" rtlCol="0" anchor="t"/>
          <a:lstStyle/>
          <a:p>
            <a:pPr indent="0" marL="0">
              <a:lnSpc>
                <a:spcPct val="112000"/>
              </a:lnSpc>
              <a:buNone/>
            </a:pPr>
            <a:r>
              <a:rPr lang="en-US" sz="1400" b="1" dirty="0">
                <a:solidFill>
                  <a:srgbClr val="E6EDF7"/>
                </a:solidFill>
                <a:latin typeface="Calibri" pitchFamily="34" charset="0"/>
                <a:ea typeface="Calibri" pitchFamily="34" charset="-122"/>
                <a:cs typeface="Calibri" pitchFamily="34" charset="-120"/>
              </a:rPr>
              <a:t>One client at a time. </a:t>
            </a:r>
            <a:pPr indent="0" marL="0">
              <a:lnSpc>
                <a:spcPct val="112000"/>
              </a:lnSpc>
              <a:buNone/>
            </a:pPr>
            <a:r>
              <a:rPr lang="en-US" sz="1400" dirty="0">
                <a:solidFill>
                  <a:srgbClr val="9AA4BC"/>
                </a:solidFill>
                <a:latin typeface="Calibri" pitchFamily="34" charset="0"/>
                <a:ea typeface="Calibri" pitchFamily="34" charset="-122"/>
                <a:cs typeface="Calibri" pitchFamily="34" charset="-120"/>
              </a:rPr>
              <a:t>Arduino's web server held an idle browser socket for up to 5 s — every drive command waited behind an open tab.</a:t>
            </a:r>
            <a:endParaRPr lang="en-US" sz="1400" dirty="0"/>
          </a:p>
          <a:p>
            <a:pPr indent="0" marL="0">
              <a:lnSpc>
                <a:spcPct val="112000"/>
              </a:lnSpc>
              <a:buNone/>
            </a:pPr>
            <a:r>
              <a:rPr lang="en-US" sz="800" dirty="0">
                <a:solidFill>
                  <a:srgbClr val="E6EDF7"/>
                </a:solidFill>
                <a:latin typeface="Calibri" pitchFamily="34" charset="0"/>
                <a:ea typeface="Calibri" pitchFamily="34" charset="-122"/>
                <a:cs typeface="Calibri" pitchFamily="34" charset="-120"/>
              </a:rPr>
              <a:t> </a:t>
            </a:r>
            <a:endParaRPr lang="en-US" sz="1400" dirty="0"/>
          </a:p>
          <a:p>
            <a:pPr indent="0" marL="0">
              <a:lnSpc>
                <a:spcPct val="112000"/>
              </a:lnSpc>
              <a:buNone/>
            </a:pPr>
            <a:r>
              <a:rPr lang="en-US" sz="1400" b="1" dirty="0">
                <a:solidFill>
                  <a:srgbClr val="E6EDF7"/>
                </a:solidFill>
                <a:latin typeface="Calibri" pitchFamily="34" charset="0"/>
                <a:ea typeface="Calibri" pitchFamily="34" charset="-122"/>
                <a:cs typeface="Calibri" pitchFamily="34" charset="-120"/>
              </a:rPr>
              <a:t>43 ms before a packet left. </a:t>
            </a:r>
            <a:pPr indent="0" marL="0">
              <a:lnSpc>
                <a:spcPct val="112000"/>
              </a:lnSpc>
              <a:buNone/>
            </a:pPr>
            <a:r>
              <a:rPr lang="en-US" sz="1400" dirty="0">
                <a:solidFill>
                  <a:srgbClr val="9AA4BC"/>
                </a:solidFill>
                <a:latin typeface="Calibri" pitchFamily="34" charset="0"/>
                <a:ea typeface="Calibri" pitchFamily="34" charset="-122"/>
                <a:cs typeface="Calibri" pitchFamily="34" charset="-120"/>
              </a:rPr>
              <a:t>IRIS built a fresh HTTP client per command: reading proxy settings, building an SSL context it never used.</a:t>
            </a:r>
            <a:endParaRPr lang="en-US" sz="1400" dirty="0"/>
          </a:p>
        </p:txBody>
      </p:sp>
      <p:sp>
        <p:nvSpPr>
          <p:cNvPr id="10" name="Shape 7"/>
          <p:cNvSpPr/>
          <p:nvPr/>
        </p:nvSpPr>
        <p:spPr>
          <a:xfrm>
            <a:off x="6199632" y="1783080"/>
            <a:ext cx="5440680" cy="2514600"/>
          </a:xfrm>
          <a:prstGeom prst="roundRect">
            <a:avLst>
              <a:gd name="adj" fmla="val 4364"/>
            </a:avLst>
          </a:prstGeom>
          <a:solidFill>
            <a:srgbClr val="0D1224"/>
          </a:solidFill>
          <a:ln w="9525">
            <a:solidFill>
              <a:srgbClr val="22305A"/>
            </a:solidFill>
            <a:prstDash val="solid"/>
          </a:ln>
        </p:spPr>
      </p:sp>
      <p:sp>
        <p:nvSpPr>
          <p:cNvPr id="11" name="Text 8"/>
          <p:cNvSpPr txBox="1"/>
          <p:nvPr/>
        </p:nvSpPr>
        <p:spPr>
          <a:xfrm>
            <a:off x="6519672" y="2011680"/>
            <a:ext cx="2743200" cy="274320"/>
          </a:xfrm>
          <a:prstGeom prst="rect">
            <a:avLst/>
          </a:prstGeom>
          <a:noFill/>
          <a:ln/>
        </p:spPr>
        <p:txBody>
          <a:bodyPr wrap="square" lIns="0" tIns="0" rIns="0" bIns="0" rtlCol="0" anchor="t"/>
          <a:lstStyle/>
          <a:p>
            <a:pPr indent="0" marL="0">
              <a:buNone/>
            </a:pPr>
            <a:r>
              <a:rPr lang="en-US" sz="1100" b="1" spc="300" kern="0" dirty="0">
                <a:solidFill>
                  <a:srgbClr val="5EEAD4"/>
                </a:solidFill>
                <a:latin typeface="Calibri" pitchFamily="34" charset="0"/>
                <a:ea typeface="Calibri" pitchFamily="34" charset="-122"/>
                <a:cs typeface="Calibri" pitchFamily="34" charset="-120"/>
              </a:rPr>
              <a:t>AFTER</a:t>
            </a:r>
            <a:endParaRPr lang="en-US" sz="1100" dirty="0"/>
          </a:p>
        </p:txBody>
      </p:sp>
      <p:sp>
        <p:nvSpPr>
          <p:cNvPr id="12" name="Text 9"/>
          <p:cNvSpPr txBox="1"/>
          <p:nvPr/>
        </p:nvSpPr>
        <p:spPr>
          <a:xfrm>
            <a:off x="6519672" y="2377440"/>
            <a:ext cx="4800600" cy="1828800"/>
          </a:xfrm>
          <a:prstGeom prst="rect">
            <a:avLst/>
          </a:prstGeom>
          <a:noFill/>
          <a:ln/>
        </p:spPr>
        <p:txBody>
          <a:bodyPr wrap="square" lIns="0" tIns="0" rIns="0" bIns="0" rtlCol="0" anchor="t"/>
          <a:lstStyle/>
          <a:p>
            <a:pPr indent="0" marL="0">
              <a:lnSpc>
                <a:spcPct val="112000"/>
              </a:lnSpc>
              <a:buNone/>
            </a:pPr>
            <a:r>
              <a:rPr lang="en-US" sz="1400" b="1" dirty="0">
                <a:solidFill>
                  <a:srgbClr val="E6EDF7"/>
                </a:solidFill>
                <a:latin typeface="Calibri" pitchFamily="34" charset="0"/>
                <a:ea typeface="Calibri" pitchFamily="34" charset="-122"/>
                <a:cs typeface="Calibri" pitchFamily="34" charset="-120"/>
              </a:rPr>
              <a:t>One UDP datagram. </a:t>
            </a:r>
            <a:pPr indent="0" marL="0">
              <a:lnSpc>
                <a:spcPct val="112000"/>
              </a:lnSpc>
              <a:buNone/>
            </a:pPr>
            <a:r>
              <a:rPr lang="en-US" sz="1400" dirty="0">
                <a:solidFill>
                  <a:srgbClr val="9AA4BC"/>
                </a:solidFill>
                <a:latin typeface="Calibri" pitchFamily="34" charset="0"/>
                <a:ea typeface="Calibri" pitchFamily="34" charset="-122"/>
                <a:cs typeface="Calibri" pitchFamily="34" charset="-120"/>
              </a:rPr>
              <a:t>The command is the URL's tail — “/motor?dir=forward” — answered on the board in the same loop pass, about a millisecond.</a:t>
            </a:r>
            <a:endParaRPr lang="en-US" sz="1400" dirty="0"/>
          </a:p>
          <a:p>
            <a:pPr indent="0" marL="0">
              <a:lnSpc>
                <a:spcPct val="112000"/>
              </a:lnSpc>
              <a:buNone/>
            </a:pPr>
            <a:r>
              <a:rPr lang="en-US" sz="800" dirty="0">
                <a:solidFill>
                  <a:srgbClr val="E6EDF7"/>
                </a:solidFill>
                <a:latin typeface="Calibri" pitchFamily="34" charset="0"/>
                <a:ea typeface="Calibri" pitchFamily="34" charset="-122"/>
                <a:cs typeface="Calibri" pitchFamily="34" charset="-120"/>
              </a:rPr>
              <a:t> </a:t>
            </a:r>
            <a:endParaRPr lang="en-US" sz="1400" dirty="0"/>
          </a:p>
          <a:p>
            <a:pPr indent="0" marL="0">
              <a:lnSpc>
                <a:spcPct val="112000"/>
              </a:lnSpc>
              <a:buNone/>
            </a:pPr>
            <a:r>
              <a:rPr lang="en-US" sz="1400" b="1" dirty="0">
                <a:solidFill>
                  <a:srgbClr val="E6EDF7"/>
                </a:solidFill>
                <a:latin typeface="Calibri" pitchFamily="34" charset="0"/>
                <a:ea typeface="Calibri" pitchFamily="34" charset="-122"/>
                <a:cs typeface="Calibri" pitchFamily="34" charset="-120"/>
              </a:rPr>
              <a:t>0.19 ms on the laptop. </a:t>
            </a:r>
            <a:pPr indent="0" marL="0">
              <a:lnSpc>
                <a:spcPct val="112000"/>
              </a:lnSpc>
              <a:buNone/>
            </a:pPr>
            <a:r>
              <a:rPr lang="en-US" sz="1400" dirty="0">
                <a:solidFill>
                  <a:srgbClr val="9AA4BC"/>
                </a:solidFill>
                <a:latin typeface="Calibri" pitchFamily="34" charset="0"/>
                <a:ea typeface="Calibri" pitchFamily="34" charset="-122"/>
                <a:cs typeface="Calibri" pitchFamily="34" charset="-120"/>
              </a:rPr>
              <a:t>One client, reused, no proxy lookup. HTTP stays as the fallback, so nothing that worked before breaks.</a:t>
            </a:r>
            <a:endParaRPr lang="en-US" sz="1400" dirty="0"/>
          </a:p>
        </p:txBody>
      </p:sp>
      <p:sp>
        <p:nvSpPr>
          <p:cNvPr id="13" name="Shape 10"/>
          <p:cNvSpPr/>
          <p:nvPr/>
        </p:nvSpPr>
        <p:spPr>
          <a:xfrm>
            <a:off x="548640" y="4617720"/>
            <a:ext cx="3520440" cy="1463040"/>
          </a:xfrm>
          <a:prstGeom prst="roundRect">
            <a:avLst>
              <a:gd name="adj" fmla="val 7500"/>
            </a:avLst>
          </a:prstGeom>
          <a:solidFill>
            <a:srgbClr val="131C34"/>
          </a:solidFill>
          <a:ln w="9525">
            <a:solidFill>
              <a:srgbClr val="22305A"/>
            </a:solidFill>
            <a:prstDash val="solid"/>
          </a:ln>
        </p:spPr>
      </p:sp>
      <p:sp>
        <p:nvSpPr>
          <p:cNvPr id="14" name="Text 11"/>
          <p:cNvSpPr txBox="1"/>
          <p:nvPr/>
        </p:nvSpPr>
        <p:spPr>
          <a:xfrm>
            <a:off x="822960" y="4754880"/>
            <a:ext cx="3017520" cy="731520"/>
          </a:xfrm>
          <a:prstGeom prst="rect">
            <a:avLst/>
          </a:prstGeom>
          <a:noFill/>
          <a:ln/>
        </p:spPr>
        <p:txBody>
          <a:bodyPr wrap="square" lIns="0" tIns="0" rIns="0" bIns="0" rtlCol="0" anchor="t"/>
          <a:lstStyle/>
          <a:p>
            <a:pPr indent="0" marL="0">
              <a:buNone/>
            </a:pPr>
            <a:r>
              <a:rPr lang="en-US" sz="3800" b="1" dirty="0">
                <a:solidFill>
                  <a:srgbClr val="FB7185"/>
                </a:solidFill>
                <a:latin typeface="Calibri" pitchFamily="34" charset="0"/>
                <a:ea typeface="Calibri" pitchFamily="34" charset="-122"/>
                <a:cs typeface="Calibri" pitchFamily="34" charset="-120"/>
              </a:rPr>
              <a:t>5,000 ms</a:t>
            </a:r>
            <a:endParaRPr lang="en-US" sz="3800" dirty="0"/>
          </a:p>
        </p:txBody>
      </p:sp>
      <p:sp>
        <p:nvSpPr>
          <p:cNvPr id="15" name="Text 12"/>
          <p:cNvSpPr txBox="1"/>
          <p:nvPr/>
        </p:nvSpPr>
        <p:spPr>
          <a:xfrm>
            <a:off x="822960" y="5486400"/>
            <a:ext cx="3017520" cy="457200"/>
          </a:xfrm>
          <a:prstGeom prst="rect">
            <a:avLst/>
          </a:prstGeom>
          <a:noFill/>
          <a:ln/>
        </p:spPr>
        <p:txBody>
          <a:bodyPr wrap="square" lIns="0" tIns="0" rIns="0" bIns="0" rtlCol="0" anchor="t"/>
          <a:lstStyle/>
          <a:p>
            <a:pPr indent="0" marL="0">
              <a:buNone/>
            </a:pPr>
            <a:r>
              <a:rPr lang="en-US" sz="1200" dirty="0">
                <a:solidFill>
                  <a:srgbClr val="9AA4BC"/>
                </a:solidFill>
                <a:latin typeface="Calibri" pitchFamily="34" charset="0"/>
                <a:ea typeface="Calibri" pitchFamily="34" charset="-122"/>
                <a:cs typeface="Calibri" pitchFamily="34" charset="-120"/>
              </a:rPr>
              <a:t>old worst case — one open browser tab</a:t>
            </a:r>
            <a:endParaRPr lang="en-US" sz="1200" dirty="0"/>
          </a:p>
        </p:txBody>
      </p:sp>
      <p:sp>
        <p:nvSpPr>
          <p:cNvPr id="16" name="Shape 13"/>
          <p:cNvSpPr/>
          <p:nvPr/>
        </p:nvSpPr>
        <p:spPr>
          <a:xfrm>
            <a:off x="4352544" y="4617720"/>
            <a:ext cx="3520440" cy="1463040"/>
          </a:xfrm>
          <a:prstGeom prst="roundRect">
            <a:avLst>
              <a:gd name="adj" fmla="val 7500"/>
            </a:avLst>
          </a:prstGeom>
          <a:solidFill>
            <a:srgbClr val="131C34"/>
          </a:solidFill>
          <a:ln w="9525">
            <a:solidFill>
              <a:srgbClr val="22305A"/>
            </a:solidFill>
            <a:prstDash val="solid"/>
          </a:ln>
        </p:spPr>
      </p:sp>
      <p:sp>
        <p:nvSpPr>
          <p:cNvPr id="17" name="Text 14"/>
          <p:cNvSpPr txBox="1"/>
          <p:nvPr/>
        </p:nvSpPr>
        <p:spPr>
          <a:xfrm>
            <a:off x="4626864" y="4754880"/>
            <a:ext cx="3017520" cy="731520"/>
          </a:xfrm>
          <a:prstGeom prst="rect">
            <a:avLst/>
          </a:prstGeom>
          <a:noFill/>
          <a:ln/>
        </p:spPr>
        <p:txBody>
          <a:bodyPr wrap="square" lIns="0" tIns="0" rIns="0" bIns="0" rtlCol="0" anchor="t"/>
          <a:lstStyle/>
          <a:p>
            <a:pPr indent="0" marL="0">
              <a:buNone/>
            </a:pPr>
            <a:r>
              <a:rPr lang="en-US" sz="3800" b="1" dirty="0">
                <a:solidFill>
                  <a:srgbClr val="5EEAD4"/>
                </a:solidFill>
                <a:latin typeface="Calibri" pitchFamily="34" charset="0"/>
                <a:ea typeface="Calibri" pitchFamily="34" charset="-122"/>
                <a:cs typeface="Calibri" pitchFamily="34" charset="-120"/>
              </a:rPr>
              <a:t>8 ms</a:t>
            </a:r>
            <a:endParaRPr lang="en-US" sz="3800" dirty="0"/>
          </a:p>
        </p:txBody>
      </p:sp>
      <p:sp>
        <p:nvSpPr>
          <p:cNvPr id="18" name="Text 15"/>
          <p:cNvSpPr txBox="1"/>
          <p:nvPr/>
        </p:nvSpPr>
        <p:spPr>
          <a:xfrm>
            <a:off x="4626864" y="5486400"/>
            <a:ext cx="3017520" cy="457200"/>
          </a:xfrm>
          <a:prstGeom prst="rect">
            <a:avLst/>
          </a:prstGeom>
          <a:noFill/>
          <a:ln/>
        </p:spPr>
        <p:txBody>
          <a:bodyPr wrap="square" lIns="0" tIns="0" rIns="0" bIns="0" rtlCol="0" anchor="t"/>
          <a:lstStyle/>
          <a:p>
            <a:pPr indent="0" marL="0">
              <a:buNone/>
            </a:pPr>
            <a:r>
              <a:rPr lang="en-US" sz="1200" dirty="0">
                <a:solidFill>
                  <a:srgbClr val="9AA4BC"/>
                </a:solidFill>
                <a:latin typeface="Calibri" pitchFamily="34" charset="0"/>
                <a:ea typeface="Calibri" pitchFamily="34" charset="-122"/>
                <a:cs typeface="Calibri" pitchFamily="34" charset="-120"/>
              </a:rPr>
              <a:t>chat box → board, measured on a LAN</a:t>
            </a:r>
            <a:endParaRPr lang="en-US" sz="1200" dirty="0"/>
          </a:p>
        </p:txBody>
      </p:sp>
      <p:sp>
        <p:nvSpPr>
          <p:cNvPr id="19" name="Shape 16"/>
          <p:cNvSpPr/>
          <p:nvPr/>
        </p:nvSpPr>
        <p:spPr>
          <a:xfrm>
            <a:off x="8156448" y="4617720"/>
            <a:ext cx="3520440" cy="1463040"/>
          </a:xfrm>
          <a:prstGeom prst="roundRect">
            <a:avLst>
              <a:gd name="adj" fmla="val 7500"/>
            </a:avLst>
          </a:prstGeom>
          <a:solidFill>
            <a:srgbClr val="131C34"/>
          </a:solidFill>
          <a:ln w="9525">
            <a:solidFill>
              <a:srgbClr val="22305A"/>
            </a:solidFill>
            <a:prstDash val="solid"/>
          </a:ln>
        </p:spPr>
      </p:sp>
      <p:sp>
        <p:nvSpPr>
          <p:cNvPr id="20" name="Text 17"/>
          <p:cNvSpPr txBox="1"/>
          <p:nvPr/>
        </p:nvSpPr>
        <p:spPr>
          <a:xfrm>
            <a:off x="8430768" y="4754880"/>
            <a:ext cx="3017520" cy="731520"/>
          </a:xfrm>
          <a:prstGeom prst="rect">
            <a:avLst/>
          </a:prstGeom>
          <a:noFill/>
          <a:ln/>
        </p:spPr>
        <p:txBody>
          <a:bodyPr wrap="square" lIns="0" tIns="0" rIns="0" bIns="0" rtlCol="0" anchor="t"/>
          <a:lstStyle/>
          <a:p>
            <a:pPr indent="0" marL="0">
              <a:buNone/>
            </a:pPr>
            <a:r>
              <a:rPr lang="en-US" sz="3800" b="1" dirty="0">
                <a:solidFill>
                  <a:srgbClr val="22D3EE"/>
                </a:solidFill>
                <a:latin typeface="Calibri" pitchFamily="34" charset="0"/>
                <a:ea typeface="Calibri" pitchFamily="34" charset="-122"/>
                <a:cs typeface="Calibri" pitchFamily="34" charset="-120"/>
              </a:rPr>
              <a:t>10–25 ms</a:t>
            </a:r>
            <a:endParaRPr lang="en-US" sz="3800" dirty="0"/>
          </a:p>
        </p:txBody>
      </p:sp>
      <p:sp>
        <p:nvSpPr>
          <p:cNvPr id="21" name="Text 18"/>
          <p:cNvSpPr txBox="1"/>
          <p:nvPr/>
        </p:nvSpPr>
        <p:spPr>
          <a:xfrm>
            <a:off x="8430768" y="5486400"/>
            <a:ext cx="3017520" cy="457200"/>
          </a:xfrm>
          <a:prstGeom prst="rect">
            <a:avLst/>
          </a:prstGeom>
          <a:noFill/>
          <a:ln/>
        </p:spPr>
        <p:txBody>
          <a:bodyPr wrap="square" lIns="0" tIns="0" rIns="0" bIns="0" rtlCol="0" anchor="t"/>
          <a:lstStyle/>
          <a:p>
            <a:pPr indent="0" marL="0">
              <a:buNone/>
            </a:pPr>
            <a:r>
              <a:rPr lang="en-US" sz="1200" dirty="0">
                <a:solidFill>
                  <a:srgbClr val="9AA4BC"/>
                </a:solidFill>
                <a:latin typeface="Calibri" pitchFamily="34" charset="0"/>
                <a:ea typeface="Calibri" pitchFamily="34" charset="-122"/>
                <a:cs typeface="Calibri" pitchFamily="34" charset="-120"/>
              </a:rPr>
              <a:t>end to end on a phone hotspot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10 · BODY TWO</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A face that reacts to what it says</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783080"/>
            <a:ext cx="1828800" cy="1207008"/>
          </a:xfrm>
          <a:prstGeom prst="roundRect">
            <a:avLst>
              <a:gd name="adj" fmla="val 6061"/>
            </a:avLst>
          </a:prstGeom>
          <a:solidFill>
            <a:srgbClr val="080B16"/>
          </a:solidFill>
          <a:ln w="9525">
            <a:solidFill>
              <a:srgbClr val="22305A"/>
            </a:solidFill>
            <a:prstDash val="solid"/>
          </a:ln>
        </p:spPr>
      </p:sp>
      <p:sp>
        <p:nvSpPr>
          <p:cNvPr id="8" name="Shape 5"/>
          <p:cNvSpPr/>
          <p:nvPr/>
        </p:nvSpPr>
        <p:spPr>
          <a:xfrm>
            <a:off x="800100" y="1965960"/>
            <a:ext cx="1325880" cy="841248"/>
          </a:xfrm>
          <a:prstGeom prst="roundRect">
            <a:avLst>
              <a:gd name="adj" fmla="val 28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9" name="Shape 6"/>
          <p:cNvSpPr/>
          <p:nvPr/>
        </p:nvSpPr>
        <p:spPr>
          <a:xfrm>
            <a:off x="1016081" y="2125797"/>
            <a:ext cx="151425" cy="151425"/>
          </a:xfrm>
          <a:prstGeom prst="ellipse">
            <a:avLst/>
          </a:prstGeom>
          <a:solidFill>
            <a:srgbClr val="080B16"/>
          </a:solidFill>
          <a:ln w="12700">
            <a:solidFill>
              <a:srgbClr val="080B16"/>
            </a:solidFill>
            <a:prstDash val="solid"/>
          </a:ln>
        </p:spPr>
      </p:sp>
      <p:sp>
        <p:nvSpPr>
          <p:cNvPr id="10" name="Shape 7"/>
          <p:cNvSpPr/>
          <p:nvPr/>
        </p:nvSpPr>
        <p:spPr>
          <a:xfrm>
            <a:off x="2651760" y="1783080"/>
            <a:ext cx="1828800" cy="1207008"/>
          </a:xfrm>
          <a:prstGeom prst="roundRect">
            <a:avLst>
              <a:gd name="adj" fmla="val 6061"/>
            </a:avLst>
          </a:prstGeom>
          <a:solidFill>
            <a:srgbClr val="080B16"/>
          </a:solidFill>
          <a:ln w="9525">
            <a:solidFill>
              <a:srgbClr val="22305A"/>
            </a:solidFill>
            <a:prstDash val="solid"/>
          </a:ln>
        </p:spPr>
      </p:sp>
      <p:sp>
        <p:nvSpPr>
          <p:cNvPr id="11" name="Shape 8"/>
          <p:cNvSpPr/>
          <p:nvPr/>
        </p:nvSpPr>
        <p:spPr>
          <a:xfrm>
            <a:off x="2903220" y="1965960"/>
            <a:ext cx="1325880" cy="841248"/>
          </a:xfrm>
          <a:prstGeom prst="roundRect">
            <a:avLst>
              <a:gd name="adj" fmla="val 28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12" name="Shape 9"/>
          <p:cNvSpPr/>
          <p:nvPr/>
        </p:nvSpPr>
        <p:spPr>
          <a:xfrm>
            <a:off x="3861694" y="2125797"/>
            <a:ext cx="151425" cy="151425"/>
          </a:xfrm>
          <a:prstGeom prst="ellipse">
            <a:avLst/>
          </a:prstGeom>
          <a:solidFill>
            <a:srgbClr val="080B16"/>
          </a:solidFill>
          <a:ln w="12700">
            <a:solidFill>
              <a:srgbClr val="080B16"/>
            </a:solidFill>
            <a:prstDash val="solid"/>
          </a:ln>
        </p:spPr>
      </p:sp>
      <p:sp>
        <p:nvSpPr>
          <p:cNvPr id="13" name="Text 10"/>
          <p:cNvSpPr txBox="1"/>
          <p:nvPr/>
        </p:nvSpPr>
        <p:spPr>
          <a:xfrm>
            <a:off x="4754880" y="1783080"/>
            <a:ext cx="1280160" cy="1207008"/>
          </a:xfrm>
          <a:prstGeom prst="rect">
            <a:avLst/>
          </a:prstGeom>
          <a:noFill/>
          <a:ln/>
        </p:spPr>
        <p:txBody>
          <a:bodyPr wrap="square" lIns="0" tIns="0" rIns="0" bIns="0" rtlCol="0" anchor="ctr"/>
          <a:lstStyle/>
          <a:p>
            <a:pPr indent="0" marL="0">
              <a:buNone/>
            </a:pPr>
            <a:r>
              <a:rPr lang="en-US" sz="1400" dirty="0">
                <a:solidFill>
                  <a:srgbClr val="9AA4BC"/>
                </a:solidFill>
                <a:latin typeface="Calibri" pitchFamily="34" charset="0"/>
                <a:ea typeface="Calibri" pitchFamily="34" charset="-122"/>
                <a:cs typeface="Calibri" pitchFamily="34" charset="-120"/>
              </a:rPr>
              <a:t>neutral</a:t>
            </a:r>
            <a:endParaRPr lang="en-US" sz="1400" dirty="0"/>
          </a:p>
        </p:txBody>
      </p:sp>
      <p:sp>
        <p:nvSpPr>
          <p:cNvPr id="14" name="Shape 11"/>
          <p:cNvSpPr/>
          <p:nvPr/>
        </p:nvSpPr>
        <p:spPr>
          <a:xfrm>
            <a:off x="548640" y="3191256"/>
            <a:ext cx="1828800" cy="1207008"/>
          </a:xfrm>
          <a:prstGeom prst="roundRect">
            <a:avLst>
              <a:gd name="adj" fmla="val 6061"/>
            </a:avLst>
          </a:prstGeom>
          <a:solidFill>
            <a:srgbClr val="080B16"/>
          </a:solidFill>
          <a:ln w="9525">
            <a:solidFill>
              <a:srgbClr val="22305A"/>
            </a:solidFill>
            <a:prstDash val="solid"/>
          </a:ln>
        </p:spPr>
      </p:sp>
      <p:sp>
        <p:nvSpPr>
          <p:cNvPr id="15" name="Shape 12"/>
          <p:cNvSpPr/>
          <p:nvPr/>
        </p:nvSpPr>
        <p:spPr>
          <a:xfrm>
            <a:off x="982980" y="3300984"/>
            <a:ext cx="960120" cy="987552"/>
          </a:xfrm>
          <a:prstGeom prst="roundRect">
            <a:avLst>
              <a:gd name="adj" fmla="val 50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16" name="Shape 13"/>
          <p:cNvSpPr/>
          <p:nvPr/>
        </p:nvSpPr>
        <p:spPr>
          <a:xfrm>
            <a:off x="1107796" y="3491088"/>
            <a:ext cx="172822" cy="172822"/>
          </a:xfrm>
          <a:prstGeom prst="ellipse">
            <a:avLst/>
          </a:prstGeom>
          <a:solidFill>
            <a:srgbClr val="080B16"/>
          </a:solidFill>
          <a:ln w="12700">
            <a:solidFill>
              <a:srgbClr val="080B16"/>
            </a:solidFill>
            <a:prstDash val="solid"/>
          </a:ln>
        </p:spPr>
      </p:sp>
      <p:sp>
        <p:nvSpPr>
          <p:cNvPr id="17" name="Shape 14"/>
          <p:cNvSpPr/>
          <p:nvPr/>
        </p:nvSpPr>
        <p:spPr>
          <a:xfrm>
            <a:off x="2651760" y="3191256"/>
            <a:ext cx="1828800" cy="1207008"/>
          </a:xfrm>
          <a:prstGeom prst="roundRect">
            <a:avLst>
              <a:gd name="adj" fmla="val 6061"/>
            </a:avLst>
          </a:prstGeom>
          <a:solidFill>
            <a:srgbClr val="080B16"/>
          </a:solidFill>
          <a:ln w="9525">
            <a:solidFill>
              <a:srgbClr val="22305A"/>
            </a:solidFill>
            <a:prstDash val="solid"/>
          </a:ln>
        </p:spPr>
      </p:sp>
      <p:sp>
        <p:nvSpPr>
          <p:cNvPr id="18" name="Shape 15"/>
          <p:cNvSpPr/>
          <p:nvPr/>
        </p:nvSpPr>
        <p:spPr>
          <a:xfrm>
            <a:off x="3086100" y="3300984"/>
            <a:ext cx="960120" cy="987552"/>
          </a:xfrm>
          <a:prstGeom prst="roundRect">
            <a:avLst>
              <a:gd name="adj" fmla="val 50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19" name="Shape 16"/>
          <p:cNvSpPr/>
          <p:nvPr/>
        </p:nvSpPr>
        <p:spPr>
          <a:xfrm>
            <a:off x="3748583" y="3491088"/>
            <a:ext cx="172822" cy="172822"/>
          </a:xfrm>
          <a:prstGeom prst="ellipse">
            <a:avLst/>
          </a:prstGeom>
          <a:solidFill>
            <a:srgbClr val="080B16"/>
          </a:solidFill>
          <a:ln w="12700">
            <a:solidFill>
              <a:srgbClr val="080B16"/>
            </a:solidFill>
            <a:prstDash val="solid"/>
          </a:ln>
        </p:spPr>
      </p:sp>
      <p:sp>
        <p:nvSpPr>
          <p:cNvPr id="20" name="Text 17"/>
          <p:cNvSpPr txBox="1"/>
          <p:nvPr/>
        </p:nvSpPr>
        <p:spPr>
          <a:xfrm>
            <a:off x="4754880" y="3191256"/>
            <a:ext cx="1280160" cy="1207008"/>
          </a:xfrm>
          <a:prstGeom prst="rect">
            <a:avLst/>
          </a:prstGeom>
          <a:noFill/>
          <a:ln/>
        </p:spPr>
        <p:txBody>
          <a:bodyPr wrap="square" lIns="0" tIns="0" rIns="0" bIns="0" rtlCol="0" anchor="ctr"/>
          <a:lstStyle/>
          <a:p>
            <a:pPr indent="0" marL="0">
              <a:buNone/>
            </a:pPr>
            <a:r>
              <a:rPr lang="en-US" sz="1400" dirty="0">
                <a:solidFill>
                  <a:srgbClr val="9AA4BC"/>
                </a:solidFill>
                <a:latin typeface="Calibri" pitchFamily="34" charset="0"/>
                <a:ea typeface="Calibri" pitchFamily="34" charset="-122"/>
                <a:cs typeface="Calibri" pitchFamily="34" charset="-120"/>
              </a:rPr>
              <a:t>surprised</a:t>
            </a:r>
            <a:endParaRPr lang="en-US" sz="1400" dirty="0"/>
          </a:p>
        </p:txBody>
      </p:sp>
      <p:sp>
        <p:nvSpPr>
          <p:cNvPr id="21" name="Shape 18"/>
          <p:cNvSpPr/>
          <p:nvPr/>
        </p:nvSpPr>
        <p:spPr>
          <a:xfrm>
            <a:off x="548640" y="4599432"/>
            <a:ext cx="1828800" cy="1207008"/>
          </a:xfrm>
          <a:prstGeom prst="roundRect">
            <a:avLst>
              <a:gd name="adj" fmla="val 6061"/>
            </a:avLst>
          </a:prstGeom>
          <a:solidFill>
            <a:srgbClr val="080B16"/>
          </a:solidFill>
          <a:ln w="9525">
            <a:solidFill>
              <a:srgbClr val="22305A"/>
            </a:solidFill>
            <a:prstDash val="solid"/>
          </a:ln>
        </p:spPr>
      </p:sp>
      <p:sp>
        <p:nvSpPr>
          <p:cNvPr id="22" name="Shape 19"/>
          <p:cNvSpPr/>
          <p:nvPr/>
        </p:nvSpPr>
        <p:spPr>
          <a:xfrm>
            <a:off x="800100" y="5020056"/>
            <a:ext cx="1325880" cy="365760"/>
          </a:xfrm>
          <a:prstGeom prst="roundRect">
            <a:avLst>
              <a:gd name="adj" fmla="val 50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23" name="Shape 20"/>
          <p:cNvSpPr/>
          <p:nvPr/>
        </p:nvSpPr>
        <p:spPr>
          <a:xfrm>
            <a:off x="2651760" y="4599432"/>
            <a:ext cx="1828800" cy="1207008"/>
          </a:xfrm>
          <a:prstGeom prst="roundRect">
            <a:avLst>
              <a:gd name="adj" fmla="val 6061"/>
            </a:avLst>
          </a:prstGeom>
          <a:solidFill>
            <a:srgbClr val="080B16"/>
          </a:solidFill>
          <a:ln w="9525">
            <a:solidFill>
              <a:srgbClr val="22305A"/>
            </a:solidFill>
            <a:prstDash val="solid"/>
          </a:ln>
        </p:spPr>
      </p:sp>
      <p:sp>
        <p:nvSpPr>
          <p:cNvPr id="24" name="Shape 21"/>
          <p:cNvSpPr/>
          <p:nvPr/>
        </p:nvSpPr>
        <p:spPr>
          <a:xfrm>
            <a:off x="2903220" y="5020056"/>
            <a:ext cx="1325880" cy="365760"/>
          </a:xfrm>
          <a:prstGeom prst="roundRect">
            <a:avLst>
              <a:gd name="adj" fmla="val 50000"/>
            </a:avLst>
          </a:prstGeom>
          <a:solidFill>
            <a:srgbClr val="F4F7FF"/>
          </a:solidFill>
          <a:ln w="12700">
            <a:solidFill>
              <a:srgbClr val="F4F7FF"/>
            </a:solidFill>
            <a:prstDash val="solid"/>
          </a:ln>
          <a:effectLst>
            <a:outerShdw sx="100000" sy="100000" kx="0" ky="0" algn="bl" rotWithShape="0" blurRad="177800" dist="50800" dir="16200000">
              <a:srgbClr val="5EEAD4">
                <a:alpha val="45000"/>
              </a:srgbClr>
            </a:outerShdw>
          </a:effectLst>
        </p:spPr>
      </p:sp>
      <p:sp>
        <p:nvSpPr>
          <p:cNvPr id="25" name="Text 22"/>
          <p:cNvSpPr txBox="1"/>
          <p:nvPr/>
        </p:nvSpPr>
        <p:spPr>
          <a:xfrm>
            <a:off x="4754880" y="4599432"/>
            <a:ext cx="1280160" cy="1207008"/>
          </a:xfrm>
          <a:prstGeom prst="rect">
            <a:avLst/>
          </a:prstGeom>
          <a:noFill/>
          <a:ln/>
        </p:spPr>
        <p:txBody>
          <a:bodyPr wrap="square" lIns="0" tIns="0" rIns="0" bIns="0" rtlCol="0" anchor="ctr"/>
          <a:lstStyle/>
          <a:p>
            <a:pPr indent="0" marL="0">
              <a:buNone/>
            </a:pPr>
            <a:r>
              <a:rPr lang="en-US" sz="1400" dirty="0">
                <a:solidFill>
                  <a:srgbClr val="9AA4BC"/>
                </a:solidFill>
                <a:latin typeface="Calibri" pitchFamily="34" charset="0"/>
                <a:ea typeface="Calibri" pitchFamily="34" charset="-122"/>
                <a:cs typeface="Calibri" pitchFamily="34" charset="-120"/>
              </a:rPr>
              <a:t>sleepy</a:t>
            </a:r>
            <a:endParaRPr lang="en-US" sz="1400" dirty="0"/>
          </a:p>
        </p:txBody>
      </p:sp>
      <p:sp>
        <p:nvSpPr>
          <p:cNvPr id="26" name="Shape 23"/>
          <p:cNvSpPr/>
          <p:nvPr/>
        </p:nvSpPr>
        <p:spPr>
          <a:xfrm>
            <a:off x="5852160" y="1783080"/>
            <a:ext cx="5788152" cy="4251960"/>
          </a:xfrm>
          <a:prstGeom prst="roundRect">
            <a:avLst>
              <a:gd name="adj" fmla="val 2581"/>
            </a:avLst>
          </a:prstGeom>
          <a:solidFill>
            <a:srgbClr val="0D1224"/>
          </a:solidFill>
          <a:ln w="9525">
            <a:solidFill>
              <a:srgbClr val="22305A"/>
            </a:solidFill>
            <a:prstDash val="solid"/>
          </a:ln>
        </p:spPr>
      </p:sp>
      <p:sp>
        <p:nvSpPr>
          <p:cNvPr id="27" name="Text 24"/>
          <p:cNvSpPr txBox="1"/>
          <p:nvPr/>
        </p:nvSpPr>
        <p:spPr>
          <a:xfrm>
            <a:off x="6172200" y="2011680"/>
            <a:ext cx="4572000" cy="274320"/>
          </a:xfrm>
          <a:prstGeom prst="rect">
            <a:avLst/>
          </a:prstGeom>
          <a:noFill/>
          <a:ln/>
        </p:spPr>
        <p:txBody>
          <a:bodyPr wrap="square" lIns="0" tIns="0" rIns="0" bIns="0" rtlCol="0" anchor="t"/>
          <a:lstStyle/>
          <a:p>
            <a:pPr indent="0" marL="0">
              <a:buNone/>
            </a:pPr>
            <a:r>
              <a:rPr lang="en-US" sz="1100" b="1" spc="300" kern="0" dirty="0">
                <a:solidFill>
                  <a:srgbClr val="818CF8"/>
                </a:solidFill>
                <a:latin typeface="Calibri" pitchFamily="34" charset="0"/>
                <a:ea typeface="Calibri" pitchFamily="34" charset="-122"/>
                <a:cs typeface="Calibri" pitchFamily="34" charset="-120"/>
              </a:rPr>
              <a:t>IT READS ITS OWN SENTENCE</a:t>
            </a:r>
            <a:endParaRPr lang="en-US" sz="1100" dirty="0"/>
          </a:p>
        </p:txBody>
      </p:sp>
      <p:sp>
        <p:nvSpPr>
          <p:cNvPr id="28" name="Text 25"/>
          <p:cNvSpPr txBox="1"/>
          <p:nvPr/>
        </p:nvSpPr>
        <p:spPr>
          <a:xfrm>
            <a:off x="6172200" y="2377440"/>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“Done! Your presentation is ready.”</a:t>
            </a:r>
            <a:endParaRPr lang="en-US" sz="1350" dirty="0"/>
          </a:p>
        </p:txBody>
      </p:sp>
      <p:sp>
        <p:nvSpPr>
          <p:cNvPr id="29" name="Text 26"/>
          <p:cNvSpPr txBox="1"/>
          <p:nvPr/>
        </p:nvSpPr>
        <p:spPr>
          <a:xfrm>
            <a:off x="9875520" y="2377440"/>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excited</a:t>
            </a:r>
            <a:endParaRPr lang="en-US" sz="1350" dirty="0"/>
          </a:p>
        </p:txBody>
      </p:sp>
      <p:sp>
        <p:nvSpPr>
          <p:cNvPr id="30" name="Text 27"/>
          <p:cNvSpPr txBox="1"/>
          <p:nvPr/>
        </p:nvSpPr>
        <p:spPr>
          <a:xfrm>
            <a:off x="6172200" y="2779776"/>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“Sorry, I could not find that file.”</a:t>
            </a:r>
            <a:endParaRPr lang="en-US" sz="1350" dirty="0"/>
          </a:p>
        </p:txBody>
      </p:sp>
      <p:sp>
        <p:nvSpPr>
          <p:cNvPr id="31" name="Text 28"/>
          <p:cNvSpPr txBox="1"/>
          <p:nvPr/>
        </p:nvSpPr>
        <p:spPr>
          <a:xfrm>
            <a:off x="9875520" y="2779776"/>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sad</a:t>
            </a:r>
            <a:endParaRPr lang="en-US" sz="1350" dirty="0"/>
          </a:p>
        </p:txBody>
      </p:sp>
      <p:sp>
        <p:nvSpPr>
          <p:cNvPr id="32" name="Text 29"/>
          <p:cNvSpPr txBox="1"/>
          <p:nvPr/>
        </p:nvSpPr>
        <p:spPr>
          <a:xfrm>
            <a:off x="6172200" y="3182112"/>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“Let me check the weather…”</a:t>
            </a:r>
            <a:endParaRPr lang="en-US" sz="1350" dirty="0"/>
          </a:p>
        </p:txBody>
      </p:sp>
      <p:sp>
        <p:nvSpPr>
          <p:cNvPr id="33" name="Text 30"/>
          <p:cNvSpPr txBox="1"/>
          <p:nvPr/>
        </p:nvSpPr>
        <p:spPr>
          <a:xfrm>
            <a:off x="9875520" y="3182112"/>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thinking</a:t>
            </a:r>
            <a:endParaRPr lang="en-US" sz="1350" dirty="0"/>
          </a:p>
        </p:txBody>
      </p:sp>
      <p:sp>
        <p:nvSpPr>
          <p:cNvPr id="34" name="Text 31"/>
          <p:cNvSpPr txBox="1"/>
          <p:nvPr/>
        </p:nvSpPr>
        <p:spPr>
          <a:xfrm>
            <a:off x="6172200" y="3584448"/>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“That is not allowed.”</a:t>
            </a:r>
            <a:endParaRPr lang="en-US" sz="1350" dirty="0"/>
          </a:p>
        </p:txBody>
      </p:sp>
      <p:sp>
        <p:nvSpPr>
          <p:cNvPr id="35" name="Text 32"/>
          <p:cNvSpPr txBox="1"/>
          <p:nvPr/>
        </p:nvSpPr>
        <p:spPr>
          <a:xfrm>
            <a:off x="9875520" y="3584448"/>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angry</a:t>
            </a:r>
            <a:endParaRPr lang="en-US" sz="1350" dirty="0"/>
          </a:p>
        </p:txBody>
      </p:sp>
      <p:sp>
        <p:nvSpPr>
          <p:cNvPr id="36" name="Text 33"/>
          <p:cNvSpPr txBox="1"/>
          <p:nvPr/>
        </p:nvSpPr>
        <p:spPr>
          <a:xfrm>
            <a:off x="6172200" y="3986784"/>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wake word heard</a:t>
            </a:r>
            <a:endParaRPr lang="en-US" sz="1350" dirty="0"/>
          </a:p>
        </p:txBody>
      </p:sp>
      <p:sp>
        <p:nvSpPr>
          <p:cNvPr id="37" name="Text 34"/>
          <p:cNvSpPr txBox="1"/>
          <p:nvPr/>
        </p:nvSpPr>
        <p:spPr>
          <a:xfrm>
            <a:off x="9875520" y="3986784"/>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listening</a:t>
            </a:r>
            <a:endParaRPr lang="en-US" sz="1350" dirty="0"/>
          </a:p>
        </p:txBody>
      </p:sp>
      <p:sp>
        <p:nvSpPr>
          <p:cNvPr id="38" name="Text 35"/>
          <p:cNvSpPr txBox="1"/>
          <p:nvPr/>
        </p:nvSpPr>
        <p:spPr>
          <a:xfrm>
            <a:off x="6172200" y="4389120"/>
            <a:ext cx="3657600" cy="365760"/>
          </a:xfrm>
          <a:prstGeom prst="rect">
            <a:avLst/>
          </a:prstGeom>
          <a:noFill/>
          <a:ln/>
        </p:spPr>
        <p:txBody>
          <a:bodyPr wrap="square" lIns="0" tIns="0" rIns="0" bIns="0" rtlCol="0" anchor="ctr"/>
          <a:lstStyle/>
          <a:p>
            <a:pPr indent="0" marL="0">
              <a:buNone/>
            </a:pPr>
            <a:r>
              <a:rPr lang="en-US" sz="1350" dirty="0">
                <a:solidFill>
                  <a:srgbClr val="E6EDF7"/>
                </a:solidFill>
                <a:latin typeface="Calibri" pitchFamily="34" charset="0"/>
                <a:ea typeface="Calibri" pitchFamily="34" charset="-122"/>
                <a:cs typeface="Calibri" pitchFamily="34" charset="-120"/>
              </a:rPr>
              <a:t>“ho gaya, file mil gaya”</a:t>
            </a:r>
            <a:endParaRPr lang="en-US" sz="1350" dirty="0"/>
          </a:p>
        </p:txBody>
      </p:sp>
      <p:sp>
        <p:nvSpPr>
          <p:cNvPr id="39" name="Text 36"/>
          <p:cNvSpPr txBox="1"/>
          <p:nvPr/>
        </p:nvSpPr>
        <p:spPr>
          <a:xfrm>
            <a:off x="9875520" y="4389120"/>
            <a:ext cx="1645920" cy="36576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  excited</a:t>
            </a:r>
            <a:endParaRPr lang="en-US" sz="1350" dirty="0"/>
          </a:p>
        </p:txBody>
      </p:sp>
      <p:sp>
        <p:nvSpPr>
          <p:cNvPr id="40" name="Text 37"/>
          <p:cNvSpPr txBox="1"/>
          <p:nvPr/>
        </p:nvSpPr>
        <p:spPr>
          <a:xfrm>
            <a:off x="6172200" y="4892040"/>
            <a:ext cx="5212080" cy="54864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Between sentences it breathes, blinks (sometimes twice), glances around — and dozes off after three minutes of silence.</a:t>
            </a:r>
            <a:endParaRPr lang="en-US" sz="1250" dirty="0"/>
          </a:p>
        </p:txBody>
      </p:sp>
      <p:sp>
        <p:nvSpPr>
          <p:cNvPr id="41" name="Text 38"/>
          <p:cNvSpPr txBox="1"/>
          <p:nvPr/>
        </p:nvSpPr>
        <p:spPr>
          <a:xfrm>
            <a:off x="6172200" y="5532120"/>
            <a:ext cx="5212080" cy="320040"/>
          </a:xfrm>
          <a:prstGeom prst="rect">
            <a:avLst/>
          </a:prstGeom>
          <a:noFill/>
          <a:ln/>
        </p:spPr>
        <p:txBody>
          <a:bodyPr wrap="square" lIns="0" tIns="0" rIns="0" bIns="0" rtlCol="0" anchor="t"/>
          <a:lstStyle/>
          <a:p>
            <a:pPr indent="0" marL="0">
              <a:buNone/>
            </a:pPr>
            <a:r>
              <a:rPr lang="en-US" sz="1100" spc="100" kern="0" dirty="0">
                <a:solidFill>
                  <a:srgbClr val="5B667F"/>
                </a:solidFill>
                <a:latin typeface="Calibri" pitchFamily="34" charset="0"/>
                <a:ea typeface="Calibri" pitchFamily="34" charset="-122"/>
                <a:cs typeface="Calibri" pitchFamily="34" charset="-120"/>
              </a:rPr>
              <a:t>14 expressions  ·  40 fps  ·  Hindi and Hinglish understood too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11 · THE SENSES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Six senses on one board</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783080"/>
            <a:ext cx="4572000" cy="4251960"/>
          </a:xfrm>
          <a:prstGeom prst="roundRect">
            <a:avLst>
              <a:gd name="adj" fmla="val 2581"/>
            </a:avLst>
          </a:prstGeom>
          <a:solidFill>
            <a:srgbClr val="0D1224"/>
          </a:solidFill>
          <a:ln w="9525">
            <a:solidFill>
              <a:srgbClr val="22305A"/>
            </a:solidFill>
            <a:prstDash val="solid"/>
          </a:ln>
        </p:spPr>
      </p:sp>
      <p:sp>
        <p:nvSpPr>
          <p:cNvPr id="8" name="Text 5"/>
          <p:cNvSpPr txBox="1"/>
          <p:nvPr/>
        </p:nvSpPr>
        <p:spPr>
          <a:xfrm>
            <a:off x="868680" y="2011680"/>
            <a:ext cx="2743200" cy="274320"/>
          </a:xfrm>
          <a:prstGeom prst="rect">
            <a:avLst/>
          </a:prstGeom>
          <a:noFill/>
          <a:ln/>
        </p:spPr>
        <p:txBody>
          <a:bodyPr wrap="square" lIns="0" tIns="0" rIns="0" bIns="0" rtlCol="0" anchor="t"/>
          <a:lstStyle/>
          <a:p>
            <a:pPr indent="0" marL="0">
              <a:buNone/>
            </a:pPr>
            <a:r>
              <a:rPr lang="en-US" sz="1100" b="1" spc="300" kern="0" dirty="0">
                <a:solidFill>
                  <a:srgbClr val="5EEAD4"/>
                </a:solidFill>
                <a:latin typeface="Calibri" pitchFamily="34" charset="0"/>
                <a:ea typeface="Calibri" pitchFamily="34" charset="-122"/>
                <a:cs typeface="Calibri" pitchFamily="34" charset="-120"/>
              </a:rPr>
              <a:t>TOP VIEW</a:t>
            </a:r>
            <a:endParaRPr lang="en-US" sz="1100" dirty="0"/>
          </a:p>
        </p:txBody>
      </p:sp>
      <p:sp>
        <p:nvSpPr>
          <p:cNvPr id="9" name="Shape 6"/>
          <p:cNvSpPr/>
          <p:nvPr/>
        </p:nvSpPr>
        <p:spPr>
          <a:xfrm>
            <a:off x="1965960" y="2788920"/>
            <a:ext cx="1737360" cy="1783080"/>
          </a:xfrm>
          <a:prstGeom prst="roundRect">
            <a:avLst>
              <a:gd name="adj" fmla="val 13158"/>
            </a:avLst>
          </a:prstGeom>
          <a:solidFill>
            <a:srgbClr val="131C34"/>
          </a:solidFill>
          <a:ln w="12700">
            <a:solidFill>
              <a:srgbClr val="22305A"/>
            </a:solidFill>
            <a:prstDash val="solid"/>
          </a:ln>
        </p:spPr>
      </p:sp>
      <p:sp>
        <p:nvSpPr>
          <p:cNvPr id="10" name="Shape 7"/>
          <p:cNvSpPr/>
          <p:nvPr/>
        </p:nvSpPr>
        <p:spPr>
          <a:xfrm>
            <a:off x="1764792" y="3017520"/>
            <a:ext cx="256032" cy="548640"/>
          </a:xfrm>
          <a:prstGeom prst="roundRect">
            <a:avLst>
              <a:gd name="adj" fmla="val 21429"/>
            </a:avLst>
          </a:prstGeom>
          <a:solidFill>
            <a:srgbClr val="1B2640"/>
          </a:solidFill>
          <a:ln w="9525">
            <a:solidFill>
              <a:srgbClr val="22305A"/>
            </a:solidFill>
            <a:prstDash val="solid"/>
          </a:ln>
        </p:spPr>
      </p:sp>
      <p:sp>
        <p:nvSpPr>
          <p:cNvPr id="11" name="Shape 8"/>
          <p:cNvSpPr/>
          <p:nvPr/>
        </p:nvSpPr>
        <p:spPr>
          <a:xfrm>
            <a:off x="3648456" y="3017520"/>
            <a:ext cx="256032" cy="548640"/>
          </a:xfrm>
          <a:prstGeom prst="roundRect">
            <a:avLst>
              <a:gd name="adj" fmla="val 21429"/>
            </a:avLst>
          </a:prstGeom>
          <a:solidFill>
            <a:srgbClr val="1B2640"/>
          </a:solidFill>
          <a:ln w="9525">
            <a:solidFill>
              <a:srgbClr val="22305A"/>
            </a:solidFill>
            <a:prstDash val="solid"/>
          </a:ln>
        </p:spPr>
      </p:sp>
      <p:sp>
        <p:nvSpPr>
          <p:cNvPr id="12" name="Shape 9"/>
          <p:cNvSpPr/>
          <p:nvPr/>
        </p:nvSpPr>
        <p:spPr>
          <a:xfrm>
            <a:off x="1764792" y="3794760"/>
            <a:ext cx="256032" cy="548640"/>
          </a:xfrm>
          <a:prstGeom prst="roundRect">
            <a:avLst>
              <a:gd name="adj" fmla="val 21429"/>
            </a:avLst>
          </a:prstGeom>
          <a:solidFill>
            <a:srgbClr val="1B2640"/>
          </a:solidFill>
          <a:ln w="9525">
            <a:solidFill>
              <a:srgbClr val="22305A"/>
            </a:solidFill>
            <a:prstDash val="solid"/>
          </a:ln>
        </p:spPr>
      </p:sp>
      <p:sp>
        <p:nvSpPr>
          <p:cNvPr id="13" name="Shape 10"/>
          <p:cNvSpPr/>
          <p:nvPr/>
        </p:nvSpPr>
        <p:spPr>
          <a:xfrm>
            <a:off x="3648456" y="3794760"/>
            <a:ext cx="256032" cy="548640"/>
          </a:xfrm>
          <a:prstGeom prst="roundRect">
            <a:avLst>
              <a:gd name="adj" fmla="val 21429"/>
            </a:avLst>
          </a:prstGeom>
          <a:solidFill>
            <a:srgbClr val="1B2640"/>
          </a:solidFill>
          <a:ln w="9525">
            <a:solidFill>
              <a:srgbClr val="22305A"/>
            </a:solidFill>
            <a:prstDash val="solid"/>
          </a:ln>
        </p:spPr>
      </p:sp>
      <p:sp>
        <p:nvSpPr>
          <p:cNvPr id="14" name="Shape 11"/>
          <p:cNvSpPr/>
          <p:nvPr/>
        </p:nvSpPr>
        <p:spPr>
          <a:xfrm>
            <a:off x="2286000" y="2953512"/>
            <a:ext cx="411480" cy="256032"/>
          </a:xfrm>
          <a:prstGeom prst="roundRect">
            <a:avLst>
              <a:gd name="adj" fmla="val 28571"/>
            </a:avLst>
          </a:prstGeom>
          <a:solidFill>
            <a:srgbClr val="F4F7FF"/>
          </a:solidFill>
          <a:ln w="12700">
            <a:solidFill>
              <a:srgbClr val="F4F7FF"/>
            </a:solidFill>
            <a:prstDash val="solid"/>
          </a:ln>
        </p:spPr>
      </p:sp>
      <p:sp>
        <p:nvSpPr>
          <p:cNvPr id="15" name="Shape 12"/>
          <p:cNvSpPr/>
          <p:nvPr/>
        </p:nvSpPr>
        <p:spPr>
          <a:xfrm>
            <a:off x="2971800" y="2953512"/>
            <a:ext cx="411480" cy="256032"/>
          </a:xfrm>
          <a:prstGeom prst="roundRect">
            <a:avLst>
              <a:gd name="adj" fmla="val 28571"/>
            </a:avLst>
          </a:prstGeom>
          <a:solidFill>
            <a:srgbClr val="F4F7FF"/>
          </a:solidFill>
          <a:ln w="12700">
            <a:solidFill>
              <a:srgbClr val="F4F7FF"/>
            </a:solidFill>
            <a:prstDash val="solid"/>
          </a:ln>
        </p:spPr>
      </p:sp>
      <p:sp>
        <p:nvSpPr>
          <p:cNvPr id="16" name="Shape 13"/>
          <p:cNvSpPr/>
          <p:nvPr/>
        </p:nvSpPr>
        <p:spPr>
          <a:xfrm>
            <a:off x="1965960" y="2057400"/>
            <a:ext cx="768096" cy="685800"/>
          </a:xfrm>
          <a:prstGeom prst="triangle">
            <a:avLst/>
          </a:prstGeom>
          <a:solidFill>
            <a:srgbClr val="5EEAD4">
              <a:alpha val="28000"/>
            </a:srgbClr>
          </a:solidFill>
          <a:ln w="6350">
            <a:solidFill>
              <a:srgbClr val="5EEAD4">
                <a:alpha val="60000"/>
              </a:srgbClr>
            </a:solidFill>
            <a:prstDash val="solid"/>
          </a:ln>
        </p:spPr>
      </p:sp>
      <p:sp>
        <p:nvSpPr>
          <p:cNvPr id="17" name="Shape 14"/>
          <p:cNvSpPr/>
          <p:nvPr/>
        </p:nvSpPr>
        <p:spPr>
          <a:xfrm>
            <a:off x="2935224" y="2057400"/>
            <a:ext cx="768096" cy="685800"/>
          </a:xfrm>
          <a:prstGeom prst="triangle">
            <a:avLst/>
          </a:prstGeom>
          <a:solidFill>
            <a:srgbClr val="5EEAD4">
              <a:alpha val="28000"/>
            </a:srgbClr>
          </a:solidFill>
          <a:ln w="6350">
            <a:solidFill>
              <a:srgbClr val="5EEAD4">
                <a:alpha val="60000"/>
              </a:srgbClr>
            </a:solidFill>
            <a:prstDash val="solid"/>
          </a:ln>
        </p:spPr>
      </p:sp>
      <p:sp>
        <p:nvSpPr>
          <p:cNvPr id="18" name="Shape 15"/>
          <p:cNvSpPr/>
          <p:nvPr/>
        </p:nvSpPr>
        <p:spPr>
          <a:xfrm rot="10800000">
            <a:off x="1965960" y="4617720"/>
            <a:ext cx="768096" cy="685800"/>
          </a:xfrm>
          <a:prstGeom prst="triangle">
            <a:avLst/>
          </a:prstGeom>
          <a:solidFill>
            <a:srgbClr val="F4A259">
              <a:alpha val="28000"/>
            </a:srgbClr>
          </a:solidFill>
          <a:ln w="6350">
            <a:solidFill>
              <a:srgbClr val="F4A259">
                <a:alpha val="60000"/>
              </a:srgbClr>
            </a:solidFill>
            <a:prstDash val="solid"/>
          </a:ln>
        </p:spPr>
      </p:sp>
      <p:sp>
        <p:nvSpPr>
          <p:cNvPr id="19" name="Shape 16"/>
          <p:cNvSpPr/>
          <p:nvPr/>
        </p:nvSpPr>
        <p:spPr>
          <a:xfrm rot="10800000">
            <a:off x="2935224" y="4617720"/>
            <a:ext cx="768096" cy="685800"/>
          </a:xfrm>
          <a:prstGeom prst="triangle">
            <a:avLst/>
          </a:prstGeom>
          <a:solidFill>
            <a:srgbClr val="F4A259">
              <a:alpha val="28000"/>
            </a:srgbClr>
          </a:solidFill>
          <a:ln w="6350">
            <a:solidFill>
              <a:srgbClr val="F4A259">
                <a:alpha val="60000"/>
              </a:srgbClr>
            </a:solidFill>
            <a:prstDash val="solid"/>
          </a:ln>
        </p:spPr>
      </p:sp>
      <p:sp>
        <p:nvSpPr>
          <p:cNvPr id="20" name="Text 17"/>
          <p:cNvSpPr txBox="1"/>
          <p:nvPr/>
        </p:nvSpPr>
        <p:spPr>
          <a:xfrm>
            <a:off x="685800" y="2331720"/>
            <a:ext cx="1463040" cy="274320"/>
          </a:xfrm>
          <a:prstGeom prst="rect">
            <a:avLst/>
          </a:prstGeom>
          <a:noFill/>
          <a:ln/>
        </p:spPr>
        <p:txBody>
          <a:bodyPr wrap="square" lIns="0" tIns="0" rIns="0" bIns="0" rtlCol="0" anchor="t"/>
          <a:lstStyle/>
          <a:p>
            <a:pPr algn="r" indent="0" marL="0">
              <a:buNone/>
            </a:pPr>
            <a:r>
              <a:rPr lang="en-US" sz="1000" dirty="0">
                <a:solidFill>
                  <a:srgbClr val="5EEAD4"/>
                </a:solidFill>
                <a:latin typeface="Calibri" pitchFamily="34" charset="0"/>
                <a:ea typeface="Calibri" pitchFamily="34" charset="-122"/>
                <a:cs typeface="Calibri" pitchFamily="34" charset="-120"/>
              </a:rPr>
              <a:t>front-left  44 cm</a:t>
            </a:r>
            <a:endParaRPr lang="en-US" sz="1000" dirty="0"/>
          </a:p>
        </p:txBody>
      </p:sp>
      <p:sp>
        <p:nvSpPr>
          <p:cNvPr id="21" name="Text 18"/>
          <p:cNvSpPr txBox="1"/>
          <p:nvPr/>
        </p:nvSpPr>
        <p:spPr>
          <a:xfrm>
            <a:off x="3794760" y="2331720"/>
            <a:ext cx="1554480" cy="274320"/>
          </a:xfrm>
          <a:prstGeom prst="rect">
            <a:avLst/>
          </a:prstGeom>
          <a:noFill/>
          <a:ln/>
        </p:spPr>
        <p:txBody>
          <a:bodyPr wrap="square" lIns="0" tIns="0" rIns="0" bIns="0" rtlCol="0" anchor="t"/>
          <a:lstStyle/>
          <a:p>
            <a:pPr indent="0" marL="0">
              <a:buNone/>
            </a:pPr>
            <a:r>
              <a:rPr lang="en-US" sz="1000" dirty="0">
                <a:solidFill>
                  <a:srgbClr val="5EEAD4"/>
                </a:solidFill>
                <a:latin typeface="Calibri" pitchFamily="34" charset="0"/>
                <a:ea typeface="Calibri" pitchFamily="34" charset="-122"/>
                <a:cs typeface="Calibri" pitchFamily="34" charset="-120"/>
              </a:rPr>
              <a:t>front-right  42 cm</a:t>
            </a:r>
            <a:endParaRPr lang="en-US" sz="1000" dirty="0"/>
          </a:p>
        </p:txBody>
      </p:sp>
      <p:sp>
        <p:nvSpPr>
          <p:cNvPr id="22" name="Text 19"/>
          <p:cNvSpPr txBox="1"/>
          <p:nvPr/>
        </p:nvSpPr>
        <p:spPr>
          <a:xfrm>
            <a:off x="685800" y="4846320"/>
            <a:ext cx="1463040" cy="274320"/>
          </a:xfrm>
          <a:prstGeom prst="rect">
            <a:avLst/>
          </a:prstGeom>
          <a:noFill/>
          <a:ln/>
        </p:spPr>
        <p:txBody>
          <a:bodyPr wrap="square" lIns="0" tIns="0" rIns="0" bIns="0" rtlCol="0" anchor="t"/>
          <a:lstStyle/>
          <a:p>
            <a:pPr algn="r" indent="0" marL="0">
              <a:buNone/>
            </a:pPr>
            <a:r>
              <a:rPr lang="en-US" sz="1000" dirty="0">
                <a:solidFill>
                  <a:srgbClr val="F4A259"/>
                </a:solidFill>
                <a:latin typeface="Calibri" pitchFamily="34" charset="0"/>
                <a:ea typeface="Calibri" pitchFamily="34" charset="-122"/>
                <a:cs typeface="Calibri" pitchFamily="34" charset="-120"/>
              </a:rPr>
              <a:t>rear-left  118 cm</a:t>
            </a:r>
            <a:endParaRPr lang="en-US" sz="1000" dirty="0"/>
          </a:p>
        </p:txBody>
      </p:sp>
      <p:sp>
        <p:nvSpPr>
          <p:cNvPr id="23" name="Text 20"/>
          <p:cNvSpPr txBox="1"/>
          <p:nvPr/>
        </p:nvSpPr>
        <p:spPr>
          <a:xfrm>
            <a:off x="3794760" y="4846320"/>
            <a:ext cx="1554480" cy="274320"/>
          </a:xfrm>
          <a:prstGeom prst="rect">
            <a:avLst/>
          </a:prstGeom>
          <a:noFill/>
          <a:ln/>
        </p:spPr>
        <p:txBody>
          <a:bodyPr wrap="square" lIns="0" tIns="0" rIns="0" bIns="0" rtlCol="0" anchor="t"/>
          <a:lstStyle/>
          <a:p>
            <a:pPr indent="0" marL="0">
              <a:buNone/>
            </a:pPr>
            <a:r>
              <a:rPr lang="en-US" sz="1000" dirty="0">
                <a:solidFill>
                  <a:srgbClr val="F4A259"/>
                </a:solidFill>
                <a:latin typeface="Calibri" pitchFamily="34" charset="0"/>
                <a:ea typeface="Calibri" pitchFamily="34" charset="-122"/>
                <a:cs typeface="Calibri" pitchFamily="34" charset="-120"/>
              </a:rPr>
              <a:t>rear-right  no echo</a:t>
            </a:r>
            <a:endParaRPr lang="en-US" sz="1000" dirty="0"/>
          </a:p>
        </p:txBody>
      </p:sp>
      <p:sp>
        <p:nvSpPr>
          <p:cNvPr id="24" name="Text 21"/>
          <p:cNvSpPr txBox="1"/>
          <p:nvPr/>
        </p:nvSpPr>
        <p:spPr>
          <a:xfrm>
            <a:off x="777240" y="5577840"/>
            <a:ext cx="4114800" cy="365760"/>
          </a:xfrm>
          <a:prstGeom prst="rect">
            <a:avLst/>
          </a:prstGeom>
          <a:noFill/>
          <a:ln/>
        </p:spPr>
        <p:txBody>
          <a:bodyPr wrap="square" lIns="0" tIns="0" rIns="0" bIns="0" rtlCol="0" anchor="t"/>
          <a:lstStyle/>
          <a:p>
            <a:pPr algn="ctr" indent="0" marL="0">
              <a:buNone/>
            </a:pPr>
            <a:r>
              <a:rPr lang="en-US" sz="1200" i="1" dirty="0">
                <a:solidFill>
                  <a:srgbClr val="9AA4BC"/>
                </a:solidFill>
                <a:latin typeface="Calibri" pitchFamily="34" charset="0"/>
                <a:ea typeface="Calibri" pitchFamily="34" charset="-122"/>
                <a:cs typeface="Calibri" pitchFamily="34" charset="-120"/>
              </a:rPr>
              <a:t>“42 cm ahead, 118 cm behind on the left.”</a:t>
            </a:r>
            <a:endParaRPr lang="en-US" sz="1200" dirty="0"/>
          </a:p>
        </p:txBody>
      </p:sp>
      <p:sp>
        <p:nvSpPr>
          <p:cNvPr id="25" name="Shape 22"/>
          <p:cNvSpPr/>
          <p:nvPr/>
        </p:nvSpPr>
        <p:spPr>
          <a:xfrm>
            <a:off x="5440680" y="1783080"/>
            <a:ext cx="2971800" cy="1298448"/>
          </a:xfrm>
          <a:prstGeom prst="roundRect">
            <a:avLst>
              <a:gd name="adj" fmla="val 8451"/>
            </a:avLst>
          </a:prstGeom>
          <a:solidFill>
            <a:srgbClr val="0D1224"/>
          </a:solidFill>
          <a:ln w="9525">
            <a:solidFill>
              <a:srgbClr val="22305A"/>
            </a:solidFill>
            <a:prstDash val="solid"/>
          </a:ln>
        </p:spPr>
      </p:sp>
      <p:sp>
        <p:nvSpPr>
          <p:cNvPr id="26" name="Shape 23"/>
          <p:cNvSpPr/>
          <p:nvPr/>
        </p:nvSpPr>
        <p:spPr>
          <a:xfrm>
            <a:off x="5669280" y="2011680"/>
            <a:ext cx="457200" cy="457200"/>
          </a:xfrm>
          <a:prstGeom prst="ellipse">
            <a:avLst/>
          </a:prstGeom>
          <a:solidFill>
            <a:srgbClr val="5EEAD4">
              <a:alpha val="20000"/>
            </a:srgbClr>
          </a:solidFill>
          <a:ln w="6350">
            <a:solidFill>
              <a:srgbClr val="5EEAD4">
                <a:alpha val="60000"/>
              </a:srgbClr>
            </a:solidFill>
            <a:prstDash val="solid"/>
          </a:ln>
        </p:spPr>
      </p:sp>
      <p:pic>
        <p:nvPicPr>
          <p:cNvPr id="27" name="Image 0" descr="preencoded.png">    </p:cNvPr>
          <p:cNvPicPr>
            <a:picLocks noChangeAspect="1"/>
          </p:cNvPicPr>
          <p:nvPr/>
        </p:nvPicPr>
        <p:blipFill>
          <a:blip r:embed="rId1"/>
          <a:stretch>
            <a:fillRect/>
          </a:stretch>
        </p:blipFill>
        <p:spPr>
          <a:xfrm>
            <a:off x="5779008" y="2121408"/>
            <a:ext cx="237744" cy="237744"/>
          </a:xfrm>
          <a:prstGeom prst="rect">
            <a:avLst/>
          </a:prstGeom>
        </p:spPr>
      </p:pic>
      <p:sp>
        <p:nvSpPr>
          <p:cNvPr id="28" name="Text 24"/>
          <p:cNvSpPr txBox="1"/>
          <p:nvPr/>
        </p:nvSpPr>
        <p:spPr>
          <a:xfrm>
            <a:off x="6263640" y="202996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4× HC-SR04 distance</a:t>
            </a:r>
            <a:endParaRPr lang="en-US" sz="1400" dirty="0"/>
          </a:p>
        </p:txBody>
      </p:sp>
      <p:sp>
        <p:nvSpPr>
          <p:cNvPr id="29" name="Text 25"/>
          <p:cNvSpPr txBox="1"/>
          <p:nvPr/>
        </p:nvSpPr>
        <p:spPr>
          <a:xfrm>
            <a:off x="6263640" y="237744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fired one at a time, timed by interrupts — never blocks the eyes</a:t>
            </a:r>
            <a:endParaRPr lang="en-US" sz="1150" dirty="0"/>
          </a:p>
        </p:txBody>
      </p:sp>
      <p:sp>
        <p:nvSpPr>
          <p:cNvPr id="30" name="Shape 26"/>
          <p:cNvSpPr/>
          <p:nvPr/>
        </p:nvSpPr>
        <p:spPr>
          <a:xfrm>
            <a:off x="8595360" y="1783080"/>
            <a:ext cx="2971800" cy="1298448"/>
          </a:xfrm>
          <a:prstGeom prst="roundRect">
            <a:avLst>
              <a:gd name="adj" fmla="val 8451"/>
            </a:avLst>
          </a:prstGeom>
          <a:solidFill>
            <a:srgbClr val="0D1224"/>
          </a:solidFill>
          <a:ln w="9525">
            <a:solidFill>
              <a:srgbClr val="22305A"/>
            </a:solidFill>
            <a:prstDash val="solid"/>
          </a:ln>
        </p:spPr>
      </p:sp>
      <p:sp>
        <p:nvSpPr>
          <p:cNvPr id="31" name="Shape 27"/>
          <p:cNvSpPr/>
          <p:nvPr/>
        </p:nvSpPr>
        <p:spPr>
          <a:xfrm>
            <a:off x="8823960" y="2011680"/>
            <a:ext cx="457200" cy="457200"/>
          </a:xfrm>
          <a:prstGeom prst="ellipse">
            <a:avLst/>
          </a:prstGeom>
          <a:solidFill>
            <a:srgbClr val="F4A259">
              <a:alpha val="20000"/>
            </a:srgbClr>
          </a:solidFill>
          <a:ln w="6350">
            <a:solidFill>
              <a:srgbClr val="F4A259">
                <a:alpha val="60000"/>
              </a:srgbClr>
            </a:solidFill>
            <a:prstDash val="solid"/>
          </a:ln>
        </p:spPr>
      </p:sp>
      <p:pic>
        <p:nvPicPr>
          <p:cNvPr id="32" name="Image 1" descr="preencoded.png">    </p:cNvPr>
          <p:cNvPicPr>
            <a:picLocks noChangeAspect="1"/>
          </p:cNvPicPr>
          <p:nvPr/>
        </p:nvPicPr>
        <p:blipFill>
          <a:blip r:embed="rId2"/>
          <a:stretch>
            <a:fillRect/>
          </a:stretch>
        </p:blipFill>
        <p:spPr>
          <a:xfrm>
            <a:off x="8933688" y="2121408"/>
            <a:ext cx="237744" cy="237744"/>
          </a:xfrm>
          <a:prstGeom prst="rect">
            <a:avLst/>
          </a:prstGeom>
        </p:spPr>
      </p:pic>
      <p:sp>
        <p:nvSpPr>
          <p:cNvPr id="33" name="Text 28"/>
          <p:cNvSpPr txBox="1"/>
          <p:nvPr/>
        </p:nvSpPr>
        <p:spPr>
          <a:xfrm>
            <a:off x="9418320" y="202996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DHT22</a:t>
            </a:r>
            <a:endParaRPr lang="en-US" sz="1400" dirty="0"/>
          </a:p>
        </p:txBody>
      </p:sp>
      <p:sp>
        <p:nvSpPr>
          <p:cNvPr id="34" name="Text 29"/>
          <p:cNvSpPr txBox="1"/>
          <p:nvPr/>
        </p:nvSpPr>
        <p:spPr>
          <a:xfrm>
            <a:off x="9418320" y="237744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temperature and humidity, every 2.5 s</a:t>
            </a:r>
            <a:endParaRPr lang="en-US" sz="1150" dirty="0"/>
          </a:p>
        </p:txBody>
      </p:sp>
      <p:sp>
        <p:nvSpPr>
          <p:cNvPr id="35" name="Shape 30"/>
          <p:cNvSpPr/>
          <p:nvPr/>
        </p:nvSpPr>
        <p:spPr>
          <a:xfrm>
            <a:off x="5440680" y="3246120"/>
            <a:ext cx="2971800" cy="1298448"/>
          </a:xfrm>
          <a:prstGeom prst="roundRect">
            <a:avLst>
              <a:gd name="adj" fmla="val 8451"/>
            </a:avLst>
          </a:prstGeom>
          <a:solidFill>
            <a:srgbClr val="0D1224"/>
          </a:solidFill>
          <a:ln w="9525">
            <a:solidFill>
              <a:srgbClr val="22305A"/>
            </a:solidFill>
            <a:prstDash val="solid"/>
          </a:ln>
        </p:spPr>
      </p:sp>
      <p:sp>
        <p:nvSpPr>
          <p:cNvPr id="36" name="Shape 31"/>
          <p:cNvSpPr/>
          <p:nvPr/>
        </p:nvSpPr>
        <p:spPr>
          <a:xfrm>
            <a:off x="5669280" y="3474720"/>
            <a:ext cx="457200" cy="457200"/>
          </a:xfrm>
          <a:prstGeom prst="ellipse">
            <a:avLst/>
          </a:prstGeom>
          <a:solidFill>
            <a:srgbClr val="818CF8">
              <a:alpha val="20000"/>
            </a:srgbClr>
          </a:solidFill>
          <a:ln w="6350">
            <a:solidFill>
              <a:srgbClr val="818CF8">
                <a:alpha val="60000"/>
              </a:srgbClr>
            </a:solidFill>
            <a:prstDash val="solid"/>
          </a:ln>
        </p:spPr>
      </p:sp>
      <p:pic>
        <p:nvPicPr>
          <p:cNvPr id="37" name="Image 2" descr="preencoded.png">    </p:cNvPr>
          <p:cNvPicPr>
            <a:picLocks noChangeAspect="1"/>
          </p:cNvPicPr>
          <p:nvPr/>
        </p:nvPicPr>
        <p:blipFill>
          <a:blip r:embed="rId3"/>
          <a:stretch>
            <a:fillRect/>
          </a:stretch>
        </p:blipFill>
        <p:spPr>
          <a:xfrm>
            <a:off x="5779008" y="3584448"/>
            <a:ext cx="237744" cy="237744"/>
          </a:xfrm>
          <a:prstGeom prst="rect">
            <a:avLst/>
          </a:prstGeom>
        </p:spPr>
      </p:pic>
      <p:sp>
        <p:nvSpPr>
          <p:cNvPr id="38" name="Text 32"/>
          <p:cNvSpPr txBox="1"/>
          <p:nvPr/>
        </p:nvSpPr>
        <p:spPr>
          <a:xfrm>
            <a:off x="6263640" y="349300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PIR motion</a:t>
            </a:r>
            <a:endParaRPr lang="en-US" sz="1400" dirty="0"/>
          </a:p>
        </p:txBody>
      </p:sp>
      <p:sp>
        <p:nvSpPr>
          <p:cNvPr id="39" name="Text 33"/>
          <p:cNvSpPr txBox="1"/>
          <p:nvPr/>
        </p:nvSpPr>
        <p:spPr>
          <a:xfrm>
            <a:off x="6263640" y="384048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“is anyone there?” — motion held for 30 s</a:t>
            </a:r>
            <a:endParaRPr lang="en-US" sz="1150" dirty="0"/>
          </a:p>
        </p:txBody>
      </p:sp>
      <p:sp>
        <p:nvSpPr>
          <p:cNvPr id="40" name="Shape 34"/>
          <p:cNvSpPr/>
          <p:nvPr/>
        </p:nvSpPr>
        <p:spPr>
          <a:xfrm>
            <a:off x="8595360" y="3246120"/>
            <a:ext cx="2971800" cy="1298448"/>
          </a:xfrm>
          <a:prstGeom prst="roundRect">
            <a:avLst>
              <a:gd name="adj" fmla="val 8451"/>
            </a:avLst>
          </a:prstGeom>
          <a:solidFill>
            <a:srgbClr val="0D1224"/>
          </a:solidFill>
          <a:ln w="9525">
            <a:solidFill>
              <a:srgbClr val="22305A"/>
            </a:solidFill>
            <a:prstDash val="solid"/>
          </a:ln>
        </p:spPr>
      </p:sp>
      <p:sp>
        <p:nvSpPr>
          <p:cNvPr id="41" name="Shape 35"/>
          <p:cNvSpPr/>
          <p:nvPr/>
        </p:nvSpPr>
        <p:spPr>
          <a:xfrm>
            <a:off x="8823960" y="3474720"/>
            <a:ext cx="457200" cy="457200"/>
          </a:xfrm>
          <a:prstGeom prst="ellipse">
            <a:avLst/>
          </a:prstGeom>
          <a:solidFill>
            <a:srgbClr val="22D3EE">
              <a:alpha val="20000"/>
            </a:srgbClr>
          </a:solidFill>
          <a:ln w="6350">
            <a:solidFill>
              <a:srgbClr val="22D3EE">
                <a:alpha val="60000"/>
              </a:srgbClr>
            </a:solidFill>
            <a:prstDash val="solid"/>
          </a:ln>
        </p:spPr>
      </p:sp>
      <p:pic>
        <p:nvPicPr>
          <p:cNvPr id="42" name="Image 3" descr="preencoded.png">    </p:cNvPr>
          <p:cNvPicPr>
            <a:picLocks noChangeAspect="1"/>
          </p:cNvPicPr>
          <p:nvPr/>
        </p:nvPicPr>
        <p:blipFill>
          <a:blip r:embed="rId4"/>
          <a:stretch>
            <a:fillRect/>
          </a:stretch>
        </p:blipFill>
        <p:spPr>
          <a:xfrm>
            <a:off x="8933688" y="3584448"/>
            <a:ext cx="237744" cy="237744"/>
          </a:xfrm>
          <a:prstGeom prst="rect">
            <a:avLst/>
          </a:prstGeom>
        </p:spPr>
      </p:pic>
      <p:sp>
        <p:nvSpPr>
          <p:cNvPr id="43" name="Text 36"/>
          <p:cNvSpPr txBox="1"/>
          <p:nvPr/>
        </p:nvSpPr>
        <p:spPr>
          <a:xfrm>
            <a:off x="9418320" y="349300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MQ-2 gas</a:t>
            </a:r>
            <a:endParaRPr lang="en-US" sz="1400" dirty="0"/>
          </a:p>
        </p:txBody>
      </p:sp>
      <p:sp>
        <p:nvSpPr>
          <p:cNvPr id="44" name="Text 37"/>
          <p:cNvSpPr txBox="1"/>
          <p:nvPr/>
        </p:nvSpPr>
        <p:spPr>
          <a:xfrm>
            <a:off x="9418320" y="384048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alarm pushed the instant it trips</a:t>
            </a:r>
            <a:endParaRPr lang="en-US" sz="1150" dirty="0"/>
          </a:p>
        </p:txBody>
      </p:sp>
      <p:sp>
        <p:nvSpPr>
          <p:cNvPr id="45" name="Shape 38"/>
          <p:cNvSpPr/>
          <p:nvPr/>
        </p:nvSpPr>
        <p:spPr>
          <a:xfrm>
            <a:off x="5440680" y="4709160"/>
            <a:ext cx="2971800" cy="1298448"/>
          </a:xfrm>
          <a:prstGeom prst="roundRect">
            <a:avLst>
              <a:gd name="adj" fmla="val 8451"/>
            </a:avLst>
          </a:prstGeom>
          <a:solidFill>
            <a:srgbClr val="0D1224"/>
          </a:solidFill>
          <a:ln w="9525">
            <a:solidFill>
              <a:srgbClr val="22305A"/>
            </a:solidFill>
            <a:prstDash val="solid"/>
          </a:ln>
        </p:spPr>
      </p:sp>
      <p:sp>
        <p:nvSpPr>
          <p:cNvPr id="46" name="Shape 39"/>
          <p:cNvSpPr/>
          <p:nvPr/>
        </p:nvSpPr>
        <p:spPr>
          <a:xfrm>
            <a:off x="5669280" y="4937760"/>
            <a:ext cx="457200" cy="457200"/>
          </a:xfrm>
          <a:prstGeom prst="ellipse">
            <a:avLst/>
          </a:prstGeom>
          <a:solidFill>
            <a:srgbClr val="FB7185">
              <a:alpha val="20000"/>
            </a:srgbClr>
          </a:solidFill>
          <a:ln w="6350">
            <a:solidFill>
              <a:srgbClr val="FB7185">
                <a:alpha val="60000"/>
              </a:srgbClr>
            </a:solidFill>
            <a:prstDash val="solid"/>
          </a:ln>
        </p:spPr>
      </p:sp>
      <p:pic>
        <p:nvPicPr>
          <p:cNvPr id="47" name="Image 4" descr="preencoded.png">    </p:cNvPr>
          <p:cNvPicPr>
            <a:picLocks noChangeAspect="1"/>
          </p:cNvPicPr>
          <p:nvPr/>
        </p:nvPicPr>
        <p:blipFill>
          <a:blip r:embed="rId5"/>
          <a:stretch>
            <a:fillRect/>
          </a:stretch>
        </p:blipFill>
        <p:spPr>
          <a:xfrm>
            <a:off x="5779008" y="5047488"/>
            <a:ext cx="237744" cy="237744"/>
          </a:xfrm>
          <a:prstGeom prst="rect">
            <a:avLst/>
          </a:prstGeom>
        </p:spPr>
      </p:pic>
      <p:sp>
        <p:nvSpPr>
          <p:cNvPr id="48" name="Text 40"/>
          <p:cNvSpPr txBox="1"/>
          <p:nvPr/>
        </p:nvSpPr>
        <p:spPr>
          <a:xfrm>
            <a:off x="6263640" y="495604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Flame (IR)</a:t>
            </a:r>
            <a:endParaRPr lang="en-US" sz="1400" dirty="0"/>
          </a:p>
        </p:txBody>
      </p:sp>
      <p:sp>
        <p:nvSpPr>
          <p:cNvPr id="49" name="Text 41"/>
          <p:cNvSpPr txBox="1"/>
          <p:nvPr/>
        </p:nvSpPr>
        <p:spPr>
          <a:xfrm>
            <a:off x="6263640" y="530352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fire yes/no — IRIS says it out loud, unasked</a:t>
            </a:r>
            <a:endParaRPr lang="en-US" sz="1150" dirty="0"/>
          </a:p>
        </p:txBody>
      </p:sp>
      <p:sp>
        <p:nvSpPr>
          <p:cNvPr id="50" name="Shape 42"/>
          <p:cNvSpPr/>
          <p:nvPr/>
        </p:nvSpPr>
        <p:spPr>
          <a:xfrm>
            <a:off x="8595360" y="4709160"/>
            <a:ext cx="2971800" cy="1298448"/>
          </a:xfrm>
          <a:prstGeom prst="roundRect">
            <a:avLst>
              <a:gd name="adj" fmla="val 8451"/>
            </a:avLst>
          </a:prstGeom>
          <a:solidFill>
            <a:srgbClr val="0D1224"/>
          </a:solidFill>
          <a:ln w="9525">
            <a:solidFill>
              <a:srgbClr val="22305A"/>
            </a:solidFill>
            <a:prstDash val="solid"/>
          </a:ln>
        </p:spPr>
      </p:sp>
      <p:sp>
        <p:nvSpPr>
          <p:cNvPr id="51" name="Shape 43"/>
          <p:cNvSpPr/>
          <p:nvPr/>
        </p:nvSpPr>
        <p:spPr>
          <a:xfrm>
            <a:off x="8823960" y="4937760"/>
            <a:ext cx="457200" cy="457200"/>
          </a:xfrm>
          <a:prstGeom prst="ellipse">
            <a:avLst/>
          </a:prstGeom>
          <a:solidFill>
            <a:srgbClr val="A78BFA">
              <a:alpha val="20000"/>
            </a:srgbClr>
          </a:solidFill>
          <a:ln w="6350">
            <a:solidFill>
              <a:srgbClr val="A78BFA">
                <a:alpha val="60000"/>
              </a:srgbClr>
            </a:solidFill>
            <a:prstDash val="solid"/>
          </a:ln>
        </p:spPr>
      </p:sp>
      <p:pic>
        <p:nvPicPr>
          <p:cNvPr id="52" name="Image 5" descr="preencoded.png">    </p:cNvPr>
          <p:cNvPicPr>
            <a:picLocks noChangeAspect="1"/>
          </p:cNvPicPr>
          <p:nvPr/>
        </p:nvPicPr>
        <p:blipFill>
          <a:blip r:embed="rId6"/>
          <a:stretch>
            <a:fillRect/>
          </a:stretch>
        </p:blipFill>
        <p:spPr>
          <a:xfrm>
            <a:off x="8933688" y="5047488"/>
            <a:ext cx="237744" cy="237744"/>
          </a:xfrm>
          <a:prstGeom prst="rect">
            <a:avLst/>
          </a:prstGeom>
        </p:spPr>
      </p:pic>
      <p:sp>
        <p:nvSpPr>
          <p:cNvPr id="53" name="Text 44"/>
          <p:cNvSpPr txBox="1"/>
          <p:nvPr/>
        </p:nvSpPr>
        <p:spPr>
          <a:xfrm>
            <a:off x="9418320" y="4956048"/>
            <a:ext cx="1965960" cy="320040"/>
          </a:xfrm>
          <a:prstGeom prst="rect">
            <a:avLst/>
          </a:prstGeom>
          <a:noFill/>
          <a:ln/>
        </p:spPr>
        <p:txBody>
          <a:bodyPr wrap="square" lIns="0" tIns="0" rIns="0" bIns="0" rtlCol="0" anchor="t"/>
          <a:lstStyle/>
          <a:p>
            <a:pPr indent="0" marL="0">
              <a:buNone/>
            </a:pPr>
            <a:r>
              <a:rPr lang="en-US" sz="1400" b="1" dirty="0">
                <a:solidFill>
                  <a:srgbClr val="E6EDF7"/>
                </a:solidFill>
                <a:latin typeface="Calibri" pitchFamily="34" charset="0"/>
                <a:ea typeface="Calibri" pitchFamily="34" charset="-122"/>
                <a:cs typeface="Calibri" pitchFamily="34" charset="-120"/>
              </a:rPr>
              <a:t>LDR light</a:t>
            </a:r>
            <a:endParaRPr lang="en-US" sz="1400" dirty="0"/>
          </a:p>
        </p:txBody>
      </p:sp>
      <p:sp>
        <p:nvSpPr>
          <p:cNvPr id="54" name="Text 45"/>
          <p:cNvSpPr txBox="1"/>
          <p:nvPr/>
        </p:nvSpPr>
        <p:spPr>
          <a:xfrm>
            <a:off x="9418320" y="5303520"/>
            <a:ext cx="1965960" cy="685800"/>
          </a:xfrm>
          <a:prstGeom prst="rect">
            <a:avLst/>
          </a:prstGeom>
          <a:noFill/>
          <a:ln/>
        </p:spPr>
        <p:txBody>
          <a:bodyPr wrap="square" lIns="0" tIns="0" rIns="0" bIns="0" rtlCol="0" anchor="t"/>
          <a:lstStyle/>
          <a:p>
            <a:pPr indent="0" marL="0">
              <a:lnSpc>
                <a:spcPct val="105000"/>
              </a:lnSpc>
              <a:buNone/>
            </a:pPr>
            <a:r>
              <a:rPr lang="en-US" sz="1150" dirty="0">
                <a:solidFill>
                  <a:srgbClr val="9AA4BC"/>
                </a:solidFill>
                <a:latin typeface="Calibri" pitchFamily="34" charset="0"/>
                <a:ea typeface="Calibri" pitchFamily="34" charset="-122"/>
                <a:cs typeface="Calibri" pitchFamily="34" charset="-120"/>
              </a:rPr>
              <a:t>ambient light level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12 · TALK TO IT</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Say it any way you like</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13</a:t>
            </a:r>
            <a:endParaRPr lang="en-US" sz="900" dirty="0"/>
          </a:p>
        </p:txBody>
      </p:sp>
      <p:sp>
        <p:nvSpPr>
          <p:cNvPr id="7" name="Text 4"/>
          <p:cNvSpPr txBox="1"/>
          <p:nvPr/>
        </p:nvSpPr>
        <p:spPr>
          <a:xfrm>
            <a:off x="548640" y="1737360"/>
            <a:ext cx="2743200" cy="274320"/>
          </a:xfrm>
          <a:prstGeom prst="rect">
            <a:avLst/>
          </a:prstGeom>
          <a:noFill/>
          <a:ln/>
        </p:spPr>
        <p:txBody>
          <a:bodyPr wrap="square" lIns="0" tIns="0" rIns="0" bIns="0" rtlCol="0" anchor="t"/>
          <a:lstStyle/>
          <a:p>
            <a:pPr indent="0" marL="0">
              <a:buNone/>
            </a:pPr>
            <a:r>
              <a:rPr lang="en-US" sz="1100" b="1" spc="300" kern="0" dirty="0">
                <a:solidFill>
                  <a:srgbClr val="5EEAD4"/>
                </a:solidFill>
                <a:latin typeface="Calibri" pitchFamily="34" charset="0"/>
                <a:ea typeface="Calibri" pitchFamily="34" charset="-122"/>
                <a:cs typeface="Calibri" pitchFamily="34" charset="-120"/>
              </a:rPr>
              <a:t>ENGLISH</a:t>
            </a:r>
            <a:endParaRPr lang="en-US" sz="1100" dirty="0"/>
          </a:p>
        </p:txBody>
      </p:sp>
      <p:sp>
        <p:nvSpPr>
          <p:cNvPr id="8" name="Text 5"/>
          <p:cNvSpPr txBox="1"/>
          <p:nvPr/>
        </p:nvSpPr>
        <p:spPr>
          <a:xfrm>
            <a:off x="6217920" y="1737360"/>
            <a:ext cx="2743200" cy="274320"/>
          </a:xfrm>
          <a:prstGeom prst="rect">
            <a:avLst/>
          </a:prstGeom>
          <a:noFill/>
          <a:ln/>
        </p:spPr>
        <p:txBody>
          <a:bodyPr wrap="square" lIns="0" tIns="0" rIns="0" bIns="0" rtlCol="0" anchor="t"/>
          <a:lstStyle/>
          <a:p>
            <a:pPr indent="0" marL="0">
              <a:buNone/>
            </a:pPr>
            <a:r>
              <a:rPr lang="en-US" sz="1100" b="1" spc="300" kern="0" dirty="0">
                <a:solidFill>
                  <a:srgbClr val="F4A259"/>
                </a:solidFill>
                <a:latin typeface="Calibri" pitchFamily="34" charset="0"/>
                <a:ea typeface="Calibri" pitchFamily="34" charset="-122"/>
                <a:cs typeface="Calibri" pitchFamily="34" charset="-120"/>
              </a:rPr>
              <a:t>HINGLISH</a:t>
            </a:r>
            <a:endParaRPr lang="en-US" sz="1100" dirty="0"/>
          </a:p>
        </p:txBody>
      </p:sp>
      <p:sp>
        <p:nvSpPr>
          <p:cNvPr id="9" name="Shape 6"/>
          <p:cNvSpPr/>
          <p:nvPr/>
        </p:nvSpPr>
        <p:spPr>
          <a:xfrm>
            <a:off x="548640" y="2084832"/>
            <a:ext cx="5074920" cy="457200"/>
          </a:xfrm>
          <a:prstGeom prst="roundRect">
            <a:avLst>
              <a:gd name="adj" fmla="val 50000"/>
            </a:avLst>
          </a:prstGeom>
          <a:solidFill>
            <a:srgbClr val="131C34"/>
          </a:solidFill>
          <a:ln w="9525">
            <a:solidFill>
              <a:srgbClr val="5EEAD4">
                <a:alpha val="45000"/>
              </a:srgbClr>
            </a:solidFill>
            <a:prstDash val="solid"/>
          </a:ln>
        </p:spPr>
      </p:sp>
      <p:sp>
        <p:nvSpPr>
          <p:cNvPr id="10" name="Text 7"/>
          <p:cNvSpPr txBox="1"/>
          <p:nvPr/>
        </p:nvSpPr>
        <p:spPr>
          <a:xfrm>
            <a:off x="822960" y="208483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“robot forward”</a:t>
            </a:r>
            <a:endParaRPr lang="en-US" sz="1500" dirty="0"/>
          </a:p>
        </p:txBody>
      </p:sp>
      <p:sp>
        <p:nvSpPr>
          <p:cNvPr id="11" name="Shape 8"/>
          <p:cNvSpPr/>
          <p:nvPr/>
        </p:nvSpPr>
        <p:spPr>
          <a:xfrm>
            <a:off x="6217920" y="2084832"/>
            <a:ext cx="5074920" cy="457200"/>
          </a:xfrm>
          <a:prstGeom prst="roundRect">
            <a:avLst>
              <a:gd name="adj" fmla="val 50000"/>
            </a:avLst>
          </a:prstGeom>
          <a:solidFill>
            <a:srgbClr val="131C34"/>
          </a:solidFill>
          <a:ln w="9525">
            <a:solidFill>
              <a:srgbClr val="F4A259">
                <a:alpha val="45000"/>
              </a:srgbClr>
            </a:solidFill>
            <a:prstDash val="solid"/>
          </a:ln>
        </p:spPr>
      </p:sp>
      <p:sp>
        <p:nvSpPr>
          <p:cNvPr id="12" name="Text 9"/>
          <p:cNvSpPr txBox="1"/>
          <p:nvPr/>
        </p:nvSpPr>
        <p:spPr>
          <a:xfrm>
            <a:off x="6492240" y="208483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“robot aage”</a:t>
            </a:r>
            <a:endParaRPr lang="en-US" sz="1500" dirty="0"/>
          </a:p>
        </p:txBody>
      </p:sp>
      <p:sp>
        <p:nvSpPr>
          <p:cNvPr id="13" name="Shape 10"/>
          <p:cNvSpPr/>
          <p:nvPr/>
        </p:nvSpPr>
        <p:spPr>
          <a:xfrm>
            <a:off x="548640" y="2633472"/>
            <a:ext cx="5074920" cy="457200"/>
          </a:xfrm>
          <a:prstGeom prst="roundRect">
            <a:avLst>
              <a:gd name="adj" fmla="val 50000"/>
            </a:avLst>
          </a:prstGeom>
          <a:solidFill>
            <a:srgbClr val="131C34"/>
          </a:solidFill>
          <a:ln w="9525">
            <a:solidFill>
              <a:srgbClr val="5EEAD4">
                <a:alpha val="45000"/>
              </a:srgbClr>
            </a:solidFill>
            <a:prstDash val="solid"/>
          </a:ln>
        </p:spPr>
      </p:sp>
      <p:sp>
        <p:nvSpPr>
          <p:cNvPr id="14" name="Text 11"/>
          <p:cNvSpPr txBox="1"/>
          <p:nvPr/>
        </p:nvSpPr>
        <p:spPr>
          <a:xfrm>
            <a:off x="822960" y="263347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“stop the robot”</a:t>
            </a:r>
            <a:endParaRPr lang="en-US" sz="1500" dirty="0"/>
          </a:p>
        </p:txBody>
      </p:sp>
      <p:sp>
        <p:nvSpPr>
          <p:cNvPr id="15" name="Shape 12"/>
          <p:cNvSpPr/>
          <p:nvPr/>
        </p:nvSpPr>
        <p:spPr>
          <a:xfrm>
            <a:off x="6217920" y="2633472"/>
            <a:ext cx="5074920" cy="457200"/>
          </a:xfrm>
          <a:prstGeom prst="roundRect">
            <a:avLst>
              <a:gd name="adj" fmla="val 50000"/>
            </a:avLst>
          </a:prstGeom>
          <a:solidFill>
            <a:srgbClr val="131C34"/>
          </a:solidFill>
          <a:ln w="9525">
            <a:solidFill>
              <a:srgbClr val="F4A259">
                <a:alpha val="45000"/>
              </a:srgbClr>
            </a:solidFill>
            <a:prstDash val="solid"/>
          </a:ln>
        </p:spPr>
      </p:sp>
      <p:sp>
        <p:nvSpPr>
          <p:cNvPr id="16" name="Text 13"/>
          <p:cNvSpPr txBox="1"/>
          <p:nvPr/>
        </p:nvSpPr>
        <p:spPr>
          <a:xfrm>
            <a:off x="6492240" y="263347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“robot ruko”</a:t>
            </a:r>
            <a:endParaRPr lang="en-US" sz="1500" dirty="0"/>
          </a:p>
        </p:txBody>
      </p:sp>
      <p:sp>
        <p:nvSpPr>
          <p:cNvPr id="17" name="Shape 14"/>
          <p:cNvSpPr/>
          <p:nvPr/>
        </p:nvSpPr>
        <p:spPr>
          <a:xfrm>
            <a:off x="548640" y="3182112"/>
            <a:ext cx="5074920" cy="457200"/>
          </a:xfrm>
          <a:prstGeom prst="roundRect">
            <a:avLst>
              <a:gd name="adj" fmla="val 50000"/>
            </a:avLst>
          </a:prstGeom>
          <a:solidFill>
            <a:srgbClr val="131C34"/>
          </a:solidFill>
          <a:ln w="9525">
            <a:solidFill>
              <a:srgbClr val="5EEAD4">
                <a:alpha val="45000"/>
              </a:srgbClr>
            </a:solidFill>
            <a:prstDash val="solid"/>
          </a:ln>
        </p:spPr>
      </p:sp>
      <p:sp>
        <p:nvSpPr>
          <p:cNvPr id="18" name="Text 15"/>
          <p:cNvSpPr txBox="1"/>
          <p:nvPr/>
        </p:nvSpPr>
        <p:spPr>
          <a:xfrm>
            <a:off x="822960" y="318211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“what's the temperature”</a:t>
            </a:r>
            <a:endParaRPr lang="en-US" sz="1500" dirty="0"/>
          </a:p>
        </p:txBody>
      </p:sp>
      <p:sp>
        <p:nvSpPr>
          <p:cNvPr id="19" name="Shape 16"/>
          <p:cNvSpPr/>
          <p:nvPr/>
        </p:nvSpPr>
        <p:spPr>
          <a:xfrm>
            <a:off x="6217920" y="3182112"/>
            <a:ext cx="5074920" cy="457200"/>
          </a:xfrm>
          <a:prstGeom prst="roundRect">
            <a:avLst>
              <a:gd name="adj" fmla="val 50000"/>
            </a:avLst>
          </a:prstGeom>
          <a:solidFill>
            <a:srgbClr val="131C34"/>
          </a:solidFill>
          <a:ln w="9525">
            <a:solidFill>
              <a:srgbClr val="F4A259">
                <a:alpha val="45000"/>
              </a:srgbClr>
            </a:solidFill>
            <a:prstDash val="solid"/>
          </a:ln>
        </p:spPr>
      </p:sp>
      <p:sp>
        <p:nvSpPr>
          <p:cNvPr id="20" name="Text 17"/>
          <p:cNvSpPr txBox="1"/>
          <p:nvPr/>
        </p:nvSpPr>
        <p:spPr>
          <a:xfrm>
            <a:off x="6492240" y="318211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“kitna garam hai”</a:t>
            </a:r>
            <a:endParaRPr lang="en-US" sz="1500" dirty="0"/>
          </a:p>
        </p:txBody>
      </p:sp>
      <p:sp>
        <p:nvSpPr>
          <p:cNvPr id="21" name="Shape 18"/>
          <p:cNvSpPr/>
          <p:nvPr/>
        </p:nvSpPr>
        <p:spPr>
          <a:xfrm>
            <a:off x="548640" y="3730752"/>
            <a:ext cx="5074920" cy="457200"/>
          </a:xfrm>
          <a:prstGeom prst="roundRect">
            <a:avLst>
              <a:gd name="adj" fmla="val 50000"/>
            </a:avLst>
          </a:prstGeom>
          <a:solidFill>
            <a:srgbClr val="131C34"/>
          </a:solidFill>
          <a:ln w="9525">
            <a:solidFill>
              <a:srgbClr val="5EEAD4">
                <a:alpha val="45000"/>
              </a:srgbClr>
            </a:solidFill>
            <a:prstDash val="solid"/>
          </a:ln>
        </p:spPr>
      </p:sp>
      <p:sp>
        <p:nvSpPr>
          <p:cNvPr id="22" name="Text 19"/>
          <p:cNvSpPr txBox="1"/>
          <p:nvPr/>
        </p:nvSpPr>
        <p:spPr>
          <a:xfrm>
            <a:off x="822960" y="373075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“is there a fire”</a:t>
            </a:r>
            <a:endParaRPr lang="en-US" sz="1500" dirty="0"/>
          </a:p>
        </p:txBody>
      </p:sp>
      <p:sp>
        <p:nvSpPr>
          <p:cNvPr id="23" name="Shape 20"/>
          <p:cNvSpPr/>
          <p:nvPr/>
        </p:nvSpPr>
        <p:spPr>
          <a:xfrm>
            <a:off x="6217920" y="3730752"/>
            <a:ext cx="5074920" cy="457200"/>
          </a:xfrm>
          <a:prstGeom prst="roundRect">
            <a:avLst>
              <a:gd name="adj" fmla="val 50000"/>
            </a:avLst>
          </a:prstGeom>
          <a:solidFill>
            <a:srgbClr val="131C34"/>
          </a:solidFill>
          <a:ln w="9525">
            <a:solidFill>
              <a:srgbClr val="F4A259">
                <a:alpha val="45000"/>
              </a:srgbClr>
            </a:solidFill>
            <a:prstDash val="solid"/>
          </a:ln>
        </p:spPr>
      </p:sp>
      <p:sp>
        <p:nvSpPr>
          <p:cNvPr id="24" name="Text 21"/>
          <p:cNvSpPr txBox="1"/>
          <p:nvPr/>
        </p:nvSpPr>
        <p:spPr>
          <a:xfrm>
            <a:off x="6492240" y="373075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“aag lagi hai kya”</a:t>
            </a:r>
            <a:endParaRPr lang="en-US" sz="1500" dirty="0"/>
          </a:p>
        </p:txBody>
      </p:sp>
      <p:sp>
        <p:nvSpPr>
          <p:cNvPr id="25" name="Shape 22"/>
          <p:cNvSpPr/>
          <p:nvPr/>
        </p:nvSpPr>
        <p:spPr>
          <a:xfrm>
            <a:off x="548640" y="4279392"/>
            <a:ext cx="5074920" cy="457200"/>
          </a:xfrm>
          <a:prstGeom prst="roundRect">
            <a:avLst>
              <a:gd name="adj" fmla="val 50000"/>
            </a:avLst>
          </a:prstGeom>
          <a:solidFill>
            <a:srgbClr val="131C34"/>
          </a:solidFill>
          <a:ln w="9525">
            <a:solidFill>
              <a:srgbClr val="5EEAD4">
                <a:alpha val="45000"/>
              </a:srgbClr>
            </a:solidFill>
            <a:prstDash val="solid"/>
          </a:ln>
        </p:spPr>
      </p:sp>
      <p:sp>
        <p:nvSpPr>
          <p:cNvPr id="26" name="Text 23"/>
          <p:cNvSpPr txBox="1"/>
          <p:nvPr/>
        </p:nvSpPr>
        <p:spPr>
          <a:xfrm>
            <a:off x="822960" y="427939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“look happy”</a:t>
            </a:r>
            <a:endParaRPr lang="en-US" sz="1500" dirty="0"/>
          </a:p>
        </p:txBody>
      </p:sp>
      <p:sp>
        <p:nvSpPr>
          <p:cNvPr id="27" name="Shape 24"/>
          <p:cNvSpPr/>
          <p:nvPr/>
        </p:nvSpPr>
        <p:spPr>
          <a:xfrm>
            <a:off x="6217920" y="4279392"/>
            <a:ext cx="5074920" cy="457200"/>
          </a:xfrm>
          <a:prstGeom prst="roundRect">
            <a:avLst>
              <a:gd name="adj" fmla="val 50000"/>
            </a:avLst>
          </a:prstGeom>
          <a:solidFill>
            <a:srgbClr val="131C34"/>
          </a:solidFill>
          <a:ln w="9525">
            <a:solidFill>
              <a:srgbClr val="F4A259">
                <a:alpha val="45000"/>
              </a:srgbClr>
            </a:solidFill>
            <a:prstDash val="solid"/>
          </a:ln>
        </p:spPr>
      </p:sp>
      <p:sp>
        <p:nvSpPr>
          <p:cNvPr id="28" name="Text 25"/>
          <p:cNvSpPr txBox="1"/>
          <p:nvPr/>
        </p:nvSpPr>
        <p:spPr>
          <a:xfrm>
            <a:off x="6492240" y="427939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“khush ho jao”</a:t>
            </a:r>
            <a:endParaRPr lang="en-US" sz="1500" dirty="0"/>
          </a:p>
        </p:txBody>
      </p:sp>
      <p:sp>
        <p:nvSpPr>
          <p:cNvPr id="29" name="Shape 26"/>
          <p:cNvSpPr/>
          <p:nvPr/>
        </p:nvSpPr>
        <p:spPr>
          <a:xfrm>
            <a:off x="548640" y="4828032"/>
            <a:ext cx="5074920" cy="457200"/>
          </a:xfrm>
          <a:prstGeom prst="roundRect">
            <a:avLst>
              <a:gd name="adj" fmla="val 50000"/>
            </a:avLst>
          </a:prstGeom>
          <a:solidFill>
            <a:srgbClr val="131C34"/>
          </a:solidFill>
          <a:ln w="9525">
            <a:solidFill>
              <a:srgbClr val="5EEAD4">
                <a:alpha val="45000"/>
              </a:srgbClr>
            </a:solidFill>
            <a:prstDash val="solid"/>
          </a:ln>
        </p:spPr>
      </p:sp>
      <p:sp>
        <p:nvSpPr>
          <p:cNvPr id="30" name="Text 27"/>
          <p:cNvSpPr txBox="1"/>
          <p:nvPr/>
        </p:nvSpPr>
        <p:spPr>
          <a:xfrm>
            <a:off x="822960" y="482803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“how far is the object”</a:t>
            </a:r>
            <a:endParaRPr lang="en-US" sz="1500" dirty="0"/>
          </a:p>
        </p:txBody>
      </p:sp>
      <p:sp>
        <p:nvSpPr>
          <p:cNvPr id="31" name="Shape 28"/>
          <p:cNvSpPr/>
          <p:nvPr/>
        </p:nvSpPr>
        <p:spPr>
          <a:xfrm>
            <a:off x="6217920" y="4828032"/>
            <a:ext cx="5074920" cy="457200"/>
          </a:xfrm>
          <a:prstGeom prst="roundRect">
            <a:avLst>
              <a:gd name="adj" fmla="val 50000"/>
            </a:avLst>
          </a:prstGeom>
          <a:solidFill>
            <a:srgbClr val="131C34"/>
          </a:solidFill>
          <a:ln w="9525">
            <a:solidFill>
              <a:srgbClr val="F4A259">
                <a:alpha val="45000"/>
              </a:srgbClr>
            </a:solidFill>
            <a:prstDash val="solid"/>
          </a:ln>
        </p:spPr>
      </p:sp>
      <p:sp>
        <p:nvSpPr>
          <p:cNvPr id="32" name="Text 29"/>
          <p:cNvSpPr txBox="1"/>
          <p:nvPr/>
        </p:nvSpPr>
        <p:spPr>
          <a:xfrm>
            <a:off x="6492240" y="4828032"/>
            <a:ext cx="4526280" cy="457200"/>
          </a:xfrm>
          <a:prstGeom prst="rect">
            <a:avLst/>
          </a:prstGeom>
          <a:noFill/>
          <a:ln/>
        </p:spPr>
        <p:txBody>
          <a:bodyPr wrap="square" lIns="0" tIns="0" rIns="0" bIns="0" rtlCol="0" anchor="ctr"/>
          <a:lstStyle/>
          <a:p>
            <a:pPr indent="0" marL="0">
              <a:buNone/>
            </a:pPr>
            <a:r>
              <a:rPr lang="en-US" sz="1500" dirty="0">
                <a:solidFill>
                  <a:srgbClr val="E6EDF7"/>
                </a:solidFill>
                <a:latin typeface="Calibri" pitchFamily="34" charset="0"/>
                <a:ea typeface="Calibri" pitchFamily="34" charset="-122"/>
                <a:cs typeface="Calibri" pitchFamily="34" charset="-120"/>
              </a:rPr>
              <a:t>“kitna door hai”</a:t>
            </a:r>
            <a:endParaRPr lang="en-US" sz="1500" dirty="0"/>
          </a:p>
        </p:txBody>
      </p:sp>
      <p:sp>
        <p:nvSpPr>
          <p:cNvPr id="33" name="Text 30"/>
          <p:cNvSpPr txBox="1"/>
          <p:nvPr/>
        </p:nvSpPr>
        <p:spPr>
          <a:xfrm>
            <a:off x="548640" y="5504688"/>
            <a:ext cx="11064240" cy="292608"/>
          </a:xfrm>
          <a:prstGeom prst="rect">
            <a:avLst/>
          </a:prstGeom>
          <a:noFill/>
          <a:ln/>
        </p:spPr>
        <p:txBody>
          <a:bodyPr wrap="square" lIns="0" tIns="0" rIns="0" bIns="0" rtlCol="0" anchor="t"/>
          <a:lstStyle/>
          <a:p>
            <a:pPr indent="0" marL="0">
              <a:buNone/>
            </a:pPr>
            <a:r>
              <a:rPr lang="en-US" sz="1200" dirty="0">
                <a:solidFill>
                  <a:srgbClr val="9AA4BC"/>
                </a:solidFill>
                <a:latin typeface="Calibri" pitchFamily="34" charset="0"/>
                <a:ea typeface="Calibri" pitchFamily="34" charset="-122"/>
                <a:cs typeface="Calibri" pitchFamily="34" charset="-120"/>
              </a:rPr>
              <a:t>also:  “remind me every weekday at 9 to check email”  ·  “make a ppt about space exploration”  ·  “what's in my clipboard”  ·  “lock my pc”</a:t>
            </a:r>
            <a:endParaRPr lang="en-US" sz="1200" dirty="0"/>
          </a:p>
        </p:txBody>
      </p:sp>
      <p:sp>
        <p:nvSpPr>
          <p:cNvPr id="34" name="Shape 31"/>
          <p:cNvSpPr/>
          <p:nvPr/>
        </p:nvSpPr>
        <p:spPr>
          <a:xfrm>
            <a:off x="548640" y="5852160"/>
            <a:ext cx="6583680" cy="420624"/>
          </a:xfrm>
          <a:prstGeom prst="roundRect">
            <a:avLst>
              <a:gd name="adj" fmla="val 50000"/>
            </a:avLst>
          </a:prstGeom>
          <a:solidFill>
            <a:srgbClr val="5EEAD4">
              <a:alpha val="15000"/>
            </a:srgbClr>
          </a:solidFill>
          <a:ln w="9525">
            <a:solidFill>
              <a:srgbClr val="5EEAD4">
                <a:alpha val="60000"/>
              </a:srgbClr>
            </a:solidFill>
            <a:prstDash val="solid"/>
          </a:ln>
        </p:spPr>
      </p:sp>
      <p:sp>
        <p:nvSpPr>
          <p:cNvPr id="35" name="Text 32"/>
          <p:cNvSpPr txBox="1"/>
          <p:nvPr/>
        </p:nvSpPr>
        <p:spPr>
          <a:xfrm>
            <a:off x="822960" y="5852160"/>
            <a:ext cx="6217920" cy="420624"/>
          </a:xfrm>
          <a:prstGeom prst="rect">
            <a:avLst/>
          </a:prstGeom>
          <a:noFill/>
          <a:ln/>
        </p:spPr>
        <p:txBody>
          <a:bodyPr wrap="square" lIns="0" tIns="0" rIns="0" bIns="0"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IRIS:  </a:t>
            </a:r>
            <a:pPr indent="0" marL="0">
              <a:buNone/>
            </a:pPr>
            <a:r>
              <a:rPr lang="en-US" sz="1400" dirty="0">
                <a:solidFill>
                  <a:srgbClr val="E6EDF7"/>
                </a:solidFill>
                <a:latin typeface="Calibri" pitchFamily="34" charset="0"/>
                <a:ea typeface="Calibri" pitchFamily="34" charset="-122"/>
                <a:cs typeface="Calibri" pitchFamily="34" charset="-120"/>
              </a:rPr>
              <a:t>“40 cm ahead, 12 cm behind on the left.”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13 · WHAT BROKE, AND WHAT IT TAUGHT US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Anything that can say “OK” without doing the thing, eventually will</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783080"/>
            <a:ext cx="5394960" cy="1874520"/>
          </a:xfrm>
          <a:prstGeom prst="roundRect">
            <a:avLst>
              <a:gd name="adj" fmla="val 5854"/>
            </a:avLst>
          </a:prstGeom>
          <a:solidFill>
            <a:srgbClr val="0D1224"/>
          </a:solidFill>
          <a:ln w="9525">
            <a:solidFill>
              <a:srgbClr val="22305A"/>
            </a:solidFill>
            <a:prstDash val="solid"/>
          </a:ln>
        </p:spPr>
      </p:sp>
      <p:sp>
        <p:nvSpPr>
          <p:cNvPr id="8" name="Shape 5"/>
          <p:cNvSpPr/>
          <p:nvPr/>
        </p:nvSpPr>
        <p:spPr>
          <a:xfrm>
            <a:off x="822960" y="2057400"/>
            <a:ext cx="566928" cy="566928"/>
          </a:xfrm>
          <a:prstGeom prst="ellipse">
            <a:avLst/>
          </a:prstGeom>
          <a:solidFill>
            <a:srgbClr val="FB7185">
              <a:alpha val="20000"/>
            </a:srgbClr>
          </a:solidFill>
          <a:ln w="6350">
            <a:solidFill>
              <a:srgbClr val="FB7185">
                <a:alpha val="60000"/>
              </a:srgbClr>
            </a:solidFill>
            <a:prstDash val="solid"/>
          </a:ln>
        </p:spPr>
      </p:sp>
      <p:pic>
        <p:nvPicPr>
          <p:cNvPr id="9" name="Image 0" descr="preencoded.png">    </p:cNvPr>
          <p:cNvPicPr>
            <a:picLocks noChangeAspect="1"/>
          </p:cNvPicPr>
          <p:nvPr/>
        </p:nvPicPr>
        <p:blipFill>
          <a:blip r:embed="rId1"/>
          <a:stretch>
            <a:fillRect/>
          </a:stretch>
        </p:blipFill>
        <p:spPr>
          <a:xfrm>
            <a:off x="959023" y="2193463"/>
            <a:ext cx="294803" cy="294803"/>
          </a:xfrm>
          <a:prstGeom prst="rect">
            <a:avLst/>
          </a:prstGeom>
        </p:spPr>
      </p:pic>
      <p:sp>
        <p:nvSpPr>
          <p:cNvPr id="10" name="Text 6"/>
          <p:cNvSpPr txBox="1"/>
          <p:nvPr/>
        </p:nvSpPr>
        <p:spPr>
          <a:xfrm>
            <a:off x="1600200" y="2057400"/>
            <a:ext cx="4069080" cy="365760"/>
          </a:xfrm>
          <a:prstGeom prst="rect">
            <a:avLst/>
          </a:prstGeom>
          <a:noFill/>
          <a:ln/>
        </p:spPr>
        <p:txBody>
          <a:bodyPr wrap="square" lIns="0" tIns="0" rIns="0" bIns="0" rtlCol="0" anchor="t"/>
          <a:lstStyle/>
          <a:p>
            <a:pPr indent="0" marL="0">
              <a:buNone/>
            </a:pPr>
            <a:r>
              <a:rPr lang="en-US" sz="1650" b="1" dirty="0">
                <a:solidFill>
                  <a:srgbClr val="E6EDF7"/>
                </a:solidFill>
                <a:latin typeface="Calibri" pitchFamily="34" charset="0"/>
                <a:ea typeface="Calibri" pitchFamily="34" charset="-122"/>
                <a:cs typeface="Calibri" pitchFamily="34" charset="-120"/>
              </a:rPr>
              <a:t>A function that called itself</a:t>
            </a:r>
            <a:endParaRPr lang="en-US" sz="1650" dirty="0"/>
          </a:p>
        </p:txBody>
      </p:sp>
      <p:sp>
        <p:nvSpPr>
          <p:cNvPr id="11" name="Text 7"/>
          <p:cNvSpPr txBox="1"/>
          <p:nvPr/>
        </p:nvSpPr>
        <p:spPr>
          <a:xfrm>
            <a:off x="1600200" y="2468880"/>
            <a:ext cx="4069080" cy="114300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The board answered 200 to every drive command and never moved a motor. Indistinguishable from unpowered drivers — we bisected the wiring for hours before reading the code.</a:t>
            </a:r>
            <a:endParaRPr lang="en-US" sz="1250" dirty="0"/>
          </a:p>
        </p:txBody>
      </p:sp>
      <p:sp>
        <p:nvSpPr>
          <p:cNvPr id="12" name="Shape 8"/>
          <p:cNvSpPr/>
          <p:nvPr/>
        </p:nvSpPr>
        <p:spPr>
          <a:xfrm>
            <a:off x="6217920" y="1783080"/>
            <a:ext cx="5394960" cy="1874520"/>
          </a:xfrm>
          <a:prstGeom prst="roundRect">
            <a:avLst>
              <a:gd name="adj" fmla="val 5854"/>
            </a:avLst>
          </a:prstGeom>
          <a:solidFill>
            <a:srgbClr val="0D1224"/>
          </a:solidFill>
          <a:ln w="9525">
            <a:solidFill>
              <a:srgbClr val="22305A"/>
            </a:solidFill>
            <a:prstDash val="solid"/>
          </a:ln>
        </p:spPr>
      </p:sp>
      <p:sp>
        <p:nvSpPr>
          <p:cNvPr id="13" name="Shape 9"/>
          <p:cNvSpPr/>
          <p:nvPr/>
        </p:nvSpPr>
        <p:spPr>
          <a:xfrm>
            <a:off x="6492240" y="2057400"/>
            <a:ext cx="566928" cy="566928"/>
          </a:xfrm>
          <a:prstGeom prst="ellipse">
            <a:avLst/>
          </a:prstGeom>
          <a:solidFill>
            <a:srgbClr val="F4A259">
              <a:alpha val="20000"/>
            </a:srgbClr>
          </a:solidFill>
          <a:ln w="6350">
            <a:solidFill>
              <a:srgbClr val="F4A259">
                <a:alpha val="60000"/>
              </a:srgbClr>
            </a:solidFill>
            <a:prstDash val="solid"/>
          </a:ln>
        </p:spPr>
      </p:sp>
      <p:pic>
        <p:nvPicPr>
          <p:cNvPr id="14" name="Image 1" descr="preencoded.png">    </p:cNvPr>
          <p:cNvPicPr>
            <a:picLocks noChangeAspect="1"/>
          </p:cNvPicPr>
          <p:nvPr/>
        </p:nvPicPr>
        <p:blipFill>
          <a:blip r:embed="rId2"/>
          <a:stretch>
            <a:fillRect/>
          </a:stretch>
        </p:blipFill>
        <p:spPr>
          <a:xfrm>
            <a:off x="6628303" y="2193463"/>
            <a:ext cx="294803" cy="294803"/>
          </a:xfrm>
          <a:prstGeom prst="rect">
            <a:avLst/>
          </a:prstGeom>
        </p:spPr>
      </p:pic>
      <p:sp>
        <p:nvSpPr>
          <p:cNvPr id="15" name="Text 10"/>
          <p:cNvSpPr txBox="1"/>
          <p:nvPr/>
        </p:nvSpPr>
        <p:spPr>
          <a:xfrm>
            <a:off x="7269480" y="2057400"/>
            <a:ext cx="4069080" cy="365760"/>
          </a:xfrm>
          <a:prstGeom prst="rect">
            <a:avLst/>
          </a:prstGeom>
          <a:noFill/>
          <a:ln/>
        </p:spPr>
        <p:txBody>
          <a:bodyPr wrap="square" lIns="0" tIns="0" rIns="0" bIns="0" rtlCol="0" anchor="t"/>
          <a:lstStyle/>
          <a:p>
            <a:pPr indent="0" marL="0">
              <a:buNone/>
            </a:pPr>
            <a:r>
              <a:rPr lang="en-US" sz="1650" b="1" dirty="0">
                <a:solidFill>
                  <a:srgbClr val="E6EDF7"/>
                </a:solidFill>
                <a:latin typeface="Calibri" pitchFamily="34" charset="0"/>
                <a:ea typeface="Calibri" pitchFamily="34" charset="-122"/>
                <a:cs typeface="Calibri" pitchFamily="34" charset="-120"/>
              </a:rPr>
              <a:t>One open tab, five-second lag</a:t>
            </a:r>
            <a:endParaRPr lang="en-US" sz="1650" dirty="0"/>
          </a:p>
        </p:txBody>
      </p:sp>
      <p:sp>
        <p:nvSpPr>
          <p:cNvPr id="16" name="Text 11"/>
          <p:cNvSpPr txBox="1"/>
          <p:nvPr/>
        </p:nvSpPr>
        <p:spPr>
          <a:xfrm>
            <a:off x="7269480" y="2468880"/>
            <a:ext cx="4069080" cy="114300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Not the motors: the web server serves one client at a time and waits 5 s on an idle socket. Fixed with a UDP fast path the page never touches.</a:t>
            </a:r>
            <a:endParaRPr lang="en-US" sz="1250" dirty="0"/>
          </a:p>
        </p:txBody>
      </p:sp>
      <p:sp>
        <p:nvSpPr>
          <p:cNvPr id="17" name="Shape 12"/>
          <p:cNvSpPr/>
          <p:nvPr/>
        </p:nvSpPr>
        <p:spPr>
          <a:xfrm>
            <a:off x="548640" y="3886200"/>
            <a:ext cx="5394960" cy="1874520"/>
          </a:xfrm>
          <a:prstGeom prst="roundRect">
            <a:avLst>
              <a:gd name="adj" fmla="val 5854"/>
            </a:avLst>
          </a:prstGeom>
          <a:solidFill>
            <a:srgbClr val="0D1224"/>
          </a:solidFill>
          <a:ln w="9525">
            <a:solidFill>
              <a:srgbClr val="22305A"/>
            </a:solidFill>
            <a:prstDash val="solid"/>
          </a:ln>
        </p:spPr>
      </p:sp>
      <p:sp>
        <p:nvSpPr>
          <p:cNvPr id="18" name="Shape 13"/>
          <p:cNvSpPr/>
          <p:nvPr/>
        </p:nvSpPr>
        <p:spPr>
          <a:xfrm>
            <a:off x="822960" y="4160520"/>
            <a:ext cx="566928" cy="566928"/>
          </a:xfrm>
          <a:prstGeom prst="ellipse">
            <a:avLst/>
          </a:prstGeom>
          <a:solidFill>
            <a:srgbClr val="22D3EE">
              <a:alpha val="20000"/>
            </a:srgbClr>
          </a:solidFill>
          <a:ln w="6350">
            <a:solidFill>
              <a:srgbClr val="22D3EE">
                <a:alpha val="60000"/>
              </a:srgbClr>
            </a:solidFill>
            <a:prstDash val="solid"/>
          </a:ln>
        </p:spPr>
      </p:sp>
      <p:pic>
        <p:nvPicPr>
          <p:cNvPr id="19" name="Image 2" descr="preencoded.png">    </p:cNvPr>
          <p:cNvPicPr>
            <a:picLocks noChangeAspect="1"/>
          </p:cNvPicPr>
          <p:nvPr/>
        </p:nvPicPr>
        <p:blipFill>
          <a:blip r:embed="rId3"/>
          <a:stretch>
            <a:fillRect/>
          </a:stretch>
        </p:blipFill>
        <p:spPr>
          <a:xfrm>
            <a:off x="959023" y="4296583"/>
            <a:ext cx="294803" cy="294803"/>
          </a:xfrm>
          <a:prstGeom prst="rect">
            <a:avLst/>
          </a:prstGeom>
        </p:spPr>
      </p:pic>
      <p:sp>
        <p:nvSpPr>
          <p:cNvPr id="20" name="Text 14"/>
          <p:cNvSpPr txBox="1"/>
          <p:nvPr/>
        </p:nvSpPr>
        <p:spPr>
          <a:xfrm>
            <a:off x="1600200" y="4160520"/>
            <a:ext cx="4069080" cy="365760"/>
          </a:xfrm>
          <a:prstGeom prst="rect">
            <a:avLst/>
          </a:prstGeom>
          <a:noFill/>
          <a:ln/>
        </p:spPr>
        <p:txBody>
          <a:bodyPr wrap="square" lIns="0" tIns="0" rIns="0" bIns="0" rtlCol="0" anchor="t"/>
          <a:lstStyle/>
          <a:p>
            <a:pPr indent="0" marL="0">
              <a:buNone/>
            </a:pPr>
            <a:r>
              <a:rPr lang="en-US" sz="1650" b="1" dirty="0">
                <a:solidFill>
                  <a:srgbClr val="E6EDF7"/>
                </a:solidFill>
                <a:latin typeface="Calibri" pitchFamily="34" charset="0"/>
                <a:ea typeface="Calibri" pitchFamily="34" charset="-122"/>
                <a:cs typeface="Calibri" pitchFamily="34" charset="-120"/>
              </a:rPr>
              <a:t>The chip, not the wiring</a:t>
            </a:r>
            <a:endParaRPr lang="en-US" sz="1650" dirty="0"/>
          </a:p>
        </p:txBody>
      </p:sp>
      <p:sp>
        <p:nvSpPr>
          <p:cNvPr id="21" name="Text 15"/>
          <p:cNvSpPr txBox="1"/>
          <p:nvPr/>
        </p:nvSpPr>
        <p:spPr>
          <a:xfrm>
            <a:off x="1600200" y="4572000"/>
            <a:ext cx="4069080" cy="114300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GPIO 11–20 cannot read a voltage while WiFi is on. GPIO 19/20 belong to the USB port and must be taken back in code. Neither is fixable with a wire.</a:t>
            </a:r>
            <a:endParaRPr lang="en-US" sz="1250" dirty="0"/>
          </a:p>
        </p:txBody>
      </p:sp>
      <p:sp>
        <p:nvSpPr>
          <p:cNvPr id="22" name="Shape 16"/>
          <p:cNvSpPr/>
          <p:nvPr/>
        </p:nvSpPr>
        <p:spPr>
          <a:xfrm>
            <a:off x="6217920" y="3886200"/>
            <a:ext cx="5394960" cy="1874520"/>
          </a:xfrm>
          <a:prstGeom prst="roundRect">
            <a:avLst>
              <a:gd name="adj" fmla="val 5854"/>
            </a:avLst>
          </a:prstGeom>
          <a:solidFill>
            <a:srgbClr val="0D1224"/>
          </a:solidFill>
          <a:ln w="9525">
            <a:solidFill>
              <a:srgbClr val="22305A"/>
            </a:solidFill>
            <a:prstDash val="solid"/>
          </a:ln>
        </p:spPr>
      </p:sp>
      <p:sp>
        <p:nvSpPr>
          <p:cNvPr id="23" name="Shape 17"/>
          <p:cNvSpPr/>
          <p:nvPr/>
        </p:nvSpPr>
        <p:spPr>
          <a:xfrm>
            <a:off x="6492240" y="4160520"/>
            <a:ext cx="566928" cy="566928"/>
          </a:xfrm>
          <a:prstGeom prst="ellipse">
            <a:avLst/>
          </a:prstGeom>
          <a:solidFill>
            <a:srgbClr val="818CF8">
              <a:alpha val="20000"/>
            </a:srgbClr>
          </a:solidFill>
          <a:ln w="6350">
            <a:solidFill>
              <a:srgbClr val="818CF8">
                <a:alpha val="60000"/>
              </a:srgbClr>
            </a:solidFill>
            <a:prstDash val="solid"/>
          </a:ln>
        </p:spPr>
      </p:sp>
      <p:pic>
        <p:nvPicPr>
          <p:cNvPr id="24" name="Image 3" descr="preencoded.png">    </p:cNvPr>
          <p:cNvPicPr>
            <a:picLocks noChangeAspect="1"/>
          </p:cNvPicPr>
          <p:nvPr/>
        </p:nvPicPr>
        <p:blipFill>
          <a:blip r:embed="rId4"/>
          <a:stretch>
            <a:fillRect/>
          </a:stretch>
        </p:blipFill>
        <p:spPr>
          <a:xfrm>
            <a:off x="6628303" y="4296583"/>
            <a:ext cx="294803" cy="294803"/>
          </a:xfrm>
          <a:prstGeom prst="rect">
            <a:avLst/>
          </a:prstGeom>
        </p:spPr>
      </p:pic>
      <p:sp>
        <p:nvSpPr>
          <p:cNvPr id="25" name="Text 18"/>
          <p:cNvSpPr txBox="1"/>
          <p:nvPr/>
        </p:nvSpPr>
        <p:spPr>
          <a:xfrm>
            <a:off x="7269480" y="4160520"/>
            <a:ext cx="4069080" cy="365760"/>
          </a:xfrm>
          <a:prstGeom prst="rect">
            <a:avLst/>
          </a:prstGeom>
          <a:noFill/>
          <a:ln/>
        </p:spPr>
        <p:txBody>
          <a:bodyPr wrap="square" lIns="0" tIns="0" rIns="0" bIns="0" rtlCol="0" anchor="t"/>
          <a:lstStyle/>
          <a:p>
            <a:pPr indent="0" marL="0">
              <a:buNone/>
            </a:pPr>
            <a:r>
              <a:rPr lang="en-US" sz="1650" b="1" dirty="0">
                <a:solidFill>
                  <a:srgbClr val="E6EDF7"/>
                </a:solidFill>
                <a:latin typeface="Calibri" pitchFamily="34" charset="0"/>
                <a:ea typeface="Calibri" pitchFamily="34" charset="-122"/>
                <a:cs typeface="Calibri" pitchFamily="34" charset="-120"/>
              </a:rPr>
              <a:t>Two OLEDs, one address</a:t>
            </a:r>
            <a:endParaRPr lang="en-US" sz="1650" dirty="0"/>
          </a:p>
        </p:txBody>
      </p:sp>
      <p:sp>
        <p:nvSpPr>
          <p:cNvPr id="26" name="Text 19"/>
          <p:cNvSpPr txBox="1"/>
          <p:nvPr/>
        </p:nvSpPr>
        <p:spPr>
          <a:xfrm>
            <a:off x="7269480" y="4572000"/>
            <a:ext cx="4069080" cy="1143000"/>
          </a:xfrm>
          <a:prstGeom prst="rect">
            <a:avLst/>
          </a:prstGeom>
          <a:noFill/>
          <a:ln/>
        </p:spPr>
        <p:txBody>
          <a:bodyPr wrap="square" lIns="0" tIns="0" rIns="0" bIns="0" rtlCol="0" anchor="t"/>
          <a:lstStyle/>
          <a:p>
            <a:pPr indent="0" marL="0">
              <a:lnSpc>
                <a:spcPct val="110000"/>
              </a:lnSpc>
              <a:buNone/>
            </a:pPr>
            <a:r>
              <a:rPr lang="en-US" sz="1250" dirty="0">
                <a:solidFill>
                  <a:srgbClr val="9AA4BC"/>
                </a:solidFill>
                <a:latin typeface="Calibri" pitchFamily="34" charset="0"/>
                <a:ea typeface="Calibri" pitchFamily="34" charset="-122"/>
                <a:cs typeface="Calibri" pitchFamily="34" charset="-120"/>
              </a:rPr>
              <a:t>Every SSD1306 answers at 0x3C; on one bus they show one picture. So twin panels are a mode, and a second bus buys the wink.</a:t>
            </a:r>
            <a:endParaRPr lang="en-US" sz="1250" dirty="0"/>
          </a:p>
        </p:txBody>
      </p:sp>
      <p:sp>
        <p:nvSpPr>
          <p:cNvPr id="27" name="Text 20"/>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300" i="1" dirty="0">
                <a:solidFill>
                  <a:srgbClr val="5EEAD4"/>
                </a:solidFill>
                <a:latin typeface="Calibri" pitchFamily="34" charset="0"/>
                <a:ea typeface="Calibri" pitchFamily="34" charset="-122"/>
                <a:cs typeface="Calibri" pitchFamily="34" charset="-120"/>
              </a:rPr>
              <a:t>The rule we build by now: refuse instead of defaulting. A missing argument is an error — never a silent stop.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14 · LIVE DEMO</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What we will show you</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801368"/>
            <a:ext cx="566928" cy="566928"/>
          </a:xfrm>
          <a:prstGeom prst="ellipse">
            <a:avLst/>
          </a:prstGeom>
          <a:solidFill>
            <a:srgbClr val="5EEAD4">
              <a:alpha val="20000"/>
            </a:srgbClr>
          </a:solidFill>
          <a:ln w="9525">
            <a:solidFill>
              <a:srgbClr val="5EEAD4">
                <a:alpha val="70000"/>
              </a:srgbClr>
            </a:solidFill>
            <a:prstDash val="solid"/>
          </a:ln>
        </p:spPr>
      </p:sp>
      <p:sp>
        <p:nvSpPr>
          <p:cNvPr id="8" name="Text 5"/>
          <p:cNvSpPr txBox="1"/>
          <p:nvPr/>
        </p:nvSpPr>
        <p:spPr>
          <a:xfrm>
            <a:off x="548640" y="1801368"/>
            <a:ext cx="566928" cy="566928"/>
          </a:xfrm>
          <a:prstGeom prst="rect">
            <a:avLst/>
          </a:prstGeom>
          <a:noFill/>
          <a:ln/>
        </p:spPr>
        <p:txBody>
          <a:bodyPr wrap="square" lIns="0" tIns="0" rIns="0" bIns="0" rtlCol="0" anchor="ctr"/>
          <a:lstStyle/>
          <a:p>
            <a:pPr algn="ctr" indent="0" marL="0">
              <a:buNone/>
            </a:pPr>
            <a:r>
              <a:rPr lang="en-US" sz="2000" b="1" dirty="0">
                <a:solidFill>
                  <a:srgbClr val="5EEAD4"/>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325880" y="1783080"/>
            <a:ext cx="6035040" cy="32004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Drive by voice</a:t>
            </a:r>
            <a:endParaRPr lang="en-US" sz="1600" dirty="0"/>
          </a:p>
        </p:txBody>
      </p:sp>
      <p:sp>
        <p:nvSpPr>
          <p:cNvPr id="10" name="Text 7"/>
          <p:cNvSpPr txBox="1"/>
          <p:nvPr/>
        </p:nvSpPr>
        <p:spPr>
          <a:xfrm>
            <a:off x="1325880" y="2121408"/>
            <a:ext cx="6035040" cy="457200"/>
          </a:xfrm>
          <a:prstGeom prst="rect">
            <a:avLst/>
          </a:prstGeom>
          <a:noFill/>
          <a:ln/>
        </p:spPr>
        <p:txBody>
          <a:bodyPr wrap="square" lIns="0" tIns="0" rIns="0" bIns="0" rtlCol="0" anchor="t"/>
          <a:lstStyle/>
          <a:p>
            <a:pPr indent="0" marL="0">
              <a:buNone/>
            </a:pPr>
            <a:r>
              <a:rPr lang="en-US" sz="1250" dirty="0">
                <a:solidFill>
                  <a:srgbClr val="9AA4BC"/>
                </a:solidFill>
                <a:latin typeface="Calibri" pitchFamily="34" charset="0"/>
                <a:ea typeface="Calibri" pitchFamily="34" charset="-122"/>
                <a:cs typeface="Calibri" pitchFamily="34" charset="-120"/>
              </a:rPr>
              <a:t>“Hey Iris, robot forward” — then “robot ruko”. Eight milliseconds, offline.</a:t>
            </a:r>
            <a:endParaRPr lang="en-US" sz="1250" dirty="0"/>
          </a:p>
        </p:txBody>
      </p:sp>
      <p:sp>
        <p:nvSpPr>
          <p:cNvPr id="11" name="Shape 8"/>
          <p:cNvSpPr/>
          <p:nvPr/>
        </p:nvSpPr>
        <p:spPr>
          <a:xfrm>
            <a:off x="548640" y="2670048"/>
            <a:ext cx="566928" cy="566928"/>
          </a:xfrm>
          <a:prstGeom prst="ellipse">
            <a:avLst/>
          </a:prstGeom>
          <a:solidFill>
            <a:srgbClr val="818CF8">
              <a:alpha val="20000"/>
            </a:srgbClr>
          </a:solidFill>
          <a:ln w="9525">
            <a:solidFill>
              <a:srgbClr val="818CF8">
                <a:alpha val="70000"/>
              </a:srgbClr>
            </a:solidFill>
            <a:prstDash val="solid"/>
          </a:ln>
        </p:spPr>
      </p:sp>
      <p:sp>
        <p:nvSpPr>
          <p:cNvPr id="12" name="Text 9"/>
          <p:cNvSpPr txBox="1"/>
          <p:nvPr/>
        </p:nvSpPr>
        <p:spPr>
          <a:xfrm>
            <a:off x="548640" y="2670048"/>
            <a:ext cx="566928" cy="566928"/>
          </a:xfrm>
          <a:prstGeom prst="rect">
            <a:avLst/>
          </a:prstGeom>
          <a:noFill/>
          <a:ln/>
        </p:spPr>
        <p:txBody>
          <a:bodyPr wrap="square" lIns="0" tIns="0" rIns="0" bIns="0" rtlCol="0" anchor="ctr"/>
          <a:lstStyle/>
          <a:p>
            <a:pPr algn="ctr" indent="0" marL="0">
              <a:buNone/>
            </a:pPr>
            <a:r>
              <a:rPr lang="en-US" sz="2000" b="1" dirty="0">
                <a:solidFill>
                  <a:srgbClr val="818CF8"/>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1325880" y="2651760"/>
            <a:ext cx="6035040" cy="32004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Change its mood</a:t>
            </a:r>
            <a:endParaRPr lang="en-US" sz="1600" dirty="0"/>
          </a:p>
        </p:txBody>
      </p:sp>
      <p:sp>
        <p:nvSpPr>
          <p:cNvPr id="14" name="Text 11"/>
          <p:cNvSpPr txBox="1"/>
          <p:nvPr/>
        </p:nvSpPr>
        <p:spPr>
          <a:xfrm>
            <a:off x="1325880" y="2990088"/>
            <a:ext cx="6035040" cy="457200"/>
          </a:xfrm>
          <a:prstGeom prst="rect">
            <a:avLst/>
          </a:prstGeom>
          <a:noFill/>
          <a:ln/>
        </p:spPr>
        <p:txBody>
          <a:bodyPr wrap="square" lIns="0" tIns="0" rIns="0" bIns="0" rtlCol="0" anchor="t"/>
          <a:lstStyle/>
          <a:p>
            <a:pPr indent="0" marL="0">
              <a:buNone/>
            </a:pPr>
            <a:r>
              <a:rPr lang="en-US" sz="1250" dirty="0">
                <a:solidFill>
                  <a:srgbClr val="9AA4BC"/>
                </a:solidFill>
                <a:latin typeface="Calibri" pitchFamily="34" charset="0"/>
                <a:ea typeface="Calibri" pitchFamily="34" charset="-122"/>
                <a:cs typeface="Calibri" pitchFamily="34" charset="-120"/>
              </a:rPr>
              <a:t>“look happy” — the eyes glide into the expression; “wink” if the second bus is fitted.</a:t>
            </a:r>
            <a:endParaRPr lang="en-US" sz="1250" dirty="0"/>
          </a:p>
        </p:txBody>
      </p:sp>
      <p:sp>
        <p:nvSpPr>
          <p:cNvPr id="15" name="Shape 12"/>
          <p:cNvSpPr/>
          <p:nvPr/>
        </p:nvSpPr>
        <p:spPr>
          <a:xfrm>
            <a:off x="548640" y="3538728"/>
            <a:ext cx="566928" cy="566928"/>
          </a:xfrm>
          <a:prstGeom prst="ellipse">
            <a:avLst/>
          </a:prstGeom>
          <a:solidFill>
            <a:srgbClr val="F4A259">
              <a:alpha val="20000"/>
            </a:srgbClr>
          </a:solidFill>
          <a:ln w="9525">
            <a:solidFill>
              <a:srgbClr val="F4A259">
                <a:alpha val="70000"/>
              </a:srgbClr>
            </a:solidFill>
            <a:prstDash val="solid"/>
          </a:ln>
        </p:spPr>
      </p:sp>
      <p:sp>
        <p:nvSpPr>
          <p:cNvPr id="16" name="Text 13"/>
          <p:cNvSpPr txBox="1"/>
          <p:nvPr/>
        </p:nvSpPr>
        <p:spPr>
          <a:xfrm>
            <a:off x="548640" y="3538728"/>
            <a:ext cx="566928" cy="566928"/>
          </a:xfrm>
          <a:prstGeom prst="rect">
            <a:avLst/>
          </a:prstGeom>
          <a:noFill/>
          <a:ln/>
        </p:spPr>
        <p:txBody>
          <a:bodyPr wrap="square" lIns="0" tIns="0" rIns="0" bIns="0" rtlCol="0" anchor="ctr"/>
          <a:lstStyle/>
          <a:p>
            <a:pPr algn="ctr" indent="0" marL="0">
              <a:buNone/>
            </a:pPr>
            <a:r>
              <a:rPr lang="en-US" sz="2000" b="1" dirty="0">
                <a:solidFill>
                  <a:srgbClr val="F4A259"/>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1325880" y="3520440"/>
            <a:ext cx="6035040" cy="32004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Ask its senses</a:t>
            </a:r>
            <a:endParaRPr lang="en-US" sz="1600" dirty="0"/>
          </a:p>
        </p:txBody>
      </p:sp>
      <p:sp>
        <p:nvSpPr>
          <p:cNvPr id="18" name="Text 15"/>
          <p:cNvSpPr txBox="1"/>
          <p:nvPr/>
        </p:nvSpPr>
        <p:spPr>
          <a:xfrm>
            <a:off x="1325880" y="3858768"/>
            <a:ext cx="6035040" cy="457200"/>
          </a:xfrm>
          <a:prstGeom prst="rect">
            <a:avLst/>
          </a:prstGeom>
          <a:noFill/>
          <a:ln/>
        </p:spPr>
        <p:txBody>
          <a:bodyPr wrap="square" lIns="0" tIns="0" rIns="0" bIns="0" rtlCol="0" anchor="t"/>
          <a:lstStyle/>
          <a:p>
            <a:pPr indent="0" marL="0">
              <a:buNone/>
            </a:pPr>
            <a:r>
              <a:rPr lang="en-US" sz="1250" dirty="0">
                <a:solidFill>
                  <a:srgbClr val="9AA4BC"/>
                </a:solidFill>
                <a:latin typeface="Calibri" pitchFamily="34" charset="0"/>
                <a:ea typeface="Calibri" pitchFamily="34" charset="-122"/>
                <a:cs typeface="Calibri" pitchFamily="34" charset="-120"/>
              </a:rPr>
              <a:t>“what's the temperature”  ·  “how far is the object” — answered as a sentence.</a:t>
            </a:r>
            <a:endParaRPr lang="en-US" sz="1250" dirty="0"/>
          </a:p>
        </p:txBody>
      </p:sp>
      <p:sp>
        <p:nvSpPr>
          <p:cNvPr id="19" name="Shape 16"/>
          <p:cNvSpPr/>
          <p:nvPr/>
        </p:nvSpPr>
        <p:spPr>
          <a:xfrm>
            <a:off x="548640" y="4407408"/>
            <a:ext cx="566928" cy="566928"/>
          </a:xfrm>
          <a:prstGeom prst="ellipse">
            <a:avLst/>
          </a:prstGeom>
          <a:solidFill>
            <a:srgbClr val="FB7185">
              <a:alpha val="20000"/>
            </a:srgbClr>
          </a:solidFill>
          <a:ln w="9525">
            <a:solidFill>
              <a:srgbClr val="FB7185">
                <a:alpha val="70000"/>
              </a:srgbClr>
            </a:solidFill>
            <a:prstDash val="solid"/>
          </a:ln>
        </p:spPr>
      </p:sp>
      <p:sp>
        <p:nvSpPr>
          <p:cNvPr id="20" name="Text 17"/>
          <p:cNvSpPr txBox="1"/>
          <p:nvPr/>
        </p:nvSpPr>
        <p:spPr>
          <a:xfrm>
            <a:off x="548640" y="4407408"/>
            <a:ext cx="566928" cy="566928"/>
          </a:xfrm>
          <a:prstGeom prst="rect">
            <a:avLst/>
          </a:prstGeom>
          <a:noFill/>
          <a:ln/>
        </p:spPr>
        <p:txBody>
          <a:bodyPr wrap="square" lIns="0" tIns="0" rIns="0" bIns="0" rtlCol="0" anchor="ctr"/>
          <a:lstStyle/>
          <a:p>
            <a:pPr algn="ctr" indent="0" marL="0">
              <a:buNone/>
            </a:pPr>
            <a:r>
              <a:rPr lang="en-US" sz="2000" b="1" dirty="0">
                <a:solidFill>
                  <a:srgbClr val="FB7185"/>
                </a:solidFill>
                <a:latin typeface="Calibri" pitchFamily="34" charset="0"/>
                <a:ea typeface="Calibri" pitchFamily="34" charset="-122"/>
                <a:cs typeface="Calibri" pitchFamily="34" charset="-120"/>
              </a:rPr>
              <a:t>4</a:t>
            </a:r>
            <a:endParaRPr lang="en-US" sz="2000" dirty="0"/>
          </a:p>
        </p:txBody>
      </p:sp>
      <p:sp>
        <p:nvSpPr>
          <p:cNvPr id="21" name="Text 18"/>
          <p:cNvSpPr txBox="1"/>
          <p:nvPr/>
        </p:nvSpPr>
        <p:spPr>
          <a:xfrm>
            <a:off x="1325880" y="4389120"/>
            <a:ext cx="6035040" cy="32004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Make it speak up unasked</a:t>
            </a:r>
            <a:endParaRPr lang="en-US" sz="1600" dirty="0"/>
          </a:p>
        </p:txBody>
      </p:sp>
      <p:sp>
        <p:nvSpPr>
          <p:cNvPr id="22" name="Text 19"/>
          <p:cNvSpPr txBox="1"/>
          <p:nvPr/>
        </p:nvSpPr>
        <p:spPr>
          <a:xfrm>
            <a:off x="1325880" y="4727448"/>
            <a:ext cx="6035040" cy="457200"/>
          </a:xfrm>
          <a:prstGeom prst="rect">
            <a:avLst/>
          </a:prstGeom>
          <a:noFill/>
          <a:ln/>
        </p:spPr>
        <p:txBody>
          <a:bodyPr wrap="square" lIns="0" tIns="0" rIns="0" bIns="0" rtlCol="0" anchor="t"/>
          <a:lstStyle/>
          <a:p>
            <a:pPr indent="0" marL="0">
              <a:buNone/>
            </a:pPr>
            <a:r>
              <a:rPr lang="en-US" sz="1250" dirty="0">
                <a:solidFill>
                  <a:srgbClr val="9AA4BC"/>
                </a:solidFill>
                <a:latin typeface="Calibri" pitchFamily="34" charset="0"/>
                <a:ea typeface="Calibri" pitchFamily="34" charset="-122"/>
                <a:cs typeface="Calibri" pitchFamily="34" charset="-120"/>
              </a:rPr>
              <a:t>A hand in front of the PIR, a lighter near the flame module — IRIS reports it by itself, eyes wide.</a:t>
            </a:r>
            <a:endParaRPr lang="en-US" sz="1250" dirty="0"/>
          </a:p>
        </p:txBody>
      </p:sp>
      <p:sp>
        <p:nvSpPr>
          <p:cNvPr id="23" name="Shape 20"/>
          <p:cNvSpPr/>
          <p:nvPr/>
        </p:nvSpPr>
        <p:spPr>
          <a:xfrm>
            <a:off x="548640" y="5276088"/>
            <a:ext cx="566928" cy="566928"/>
          </a:xfrm>
          <a:prstGeom prst="ellipse">
            <a:avLst/>
          </a:prstGeom>
          <a:solidFill>
            <a:srgbClr val="22D3EE">
              <a:alpha val="20000"/>
            </a:srgbClr>
          </a:solidFill>
          <a:ln w="9525">
            <a:solidFill>
              <a:srgbClr val="22D3EE">
                <a:alpha val="70000"/>
              </a:srgbClr>
            </a:solidFill>
            <a:prstDash val="solid"/>
          </a:ln>
        </p:spPr>
      </p:sp>
      <p:sp>
        <p:nvSpPr>
          <p:cNvPr id="24" name="Text 21"/>
          <p:cNvSpPr txBox="1"/>
          <p:nvPr/>
        </p:nvSpPr>
        <p:spPr>
          <a:xfrm>
            <a:off x="548640" y="5276088"/>
            <a:ext cx="566928" cy="566928"/>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5</a:t>
            </a:r>
            <a:endParaRPr lang="en-US" sz="2000" dirty="0"/>
          </a:p>
        </p:txBody>
      </p:sp>
      <p:sp>
        <p:nvSpPr>
          <p:cNvPr id="25" name="Text 22"/>
          <p:cNvSpPr txBox="1"/>
          <p:nvPr/>
        </p:nvSpPr>
        <p:spPr>
          <a:xfrm>
            <a:off x="1325880" y="5257800"/>
            <a:ext cx="6035040" cy="320040"/>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Use the desktop</a:t>
            </a:r>
            <a:endParaRPr lang="en-US" sz="1600" dirty="0"/>
          </a:p>
        </p:txBody>
      </p:sp>
      <p:sp>
        <p:nvSpPr>
          <p:cNvPr id="26" name="Text 23"/>
          <p:cNvSpPr txBox="1"/>
          <p:nvPr/>
        </p:nvSpPr>
        <p:spPr>
          <a:xfrm>
            <a:off x="1325880" y="5596128"/>
            <a:ext cx="6035040" cy="457200"/>
          </a:xfrm>
          <a:prstGeom prst="rect">
            <a:avLst/>
          </a:prstGeom>
          <a:noFill/>
          <a:ln/>
        </p:spPr>
        <p:txBody>
          <a:bodyPr wrap="square" lIns="0" tIns="0" rIns="0" bIns="0" rtlCol="0" anchor="t"/>
          <a:lstStyle/>
          <a:p>
            <a:pPr indent="0" marL="0">
              <a:buNone/>
            </a:pPr>
            <a:r>
              <a:rPr lang="en-US" sz="1250" dirty="0">
                <a:solidFill>
                  <a:srgbClr val="9AA4BC"/>
                </a:solidFill>
                <a:latin typeface="Calibri" pitchFamily="34" charset="0"/>
                <a:ea typeface="Calibri" pitchFamily="34" charset="-122"/>
                <a:cs typeface="Calibri" pitchFamily="34" charset="-120"/>
              </a:rPr>
              <a:t>“make a ppt about space exploration” — a real .pptx in seconds, with no API key.</a:t>
            </a:r>
            <a:endParaRPr lang="en-US" sz="1250" dirty="0"/>
          </a:p>
        </p:txBody>
      </p:sp>
      <p:pic>
        <p:nvPicPr>
          <p:cNvPr id="27" name="Image 0" descr="face-crop.png">    </p:cNvPr>
          <p:cNvPicPr>
            <a:picLocks noChangeAspect="1"/>
          </p:cNvPicPr>
          <p:nvPr/>
        </p:nvPicPr>
        <p:blipFill>
          <a:blip r:embed="rId1"/>
          <a:stretch>
            <a:fillRect/>
          </a:stretch>
        </p:blipFill>
        <p:spPr>
          <a:xfrm>
            <a:off x="7818120" y="1691640"/>
            <a:ext cx="3840480" cy="3657600"/>
          </a:xfrm>
          <a:prstGeom prst="rect">
            <a:avLst/>
          </a:prstGeom>
        </p:spPr>
      </p:pic>
      <p:sp>
        <p:nvSpPr>
          <p:cNvPr id="28" name="Text 24"/>
          <p:cNvSpPr txBox="1"/>
          <p:nvPr/>
        </p:nvSpPr>
        <p:spPr>
          <a:xfrm>
            <a:off x="7818120" y="5394960"/>
            <a:ext cx="3840480" cy="457200"/>
          </a:xfrm>
          <a:prstGeom prst="rect">
            <a:avLst/>
          </a:prstGeom>
          <a:noFill/>
          <a:ln/>
        </p:spPr>
        <p:txBody>
          <a:bodyPr wrap="square" lIns="0" tIns="0" rIns="0" bIns="0" rtlCol="0" anchor="t"/>
          <a:lstStyle/>
          <a:p>
            <a:pPr algn="ctr" indent="0" marL="0">
              <a:buNone/>
            </a:pPr>
            <a:r>
              <a:rPr lang="en-US" sz="1000" spc="100" kern="0" dirty="0">
                <a:solidFill>
                  <a:srgbClr val="5B667F"/>
                </a:solidFill>
                <a:latin typeface="Calibri" pitchFamily="34" charset="0"/>
                <a:ea typeface="Calibri" pitchFamily="34" charset="-122"/>
                <a:cs typeface="Calibri" pitchFamily="34" charset="-120"/>
              </a:rPr>
              <a:t>the face board's own page — every expression is a button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70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15 · NEXT, AND WHO</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E6EDF7"/>
                </a:solidFill>
                <a:latin typeface="Calibri" pitchFamily="34" charset="0"/>
                <a:ea typeface="Calibri" pitchFamily="34" charset="-122"/>
                <a:cs typeface="Calibri" pitchFamily="34" charset="-120"/>
              </a:rPr>
              <a:t>Where it goes from here</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900" spc="200" kern="0" dirty="0">
                <a:solidFill>
                  <a:srgbClr val="5B667F"/>
                </a:solidFill>
                <a:latin typeface="Calibri" pitchFamily="34" charset="0"/>
                <a:ea typeface="Calibri" pitchFamily="34" charset="-122"/>
                <a:cs typeface="Calibri" pitchFamily="34" charset="-120"/>
              </a:rPr>
              <a:t>IRIS  ·  Team Friday  ·  TechRoot 4.0</a:t>
            </a:r>
            <a:endParaRPr lang="en-US" sz="900" dirty="0"/>
          </a:p>
        </p:txBody>
      </p:sp>
      <p:sp>
        <p:nvSpPr>
          <p:cNvPr id="5" name="Text 3"/>
          <p:cNvSpPr txBox="1"/>
          <p:nvPr/>
        </p:nvSpPr>
        <p:spPr>
          <a:xfrm>
            <a:off x="11064240" y="6419088"/>
            <a:ext cx="548640" cy="228600"/>
          </a:xfrm>
          <a:prstGeom prst="rect">
            <a:avLst/>
          </a:prstGeom>
          <a:noFill/>
          <a:ln/>
        </p:spPr>
        <p:txBody>
          <a:bodyPr wrap="square" lIns="0" tIns="0" rIns="0" bIns="0" rtlCol="0" anchor="t"/>
          <a:lstStyle/>
          <a:p>
            <a:pPr algn="r" indent="0" marL="0">
              <a:buNone/>
            </a:pPr>
            <a:r>
              <a:rPr lang="en-US" sz="900" dirty="0">
                <a:solidFill>
                  <a:srgbClr val="5B667F"/>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2647440" y="6400976"/>
            <a:ext cx="42562" cy="42562"/>
          </a:xfrm>
          <a:prstGeom prst="ellipse">
            <a:avLst/>
          </a:prstGeom>
          <a:solidFill>
            <a:srgbClr val="E6EDF7">
              <a:alpha val="36000"/>
            </a:srgbClr>
          </a:solidFill>
          <a:ln w="12700">
            <a:solidFill>
              <a:srgbClr val="05070F"/>
            </a:solidFill>
            <a:prstDash val="solid"/>
          </a:ln>
        </p:spPr>
      </p:sp>
      <p:sp>
        <p:nvSpPr>
          <p:cNvPr id="8" name="Shape 5"/>
          <p:cNvSpPr/>
          <p:nvPr/>
        </p:nvSpPr>
        <p:spPr>
          <a:xfrm>
            <a:off x="11731894" y="2950957"/>
            <a:ext cx="39012" cy="39012"/>
          </a:xfrm>
          <a:prstGeom prst="ellipse">
            <a:avLst/>
          </a:prstGeom>
          <a:solidFill>
            <a:srgbClr val="E6EDF7">
              <a:alpha val="44000"/>
            </a:srgbClr>
          </a:solidFill>
          <a:ln w="12700">
            <a:solidFill>
              <a:srgbClr val="05070F"/>
            </a:solidFill>
            <a:prstDash val="solid"/>
          </a:ln>
        </p:spPr>
      </p:sp>
      <p:sp>
        <p:nvSpPr>
          <p:cNvPr id="9" name="Shape 6"/>
          <p:cNvSpPr/>
          <p:nvPr/>
        </p:nvSpPr>
        <p:spPr>
          <a:xfrm>
            <a:off x="8772031" y="2483673"/>
            <a:ext cx="70869" cy="70869"/>
          </a:xfrm>
          <a:prstGeom prst="ellipse">
            <a:avLst/>
          </a:prstGeom>
          <a:solidFill>
            <a:srgbClr val="5EEAD4">
              <a:alpha val="34000"/>
            </a:srgbClr>
          </a:solidFill>
          <a:ln w="12700">
            <a:solidFill>
              <a:srgbClr val="05070F"/>
            </a:solidFill>
            <a:prstDash val="solid"/>
          </a:ln>
        </p:spPr>
      </p:sp>
      <p:sp>
        <p:nvSpPr>
          <p:cNvPr id="10" name="Shape 7"/>
          <p:cNvSpPr/>
          <p:nvPr/>
        </p:nvSpPr>
        <p:spPr>
          <a:xfrm>
            <a:off x="10964164" y="5020292"/>
            <a:ext cx="28207" cy="28207"/>
          </a:xfrm>
          <a:prstGeom prst="ellipse">
            <a:avLst/>
          </a:prstGeom>
          <a:solidFill>
            <a:srgbClr val="5EEAD4">
              <a:alpha val="58000"/>
            </a:srgbClr>
          </a:solidFill>
          <a:ln w="12700">
            <a:solidFill>
              <a:srgbClr val="05070F"/>
            </a:solidFill>
            <a:prstDash val="solid"/>
          </a:ln>
        </p:spPr>
      </p:sp>
      <p:sp>
        <p:nvSpPr>
          <p:cNvPr id="11" name="Shape 8"/>
          <p:cNvSpPr/>
          <p:nvPr/>
        </p:nvSpPr>
        <p:spPr>
          <a:xfrm>
            <a:off x="3896503" y="5755981"/>
            <a:ext cx="38168" cy="38168"/>
          </a:xfrm>
          <a:prstGeom prst="ellipse">
            <a:avLst/>
          </a:prstGeom>
          <a:solidFill>
            <a:srgbClr val="5EEAD4">
              <a:alpha val="29000"/>
            </a:srgbClr>
          </a:solidFill>
          <a:ln w="12700">
            <a:solidFill>
              <a:srgbClr val="05070F"/>
            </a:solidFill>
            <a:prstDash val="solid"/>
          </a:ln>
        </p:spPr>
      </p:sp>
      <p:sp>
        <p:nvSpPr>
          <p:cNvPr id="12" name="Shape 9"/>
          <p:cNvSpPr/>
          <p:nvPr/>
        </p:nvSpPr>
        <p:spPr>
          <a:xfrm>
            <a:off x="3862271" y="4965906"/>
            <a:ext cx="43320" cy="43320"/>
          </a:xfrm>
          <a:prstGeom prst="ellipse">
            <a:avLst/>
          </a:prstGeom>
          <a:solidFill>
            <a:srgbClr val="E6EDF7">
              <a:alpha val="33000"/>
            </a:srgbClr>
          </a:solidFill>
          <a:ln w="12700">
            <a:solidFill>
              <a:srgbClr val="05070F"/>
            </a:solidFill>
            <a:prstDash val="solid"/>
          </a:ln>
        </p:spPr>
      </p:sp>
      <p:sp>
        <p:nvSpPr>
          <p:cNvPr id="13" name="Shape 10"/>
          <p:cNvSpPr/>
          <p:nvPr/>
        </p:nvSpPr>
        <p:spPr>
          <a:xfrm>
            <a:off x="6383655" y="1909233"/>
            <a:ext cx="50576" cy="50576"/>
          </a:xfrm>
          <a:prstGeom prst="ellipse">
            <a:avLst/>
          </a:prstGeom>
          <a:solidFill>
            <a:srgbClr val="5EEAD4">
              <a:alpha val="64000"/>
            </a:srgbClr>
          </a:solidFill>
          <a:ln w="12700">
            <a:solidFill>
              <a:srgbClr val="05070F"/>
            </a:solidFill>
            <a:prstDash val="solid"/>
          </a:ln>
        </p:spPr>
      </p:sp>
      <p:sp>
        <p:nvSpPr>
          <p:cNvPr id="14" name="Shape 11"/>
          <p:cNvSpPr/>
          <p:nvPr/>
        </p:nvSpPr>
        <p:spPr>
          <a:xfrm>
            <a:off x="3822030" y="163130"/>
            <a:ext cx="44839" cy="44839"/>
          </a:xfrm>
          <a:prstGeom prst="ellipse">
            <a:avLst/>
          </a:prstGeom>
          <a:solidFill>
            <a:srgbClr val="E6EDF7">
              <a:alpha val="58000"/>
            </a:srgbClr>
          </a:solidFill>
          <a:ln w="12700">
            <a:solidFill>
              <a:srgbClr val="05070F"/>
            </a:solidFill>
            <a:prstDash val="solid"/>
          </a:ln>
        </p:spPr>
      </p:sp>
      <p:sp>
        <p:nvSpPr>
          <p:cNvPr id="15" name="Shape 12"/>
          <p:cNvSpPr/>
          <p:nvPr/>
        </p:nvSpPr>
        <p:spPr>
          <a:xfrm>
            <a:off x="11115985" y="3812763"/>
            <a:ext cx="70275" cy="70275"/>
          </a:xfrm>
          <a:prstGeom prst="ellipse">
            <a:avLst/>
          </a:prstGeom>
          <a:solidFill>
            <a:srgbClr val="E6EDF7">
              <a:alpha val="58000"/>
            </a:srgbClr>
          </a:solidFill>
          <a:ln w="12700">
            <a:solidFill>
              <a:srgbClr val="05070F"/>
            </a:solidFill>
            <a:prstDash val="solid"/>
          </a:ln>
        </p:spPr>
      </p:sp>
      <p:sp>
        <p:nvSpPr>
          <p:cNvPr id="16" name="Shape 13"/>
          <p:cNvSpPr/>
          <p:nvPr/>
        </p:nvSpPr>
        <p:spPr>
          <a:xfrm>
            <a:off x="2113583" y="4497299"/>
            <a:ext cx="67759" cy="67759"/>
          </a:xfrm>
          <a:prstGeom prst="ellipse">
            <a:avLst/>
          </a:prstGeom>
          <a:solidFill>
            <a:srgbClr val="5EEAD4">
              <a:alpha val="51000"/>
            </a:srgbClr>
          </a:solidFill>
          <a:ln w="12700">
            <a:solidFill>
              <a:srgbClr val="05070F"/>
            </a:solidFill>
            <a:prstDash val="solid"/>
          </a:ln>
        </p:spPr>
      </p:sp>
      <p:sp>
        <p:nvSpPr>
          <p:cNvPr id="17" name="Shape 14"/>
          <p:cNvSpPr/>
          <p:nvPr/>
        </p:nvSpPr>
        <p:spPr>
          <a:xfrm>
            <a:off x="332753" y="459905"/>
            <a:ext cx="62833" cy="62833"/>
          </a:xfrm>
          <a:prstGeom prst="ellipse">
            <a:avLst/>
          </a:prstGeom>
          <a:solidFill>
            <a:srgbClr val="5EEAD4">
              <a:alpha val="35000"/>
            </a:srgbClr>
          </a:solidFill>
          <a:ln w="12700">
            <a:solidFill>
              <a:srgbClr val="05070F"/>
            </a:solidFill>
            <a:prstDash val="solid"/>
          </a:ln>
        </p:spPr>
      </p:sp>
      <p:sp>
        <p:nvSpPr>
          <p:cNvPr id="18" name="Shape 15"/>
          <p:cNvSpPr/>
          <p:nvPr/>
        </p:nvSpPr>
        <p:spPr>
          <a:xfrm>
            <a:off x="7165757" y="6453746"/>
            <a:ext cx="64104" cy="64104"/>
          </a:xfrm>
          <a:prstGeom prst="ellipse">
            <a:avLst/>
          </a:prstGeom>
          <a:solidFill>
            <a:srgbClr val="5EEAD4">
              <a:alpha val="60000"/>
            </a:srgbClr>
          </a:solidFill>
          <a:ln w="12700">
            <a:solidFill>
              <a:srgbClr val="05070F"/>
            </a:solidFill>
            <a:prstDash val="solid"/>
          </a:ln>
        </p:spPr>
      </p:sp>
      <p:sp>
        <p:nvSpPr>
          <p:cNvPr id="19" name="Shape 16"/>
          <p:cNvSpPr/>
          <p:nvPr/>
        </p:nvSpPr>
        <p:spPr>
          <a:xfrm>
            <a:off x="11361617" y="6497990"/>
            <a:ext cx="37847" cy="37847"/>
          </a:xfrm>
          <a:prstGeom prst="ellipse">
            <a:avLst/>
          </a:prstGeom>
          <a:solidFill>
            <a:srgbClr val="5EEAD4">
              <a:alpha val="58000"/>
            </a:srgbClr>
          </a:solidFill>
          <a:ln w="12700">
            <a:solidFill>
              <a:srgbClr val="05070F"/>
            </a:solidFill>
            <a:prstDash val="solid"/>
          </a:ln>
        </p:spPr>
      </p:sp>
      <p:sp>
        <p:nvSpPr>
          <p:cNvPr id="20" name="Shape 17"/>
          <p:cNvSpPr/>
          <p:nvPr/>
        </p:nvSpPr>
        <p:spPr>
          <a:xfrm>
            <a:off x="6636342" y="359804"/>
            <a:ext cx="50242" cy="50242"/>
          </a:xfrm>
          <a:prstGeom prst="ellipse">
            <a:avLst/>
          </a:prstGeom>
          <a:solidFill>
            <a:srgbClr val="E6EDF7">
              <a:alpha val="47000"/>
            </a:srgbClr>
          </a:solidFill>
          <a:ln w="12700">
            <a:solidFill>
              <a:srgbClr val="05070F"/>
            </a:solidFill>
            <a:prstDash val="solid"/>
          </a:ln>
        </p:spPr>
      </p:sp>
      <p:sp>
        <p:nvSpPr>
          <p:cNvPr id="21" name="Shape 18"/>
          <p:cNvSpPr/>
          <p:nvPr/>
        </p:nvSpPr>
        <p:spPr>
          <a:xfrm>
            <a:off x="5219256" y="6602354"/>
            <a:ext cx="28618" cy="28618"/>
          </a:xfrm>
          <a:prstGeom prst="ellipse">
            <a:avLst/>
          </a:prstGeom>
          <a:solidFill>
            <a:srgbClr val="E6EDF7">
              <a:alpha val="37000"/>
            </a:srgbClr>
          </a:solidFill>
          <a:ln w="12700">
            <a:solidFill>
              <a:srgbClr val="05070F"/>
            </a:solidFill>
            <a:prstDash val="solid"/>
          </a:ln>
        </p:spPr>
      </p:sp>
      <p:sp>
        <p:nvSpPr>
          <p:cNvPr id="22" name="Shape 19"/>
          <p:cNvSpPr/>
          <p:nvPr/>
        </p:nvSpPr>
        <p:spPr>
          <a:xfrm>
            <a:off x="10760342" y="1624806"/>
            <a:ext cx="56088" cy="56088"/>
          </a:xfrm>
          <a:prstGeom prst="ellipse">
            <a:avLst/>
          </a:prstGeom>
          <a:solidFill>
            <a:srgbClr val="5EEAD4">
              <a:alpha val="39000"/>
            </a:srgbClr>
          </a:solidFill>
          <a:ln w="12700">
            <a:solidFill>
              <a:srgbClr val="05070F"/>
            </a:solidFill>
            <a:prstDash val="solid"/>
          </a:ln>
        </p:spPr>
      </p:sp>
      <p:sp>
        <p:nvSpPr>
          <p:cNvPr id="23" name="Shape 20"/>
          <p:cNvSpPr/>
          <p:nvPr/>
        </p:nvSpPr>
        <p:spPr>
          <a:xfrm>
            <a:off x="11557077" y="434328"/>
            <a:ext cx="56595" cy="56595"/>
          </a:xfrm>
          <a:prstGeom prst="ellipse">
            <a:avLst/>
          </a:prstGeom>
          <a:solidFill>
            <a:srgbClr val="E6EDF7">
              <a:alpha val="46000"/>
            </a:srgbClr>
          </a:solidFill>
          <a:ln w="12700">
            <a:solidFill>
              <a:srgbClr val="05070F"/>
            </a:solidFill>
            <a:prstDash val="solid"/>
          </a:ln>
        </p:spPr>
      </p:sp>
      <p:sp>
        <p:nvSpPr>
          <p:cNvPr id="24" name="Shape 21"/>
          <p:cNvSpPr/>
          <p:nvPr/>
        </p:nvSpPr>
        <p:spPr>
          <a:xfrm>
            <a:off x="6292457" y="4830086"/>
            <a:ext cx="59065" cy="59065"/>
          </a:xfrm>
          <a:prstGeom prst="ellipse">
            <a:avLst/>
          </a:prstGeom>
          <a:solidFill>
            <a:srgbClr val="5EEAD4">
              <a:alpha val="28000"/>
            </a:srgbClr>
          </a:solidFill>
          <a:ln w="12700">
            <a:solidFill>
              <a:srgbClr val="05070F"/>
            </a:solidFill>
            <a:prstDash val="solid"/>
          </a:ln>
        </p:spPr>
      </p:sp>
      <p:sp>
        <p:nvSpPr>
          <p:cNvPr id="25" name="Shape 22"/>
          <p:cNvSpPr/>
          <p:nvPr/>
        </p:nvSpPr>
        <p:spPr>
          <a:xfrm>
            <a:off x="1325732" y="4165247"/>
            <a:ext cx="34854" cy="34854"/>
          </a:xfrm>
          <a:prstGeom prst="ellipse">
            <a:avLst/>
          </a:prstGeom>
          <a:solidFill>
            <a:srgbClr val="E6EDF7">
              <a:alpha val="33000"/>
            </a:srgbClr>
          </a:solidFill>
          <a:ln w="12700">
            <a:solidFill>
              <a:srgbClr val="05070F"/>
            </a:solidFill>
            <a:prstDash val="solid"/>
          </a:ln>
        </p:spPr>
      </p:sp>
      <p:sp>
        <p:nvSpPr>
          <p:cNvPr id="26" name="Shape 23"/>
          <p:cNvSpPr/>
          <p:nvPr/>
        </p:nvSpPr>
        <p:spPr>
          <a:xfrm>
            <a:off x="3919237" y="1254978"/>
            <a:ext cx="39982" cy="39982"/>
          </a:xfrm>
          <a:prstGeom prst="ellipse">
            <a:avLst/>
          </a:prstGeom>
          <a:solidFill>
            <a:srgbClr val="E6EDF7">
              <a:alpha val="27000"/>
            </a:srgbClr>
          </a:solidFill>
          <a:ln w="12700">
            <a:solidFill>
              <a:srgbClr val="05070F"/>
            </a:solidFill>
            <a:prstDash val="solid"/>
          </a:ln>
        </p:spPr>
      </p:sp>
      <p:sp>
        <p:nvSpPr>
          <p:cNvPr id="27" name="Shape 24"/>
          <p:cNvSpPr/>
          <p:nvPr/>
        </p:nvSpPr>
        <p:spPr>
          <a:xfrm>
            <a:off x="11401336" y="1708444"/>
            <a:ext cx="67817" cy="67817"/>
          </a:xfrm>
          <a:prstGeom prst="ellipse">
            <a:avLst/>
          </a:prstGeom>
          <a:solidFill>
            <a:srgbClr val="E6EDF7">
              <a:alpha val="31000"/>
            </a:srgbClr>
          </a:solidFill>
          <a:ln w="12700">
            <a:solidFill>
              <a:srgbClr val="05070F"/>
            </a:solidFill>
            <a:prstDash val="solid"/>
          </a:ln>
        </p:spPr>
      </p:sp>
      <p:sp>
        <p:nvSpPr>
          <p:cNvPr id="28" name="Shape 25"/>
          <p:cNvSpPr/>
          <p:nvPr/>
        </p:nvSpPr>
        <p:spPr>
          <a:xfrm>
            <a:off x="8457152" y="974813"/>
            <a:ext cx="69394" cy="69394"/>
          </a:xfrm>
          <a:prstGeom prst="ellipse">
            <a:avLst/>
          </a:prstGeom>
          <a:solidFill>
            <a:srgbClr val="E6EDF7">
              <a:alpha val="37000"/>
            </a:srgbClr>
          </a:solidFill>
          <a:ln w="12700">
            <a:solidFill>
              <a:srgbClr val="05070F"/>
            </a:solidFill>
            <a:prstDash val="solid"/>
          </a:ln>
        </p:spPr>
      </p:sp>
      <p:sp>
        <p:nvSpPr>
          <p:cNvPr id="29" name="Shape 26"/>
          <p:cNvSpPr/>
          <p:nvPr/>
        </p:nvSpPr>
        <p:spPr>
          <a:xfrm>
            <a:off x="548640" y="1819656"/>
            <a:ext cx="530352" cy="530352"/>
          </a:xfrm>
          <a:prstGeom prst="ellipse">
            <a:avLst/>
          </a:prstGeom>
          <a:solidFill>
            <a:srgbClr val="5EEAD4">
              <a:alpha val="20000"/>
            </a:srgbClr>
          </a:solidFill>
          <a:ln w="6350">
            <a:solidFill>
              <a:srgbClr val="5EEAD4">
                <a:alpha val="60000"/>
              </a:srgbClr>
            </a:solidFill>
            <a:prstDash val="solid"/>
          </a:ln>
        </p:spPr>
      </p:sp>
      <p:pic>
        <p:nvPicPr>
          <p:cNvPr id="30" name="Image 0" descr="preencoded.png">    </p:cNvPr>
          <p:cNvPicPr>
            <a:picLocks noChangeAspect="1"/>
          </p:cNvPicPr>
          <p:nvPr/>
        </p:nvPicPr>
        <p:blipFill>
          <a:blip r:embed="rId1"/>
          <a:stretch>
            <a:fillRect/>
          </a:stretch>
        </p:blipFill>
        <p:spPr>
          <a:xfrm>
            <a:off x="675924" y="1946940"/>
            <a:ext cx="275783" cy="275783"/>
          </a:xfrm>
          <a:prstGeom prst="rect">
            <a:avLst/>
          </a:prstGeom>
        </p:spPr>
      </p:pic>
      <p:sp>
        <p:nvSpPr>
          <p:cNvPr id="31" name="Text 27"/>
          <p:cNvSpPr txBox="1"/>
          <p:nvPr/>
        </p:nvSpPr>
        <p:spPr>
          <a:xfrm>
            <a:off x="1307592" y="1783080"/>
            <a:ext cx="5276088" cy="310896"/>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Voice on the robot</a:t>
            </a:r>
            <a:endParaRPr lang="en-US" sz="1600" dirty="0"/>
          </a:p>
        </p:txBody>
      </p:sp>
      <p:sp>
        <p:nvSpPr>
          <p:cNvPr id="32" name="Text 28"/>
          <p:cNvSpPr txBox="1"/>
          <p:nvPr/>
        </p:nvSpPr>
        <p:spPr>
          <a:xfrm>
            <a:off x="1307592" y="2112264"/>
            <a:ext cx="5276088" cy="77724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An I2S microphone and speaker on the face board — talk to the robot, not to the laptop. The firmware already carries the hooks.</a:t>
            </a:r>
            <a:endParaRPr lang="en-US" sz="1250" dirty="0"/>
          </a:p>
        </p:txBody>
      </p:sp>
      <p:sp>
        <p:nvSpPr>
          <p:cNvPr id="33" name="Shape 29"/>
          <p:cNvSpPr/>
          <p:nvPr/>
        </p:nvSpPr>
        <p:spPr>
          <a:xfrm>
            <a:off x="548640" y="3099816"/>
            <a:ext cx="530352" cy="530352"/>
          </a:xfrm>
          <a:prstGeom prst="ellipse">
            <a:avLst/>
          </a:prstGeom>
          <a:solidFill>
            <a:srgbClr val="818CF8">
              <a:alpha val="20000"/>
            </a:srgbClr>
          </a:solidFill>
          <a:ln w="6350">
            <a:solidFill>
              <a:srgbClr val="818CF8">
                <a:alpha val="60000"/>
              </a:srgbClr>
            </a:solidFill>
            <a:prstDash val="solid"/>
          </a:ln>
        </p:spPr>
      </p:sp>
      <p:pic>
        <p:nvPicPr>
          <p:cNvPr id="34" name="Image 1" descr="preencoded.png">    </p:cNvPr>
          <p:cNvPicPr>
            <a:picLocks noChangeAspect="1"/>
          </p:cNvPicPr>
          <p:nvPr/>
        </p:nvPicPr>
        <p:blipFill>
          <a:blip r:embed="rId2"/>
          <a:stretch>
            <a:fillRect/>
          </a:stretch>
        </p:blipFill>
        <p:spPr>
          <a:xfrm>
            <a:off x="675924" y="3227100"/>
            <a:ext cx="275783" cy="275783"/>
          </a:xfrm>
          <a:prstGeom prst="rect">
            <a:avLst/>
          </a:prstGeom>
        </p:spPr>
      </p:pic>
      <p:sp>
        <p:nvSpPr>
          <p:cNvPr id="35" name="Text 30"/>
          <p:cNvSpPr txBox="1"/>
          <p:nvPr/>
        </p:nvSpPr>
        <p:spPr>
          <a:xfrm>
            <a:off x="1307592" y="3063240"/>
            <a:ext cx="5276088" cy="310896"/>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Autonomy</a:t>
            </a:r>
            <a:endParaRPr lang="en-US" sz="1600" dirty="0"/>
          </a:p>
        </p:txBody>
      </p:sp>
      <p:sp>
        <p:nvSpPr>
          <p:cNvPr id="36" name="Text 31"/>
          <p:cNvSpPr txBox="1"/>
          <p:nvPr/>
        </p:nvSpPr>
        <p:spPr>
          <a:xfrm>
            <a:off x="1307592" y="3392424"/>
            <a:ext cx="5276088" cy="77724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Four distance sensors, two ahead and two behind, are enough to steer around obstacles on their own.</a:t>
            </a:r>
            <a:endParaRPr lang="en-US" sz="1250" dirty="0"/>
          </a:p>
        </p:txBody>
      </p:sp>
      <p:sp>
        <p:nvSpPr>
          <p:cNvPr id="37" name="Shape 32"/>
          <p:cNvSpPr/>
          <p:nvPr/>
        </p:nvSpPr>
        <p:spPr>
          <a:xfrm>
            <a:off x="548640" y="4379976"/>
            <a:ext cx="530352" cy="530352"/>
          </a:xfrm>
          <a:prstGeom prst="ellipse">
            <a:avLst/>
          </a:prstGeom>
          <a:solidFill>
            <a:srgbClr val="FB7185">
              <a:alpha val="20000"/>
            </a:srgbClr>
          </a:solidFill>
          <a:ln w="6350">
            <a:solidFill>
              <a:srgbClr val="FB7185">
                <a:alpha val="60000"/>
              </a:srgbClr>
            </a:solidFill>
            <a:prstDash val="solid"/>
          </a:ln>
        </p:spPr>
      </p:sp>
      <p:pic>
        <p:nvPicPr>
          <p:cNvPr id="38" name="Image 2" descr="preencoded.png">    </p:cNvPr>
          <p:cNvPicPr>
            <a:picLocks noChangeAspect="1"/>
          </p:cNvPicPr>
          <p:nvPr/>
        </p:nvPicPr>
        <p:blipFill>
          <a:blip r:embed="rId3"/>
          <a:stretch>
            <a:fillRect/>
          </a:stretch>
        </p:blipFill>
        <p:spPr>
          <a:xfrm>
            <a:off x="675924" y="4507260"/>
            <a:ext cx="275783" cy="275783"/>
          </a:xfrm>
          <a:prstGeom prst="rect">
            <a:avLst/>
          </a:prstGeom>
        </p:spPr>
      </p:pic>
      <p:sp>
        <p:nvSpPr>
          <p:cNvPr id="39" name="Text 33"/>
          <p:cNvSpPr txBox="1"/>
          <p:nvPr/>
        </p:nvSpPr>
        <p:spPr>
          <a:xfrm>
            <a:off x="1307592" y="4343400"/>
            <a:ext cx="5276088" cy="310896"/>
          </a:xfrm>
          <a:prstGeom prst="rect">
            <a:avLst/>
          </a:prstGeom>
          <a:noFill/>
          <a:ln/>
        </p:spPr>
        <p:txBody>
          <a:bodyPr wrap="square" lIns="0" tIns="0" rIns="0" bIns="0" rtlCol="0" anchor="t"/>
          <a:lstStyle/>
          <a:p>
            <a:pPr indent="0" marL="0">
              <a:buNone/>
            </a:pPr>
            <a:r>
              <a:rPr lang="en-US" sz="1600" b="1" dirty="0">
                <a:solidFill>
                  <a:srgbClr val="E6EDF7"/>
                </a:solidFill>
                <a:latin typeface="Calibri" pitchFamily="34" charset="0"/>
                <a:ea typeface="Calibri" pitchFamily="34" charset="-122"/>
                <a:cs typeface="Calibri" pitchFamily="34" charset="-120"/>
              </a:rPr>
              <a:t>Health</a:t>
            </a:r>
            <a:endParaRPr lang="en-US" sz="1600" dirty="0"/>
          </a:p>
        </p:txBody>
      </p:sp>
      <p:sp>
        <p:nvSpPr>
          <p:cNvPr id="40" name="Text 34"/>
          <p:cNvSpPr txBox="1"/>
          <p:nvPr/>
        </p:nvSpPr>
        <p:spPr>
          <a:xfrm>
            <a:off x="1307592" y="4672584"/>
            <a:ext cx="5276088" cy="777240"/>
          </a:xfrm>
          <a:prstGeom prst="rect">
            <a:avLst/>
          </a:prstGeom>
          <a:noFill/>
          <a:ln/>
        </p:spPr>
        <p:txBody>
          <a:bodyPr wrap="square" lIns="0" tIns="0" rIns="0" bIns="0" rtlCol="0" anchor="t"/>
          <a:lstStyle/>
          <a:p>
            <a:pPr indent="0" marL="0">
              <a:lnSpc>
                <a:spcPct val="105000"/>
              </a:lnSpc>
              <a:buNone/>
            </a:pPr>
            <a:r>
              <a:rPr lang="en-US" sz="1250" dirty="0">
                <a:solidFill>
                  <a:srgbClr val="9AA4BC"/>
                </a:solidFill>
                <a:latin typeface="Calibri" pitchFamily="34" charset="0"/>
                <a:ea typeface="Calibri" pitchFamily="34" charset="-122"/>
                <a:cs typeface="Calibri" pitchFamily="34" charset="-120"/>
              </a:rPr>
              <a:t>A pulse oximeter on the same board turns IRIS into a home health assistant — readings by voice, alerts unasked.</a:t>
            </a:r>
            <a:endParaRPr lang="en-US" sz="1250" dirty="0"/>
          </a:p>
        </p:txBody>
      </p:sp>
      <p:sp>
        <p:nvSpPr>
          <p:cNvPr id="41" name="Shape 35"/>
          <p:cNvSpPr/>
          <p:nvPr/>
        </p:nvSpPr>
        <p:spPr>
          <a:xfrm>
            <a:off x="7223760" y="1783080"/>
            <a:ext cx="4416552" cy="3931920"/>
          </a:xfrm>
          <a:prstGeom prst="roundRect">
            <a:avLst>
              <a:gd name="adj" fmla="val 2791"/>
            </a:avLst>
          </a:prstGeom>
          <a:solidFill>
            <a:srgbClr val="0D1224"/>
          </a:solidFill>
          <a:ln w="9525">
            <a:solidFill>
              <a:srgbClr val="22305A"/>
            </a:solidFill>
            <a:prstDash val="solid"/>
          </a:ln>
        </p:spPr>
      </p:sp>
      <p:sp>
        <p:nvSpPr>
          <p:cNvPr id="42" name="Text 36"/>
          <p:cNvSpPr txBox="1"/>
          <p:nvPr/>
        </p:nvSpPr>
        <p:spPr>
          <a:xfrm>
            <a:off x="7589520" y="2057400"/>
            <a:ext cx="3657600" cy="274320"/>
          </a:xfrm>
          <a:prstGeom prst="rect">
            <a:avLst/>
          </a:prstGeom>
          <a:noFill/>
          <a:ln/>
        </p:spPr>
        <p:txBody>
          <a:bodyPr wrap="square" lIns="0" tIns="0" rIns="0" bIns="0" rtlCol="0" anchor="t"/>
          <a:lstStyle/>
          <a:p>
            <a:pPr indent="0" marL="0">
              <a:buNone/>
            </a:pPr>
            <a:r>
              <a:rPr lang="en-US" sz="1100" b="1" spc="400" kern="0" dirty="0">
                <a:solidFill>
                  <a:srgbClr val="5EEAD4"/>
                </a:solidFill>
                <a:latin typeface="Calibri" pitchFamily="34" charset="0"/>
                <a:ea typeface="Calibri" pitchFamily="34" charset="-122"/>
                <a:cs typeface="Calibri" pitchFamily="34" charset="-120"/>
              </a:rPr>
              <a:t>TEAM FRIDAY</a:t>
            </a:r>
            <a:endParaRPr lang="en-US" sz="1100" dirty="0"/>
          </a:p>
        </p:txBody>
      </p:sp>
      <p:sp>
        <p:nvSpPr>
          <p:cNvPr id="43" name="Text 37"/>
          <p:cNvSpPr txBox="1"/>
          <p:nvPr/>
        </p:nvSpPr>
        <p:spPr>
          <a:xfrm>
            <a:off x="7589520" y="2423160"/>
            <a:ext cx="3749040" cy="1463040"/>
          </a:xfrm>
          <a:prstGeom prst="rect">
            <a:avLst/>
          </a:prstGeom>
          <a:noFill/>
          <a:ln/>
        </p:spPr>
        <p:txBody>
          <a:bodyPr wrap="square" lIns="0" tIns="0" rIns="0" bIns="0" rtlCol="0" anchor="t"/>
          <a:lstStyle/>
          <a:p>
            <a:pPr indent="0" marL="0">
              <a:lnSpc>
                <a:spcPct val="125000"/>
              </a:lnSpc>
              <a:buNone/>
            </a:pPr>
            <a:r>
              <a:rPr lang="en-US" sz="2100" b="1" dirty="0">
                <a:solidFill>
                  <a:srgbClr val="E6EDF7"/>
                </a:solidFill>
                <a:latin typeface="Calibri" pitchFamily="34" charset="0"/>
                <a:ea typeface="Calibri" pitchFamily="34" charset="-122"/>
                <a:cs typeface="Calibri" pitchFamily="34" charset="-120"/>
              </a:rPr>
              <a:t>Prajjwal Prasad</a:t>
            </a:r>
            <a:endParaRPr lang="en-US" sz="2100" dirty="0"/>
          </a:p>
          <a:p>
            <a:pPr indent="0" marL="0">
              <a:lnSpc>
                <a:spcPct val="125000"/>
              </a:lnSpc>
              <a:buNone/>
            </a:pPr>
            <a:r>
              <a:rPr lang="en-US" sz="2100" b="1" dirty="0">
                <a:solidFill>
                  <a:srgbClr val="E6EDF7"/>
                </a:solidFill>
                <a:latin typeface="Calibri" pitchFamily="34" charset="0"/>
                <a:ea typeface="Calibri" pitchFamily="34" charset="-122"/>
                <a:cs typeface="Calibri" pitchFamily="34" charset="-120"/>
              </a:rPr>
              <a:t>Shivnandan Sahu</a:t>
            </a:r>
            <a:endParaRPr lang="en-US" sz="2100" dirty="0"/>
          </a:p>
          <a:p>
            <a:pPr indent="0" marL="0">
              <a:lnSpc>
                <a:spcPct val="125000"/>
              </a:lnSpc>
              <a:buNone/>
            </a:pPr>
            <a:r>
              <a:rPr lang="en-US" sz="2100" b="1" dirty="0">
                <a:solidFill>
                  <a:srgbClr val="E6EDF7"/>
                </a:solidFill>
                <a:latin typeface="Calibri" pitchFamily="34" charset="0"/>
                <a:ea typeface="Calibri" pitchFamily="34" charset="-122"/>
                <a:cs typeface="Calibri" pitchFamily="34" charset="-120"/>
              </a:rPr>
              <a:t>Payal Gupta</a:t>
            </a:r>
            <a:endParaRPr lang="en-US" sz="2100" dirty="0"/>
          </a:p>
        </p:txBody>
      </p:sp>
      <p:sp>
        <p:nvSpPr>
          <p:cNvPr id="44" name="Shape 38"/>
          <p:cNvSpPr/>
          <p:nvPr/>
        </p:nvSpPr>
        <p:spPr>
          <a:xfrm>
            <a:off x="7589520" y="4206240"/>
            <a:ext cx="502920" cy="502920"/>
          </a:xfrm>
          <a:prstGeom prst="ellipse">
            <a:avLst/>
          </a:prstGeom>
          <a:solidFill>
            <a:srgbClr val="E6EDF7">
              <a:alpha val="20000"/>
            </a:srgbClr>
          </a:solidFill>
          <a:ln w="6350">
            <a:solidFill>
              <a:srgbClr val="E6EDF7">
                <a:alpha val="60000"/>
              </a:srgbClr>
            </a:solidFill>
            <a:prstDash val="solid"/>
          </a:ln>
        </p:spPr>
      </p:sp>
      <p:pic>
        <p:nvPicPr>
          <p:cNvPr id="45" name="Image 3" descr="preencoded.png">    </p:cNvPr>
          <p:cNvPicPr>
            <a:picLocks noChangeAspect="1"/>
          </p:cNvPicPr>
          <p:nvPr/>
        </p:nvPicPr>
        <p:blipFill>
          <a:blip r:embed="rId4"/>
          <a:stretch>
            <a:fillRect/>
          </a:stretch>
        </p:blipFill>
        <p:spPr>
          <a:xfrm>
            <a:off x="7710221" y="4326941"/>
            <a:ext cx="261518" cy="261518"/>
          </a:xfrm>
          <a:prstGeom prst="rect">
            <a:avLst/>
          </a:prstGeom>
        </p:spPr>
      </p:pic>
      <p:sp>
        <p:nvSpPr>
          <p:cNvPr id="46" name="Text 39"/>
          <p:cNvSpPr txBox="1"/>
          <p:nvPr/>
        </p:nvSpPr>
        <p:spPr>
          <a:xfrm>
            <a:off x="8229600" y="4224528"/>
            <a:ext cx="3291840" cy="457200"/>
          </a:xfrm>
          <a:prstGeom prst="rect">
            <a:avLst/>
          </a:prstGeom>
          <a:noFill/>
          <a:ln/>
        </p:spPr>
        <p:txBody>
          <a:bodyPr wrap="square" lIns="0" tIns="0" rIns="0" bIns="0" rtlCol="0" anchor="ctr"/>
          <a:lstStyle/>
          <a:p>
            <a:pPr indent="0" marL="0">
              <a:buNone/>
            </a:pPr>
            <a:r>
              <a:rPr lang="en-US" sz="1350" dirty="0">
                <a:solidFill>
                  <a:srgbClr val="9AA4BC"/>
                </a:solidFill>
                <a:latin typeface="Calibri" pitchFamily="34" charset="0"/>
                <a:ea typeface="Calibri" pitchFamily="34" charset="-122"/>
                <a:cs typeface="Calibri" pitchFamily="34" charset="-120"/>
              </a:rPr>
              <a:t>github.com/Kryn-devv/Iris_AI</a:t>
            </a:r>
            <a:endParaRPr lang="en-US" sz="1350" dirty="0"/>
          </a:p>
        </p:txBody>
      </p:sp>
      <p:sp>
        <p:nvSpPr>
          <p:cNvPr id="47" name="Text 40"/>
          <p:cNvSpPr txBox="1"/>
          <p:nvPr/>
        </p:nvSpPr>
        <p:spPr>
          <a:xfrm>
            <a:off x="7589520" y="4892040"/>
            <a:ext cx="3840480" cy="548640"/>
          </a:xfrm>
          <a:prstGeom prst="rect">
            <a:avLst/>
          </a:prstGeom>
          <a:noFill/>
          <a:ln/>
        </p:spPr>
        <p:txBody>
          <a:bodyPr wrap="square" lIns="0" tIns="0" rIns="0" bIns="0" rtlCol="0" anchor="t"/>
          <a:lstStyle/>
          <a:p>
            <a:pPr indent="0" marL="0">
              <a:lnSpc>
                <a:spcPct val="110000"/>
              </a:lnSpc>
              <a:buNone/>
            </a:pPr>
            <a:r>
              <a:rPr lang="en-US" sz="1150" dirty="0">
                <a:solidFill>
                  <a:srgbClr val="5B667F"/>
                </a:solidFill>
                <a:latin typeface="Calibri" pitchFamily="34" charset="0"/>
                <a:ea typeface="Calibri" pitchFamily="34" charset="-122"/>
                <a:cs typeface="Calibri" pitchFamily="34" charset="-120"/>
              </a:rPr>
              <a:t>open source · runs on a laptop and a phone hotspot</a:t>
            </a:r>
            <a:endParaRPr lang="en-US" sz="1150" dirty="0"/>
          </a:p>
        </p:txBody>
      </p:sp>
      <p:sp>
        <p:nvSpPr>
          <p:cNvPr id="48" name="Text 41"/>
          <p:cNvSpPr txBox="1"/>
          <p:nvPr/>
        </p:nvSpPr>
        <p:spPr>
          <a:xfrm>
            <a:off x="548640" y="5806440"/>
            <a:ext cx="6400800" cy="457200"/>
          </a:xfrm>
          <a:prstGeom prst="rect">
            <a:avLst/>
          </a:prstGeom>
          <a:noFill/>
          <a:ln/>
        </p:spPr>
        <p:txBody>
          <a:bodyPr wrap="square" lIns="0" tIns="0" rIns="0" bIns="0" rtlCol="0" anchor="t"/>
          <a:lstStyle/>
          <a:p>
            <a:pPr indent="0" marL="0">
              <a:buNone/>
            </a:pPr>
            <a:r>
              <a:rPr lang="en-US" sz="2400" b="1" dirty="0">
                <a:solidFill>
                  <a:srgbClr val="5EEAD4"/>
                </a:solidFill>
                <a:latin typeface="Calibri" pitchFamily="34" charset="0"/>
                <a:ea typeface="Calibri" pitchFamily="34" charset="-122"/>
                <a:cs typeface="Calibri"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IRIS — One brain, two bodies</dc:title>
  <dc:subject>PptxGenJS Presentation</dc:subject>
  <dc:creator>Team Friday</dc:creator>
  <cp:lastModifiedBy>Team Friday</cp:lastModifiedBy>
  <cp:revision>1</cp:revision>
  <dcterms:created xsi:type="dcterms:W3CDTF">2026-09-11T20:18:11Z</dcterms:created>
  <dcterms:modified xsi:type="dcterms:W3CDTF">2026-09-11T20:18:11Z</dcterms:modified>
</cp:coreProperties>
</file>